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9144000" cy="5143500" type="screen16x9"/>
  <p:notesSz cx="6858000" cy="9144000"/>
  <p:embeddedFontLst>
    <p:embeddedFont>
      <p:font typeface="Cambria Math" panose="02040503050406030204" pitchFamily="18" charset="0"/>
      <p:regular r:id="rId17"/>
    </p:embeddedFont>
    <p:embeddedFont>
      <p:font typeface="Tahoma" panose="020B0604030504040204" pitchFamily="34" charset="0"/>
      <p:regular r:id="rId18"/>
      <p:bold r:id="rId19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4C7BFFA-D343-4CE4-9EA4-75DED66AA7D8}" v="1" dt="2026-09-25T16:56:34.43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60" d="100"/>
          <a:sy n="160" d="100"/>
        </p:scale>
        <p:origin x="1806" y="780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2.fntdata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1.fntdata"/><Relationship Id="rId25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font" Target="fonts/font3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arco Tetsuya Stella" userId="7a527e88a4458984" providerId="LiveId" clId="{E2788E01-F35F-472E-B91B-450BDC619935}"/>
    <pc:docChg chg="undo custSel modSld">
      <pc:chgData name="Marco Tetsuya Stella" userId="7a527e88a4458984" providerId="LiveId" clId="{E2788E01-F35F-472E-B91B-450BDC619935}" dt="2026-09-25T16:56:39.101" v="58" actId="20577"/>
      <pc:docMkLst>
        <pc:docMk/>
      </pc:docMkLst>
      <pc:sldChg chg="modSp mod">
        <pc:chgData name="Marco Tetsuya Stella" userId="7a527e88a4458984" providerId="LiveId" clId="{E2788E01-F35F-472E-B91B-450BDC619935}" dt="2026-09-23T22:48:55.686" v="6" actId="20577"/>
        <pc:sldMkLst>
          <pc:docMk/>
          <pc:sldMk cId="0" sldId="259"/>
        </pc:sldMkLst>
        <pc:spChg chg="mod">
          <ac:chgData name="Marco Tetsuya Stella" userId="7a527e88a4458984" providerId="LiveId" clId="{E2788E01-F35F-472E-B91B-450BDC619935}" dt="2026-09-23T22:48:55.686" v="6" actId="20577"/>
          <ac:spMkLst>
            <pc:docMk/>
            <pc:sldMk cId="0" sldId="259"/>
            <ac:spMk id="92" creationId="{00000000-0000-0000-0000-000000000000}"/>
          </ac:spMkLst>
        </pc:spChg>
      </pc:sldChg>
      <pc:sldChg chg="modSp mod">
        <pc:chgData name="Marco Tetsuya Stella" userId="7a527e88a4458984" providerId="LiveId" clId="{E2788E01-F35F-472E-B91B-450BDC619935}" dt="2026-09-25T16:56:39.101" v="58" actId="20577"/>
        <pc:sldMkLst>
          <pc:docMk/>
          <pc:sldMk cId="0" sldId="260"/>
        </pc:sldMkLst>
        <pc:spChg chg="mod">
          <ac:chgData name="Marco Tetsuya Stella" userId="7a527e88a4458984" providerId="LiveId" clId="{E2788E01-F35F-472E-B91B-450BDC619935}" dt="2026-09-25T16:56:39.101" v="58" actId="20577"/>
          <ac:spMkLst>
            <pc:docMk/>
            <pc:sldMk cId="0" sldId="260"/>
            <ac:spMk id="101" creationId="{00000000-0000-0000-0000-000000000000}"/>
          </ac:spMkLst>
        </pc:spChg>
      </pc:sldChg>
      <pc:sldChg chg="modSp mod">
        <pc:chgData name="Marco Tetsuya Stella" userId="7a527e88a4458984" providerId="LiveId" clId="{E2788E01-F35F-472E-B91B-450BDC619935}" dt="2026-09-23T21:35:51.522" v="1" actId="1076"/>
        <pc:sldMkLst>
          <pc:docMk/>
          <pc:sldMk cId="0" sldId="262"/>
        </pc:sldMkLst>
        <pc:spChg chg="mod">
          <ac:chgData name="Marco Tetsuya Stella" userId="7a527e88a4458984" providerId="LiveId" clId="{E2788E01-F35F-472E-B91B-450BDC619935}" dt="2026-09-23T21:35:51.522" v="1" actId="1076"/>
          <ac:spMkLst>
            <pc:docMk/>
            <pc:sldMk cId="0" sldId="262"/>
            <ac:spMk id="124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g3f66f5a83a2_0_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" name="Google Shape;63;g3f66f5a83a2_0_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g3f66f5a83a2_0_6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" name="Google Shape;75;g3f66f5a83a2_0_6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g3f66f5a83a2_0_3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5" name="Google Shape;85;g3f66f5a83a2_0_3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g3f67bb190ac_0_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5" name="Google Shape;95;g3f67bb190ac_0_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3fa1a7f3e79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" name="Google Shape;106;g3fa1a7f3e79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g3f67bb190ac_0_5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7" name="Google Shape;117;g3f67bb190ac_0_5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g3f67bb190ac_0_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8" name="Google Shape;128;g3f67bb190ac_0_3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3f67bb190ac_0_7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6" name="Google Shape;146;g3f67bb190ac_0_7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g3f67bb190ac_0_1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0" name="Google Shape;160;g3f67bb190ac_0_13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g3f67bb190ac_0_6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2" name="Google Shape;172;g3f67bb190ac_0_6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g3f67bb190ac_0_2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4" name="Google Shape;184;g3f67bb190ac_0_21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g3f66f5a83a2_0_7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6" name="Google Shape;196;g3f66f5a83a2_0_7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g3f6946fc263_0_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6" name="Google Shape;206;g3f6946fc263_0_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‹N›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‹N›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6" Type="http://schemas.openxmlformats.org/officeDocument/2006/relationships/image" Target="../media/image4.png"/><Relationship Id="rId5" Type="http://schemas.openxmlformats.org/officeDocument/2006/relationships/image" Target="../media/image2.jpg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2.jp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2.jpg"/><Relationship Id="rId7" Type="http://schemas.openxmlformats.org/officeDocument/2006/relationships/image" Target="../media/image13.png"/><Relationship Id="rId12" Type="http://schemas.openxmlformats.org/officeDocument/2006/relationships/image" Target="../media/image1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2.png"/><Relationship Id="rId11" Type="http://schemas.openxmlformats.org/officeDocument/2006/relationships/image" Target="../media/image17.png"/><Relationship Id="rId5" Type="http://schemas.openxmlformats.org/officeDocument/2006/relationships/image" Target="../media/image11.png"/><Relationship Id="rId10" Type="http://schemas.openxmlformats.org/officeDocument/2006/relationships/image" Target="../media/image16.png"/><Relationship Id="rId4" Type="http://schemas.openxmlformats.org/officeDocument/2006/relationships/image" Target="../media/image10.png"/><Relationship Id="rId9" Type="http://schemas.openxmlformats.org/officeDocument/2006/relationships/image" Target="../media/image15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png"/><Relationship Id="rId3" Type="http://schemas.openxmlformats.org/officeDocument/2006/relationships/image" Target="../media/image2.jpg"/><Relationship Id="rId7" Type="http://schemas.openxmlformats.org/officeDocument/2006/relationships/image" Target="../media/image2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9.png"/><Relationship Id="rId9" Type="http://schemas.openxmlformats.org/officeDocument/2006/relationships/image" Target="../media/image24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7" Type="http://schemas.openxmlformats.org/officeDocument/2006/relationships/image" Target="../media/image3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30.png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7" Type="http://schemas.openxmlformats.org/officeDocument/2006/relationships/image" Target="../media/image3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34.png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ctrTitle"/>
          </p:nvPr>
        </p:nvSpPr>
        <p:spPr>
          <a:xfrm>
            <a:off x="311700" y="179225"/>
            <a:ext cx="5750100" cy="13974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it" sz="2080" b="1">
                <a:solidFill>
                  <a:srgbClr val="00407F"/>
                </a:solidFill>
              </a:rPr>
              <a:t>Sviluppo, implementazione e analisi comparativa dell'algoritmo di pure pursuit in ambienti di simulazione per la guida autonoma  </a:t>
            </a:r>
            <a:endParaRPr sz="2080" b="1">
              <a:solidFill>
                <a:srgbClr val="00407F"/>
              </a:solidFill>
            </a:endParaRPr>
          </a:p>
        </p:txBody>
      </p:sp>
      <p:sp>
        <p:nvSpPr>
          <p:cNvPr id="55" name="Google Shape;55;p13"/>
          <p:cNvSpPr txBox="1">
            <a:spLocks noGrp="1"/>
          </p:cNvSpPr>
          <p:nvPr>
            <p:ph type="subTitle" idx="1"/>
          </p:nvPr>
        </p:nvSpPr>
        <p:spPr>
          <a:xfrm>
            <a:off x="494850" y="1805000"/>
            <a:ext cx="5244000" cy="766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40"/>
              <a:buNone/>
            </a:pPr>
            <a:r>
              <a:rPr lang="it" sz="1520"/>
              <a:t>Valutazione delle prestazioni di tracciamento in presenza di odometria ideale e rumorosa sotto differenti configurazioni sensoriali </a:t>
            </a:r>
            <a:endParaRPr sz="1620"/>
          </a:p>
        </p:txBody>
      </p:sp>
      <p:pic>
        <p:nvPicPr>
          <p:cNvPr id="56" name="Google Shape;56;p13" descr="object 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120645" y="0"/>
            <a:ext cx="4023354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57" name="Google Shape;57;p13"/>
          <p:cNvSpPr txBox="1"/>
          <p:nvPr/>
        </p:nvSpPr>
        <p:spPr>
          <a:xfrm>
            <a:off x="494850" y="2941150"/>
            <a:ext cx="1488900" cy="5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sz="1800" b="1">
                <a:solidFill>
                  <a:schemeClr val="dk1"/>
                </a:solidFill>
              </a:rPr>
              <a:t>Candidato:</a:t>
            </a:r>
            <a:endParaRPr sz="1800" b="1">
              <a:solidFill>
                <a:schemeClr val="dk1"/>
              </a:solidFill>
            </a:endParaRPr>
          </a:p>
        </p:txBody>
      </p:sp>
      <p:sp>
        <p:nvSpPr>
          <p:cNvPr id="58" name="Google Shape;58;p13"/>
          <p:cNvSpPr txBox="1"/>
          <p:nvPr/>
        </p:nvSpPr>
        <p:spPr>
          <a:xfrm>
            <a:off x="494850" y="3310500"/>
            <a:ext cx="2737200" cy="5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sz="1800" i="1">
                <a:solidFill>
                  <a:schemeClr val="dk1"/>
                </a:solidFill>
              </a:rPr>
              <a:t>Marco Tetsuya Stella</a:t>
            </a:r>
            <a:endParaRPr sz="1800" i="1">
              <a:solidFill>
                <a:schemeClr val="dk1"/>
              </a:solidFill>
            </a:endParaRPr>
          </a:p>
        </p:txBody>
      </p:sp>
      <p:sp>
        <p:nvSpPr>
          <p:cNvPr id="59" name="Google Shape;59;p13"/>
          <p:cNvSpPr txBox="1"/>
          <p:nvPr/>
        </p:nvSpPr>
        <p:spPr>
          <a:xfrm>
            <a:off x="494850" y="3839100"/>
            <a:ext cx="1653300" cy="44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lang="it" sz="2000" b="1">
                <a:solidFill>
                  <a:schemeClr val="dk1"/>
                </a:solidFill>
              </a:rPr>
              <a:t>Relatore</a:t>
            </a:r>
            <a:r>
              <a:rPr lang="it" sz="2000">
                <a:solidFill>
                  <a:schemeClr val="dk1"/>
                </a:solidFill>
              </a:rPr>
              <a:t>:</a:t>
            </a:r>
            <a:endParaRPr sz="2600">
              <a:solidFill>
                <a:schemeClr val="dk2"/>
              </a:solidFill>
            </a:endParaRPr>
          </a:p>
        </p:txBody>
      </p:sp>
      <p:sp>
        <p:nvSpPr>
          <p:cNvPr id="60" name="Google Shape;60;p13"/>
          <p:cNvSpPr txBox="1"/>
          <p:nvPr/>
        </p:nvSpPr>
        <p:spPr>
          <a:xfrm>
            <a:off x="494850" y="4287900"/>
            <a:ext cx="2824500" cy="5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lang="it" sz="1800" i="1">
                <a:solidFill>
                  <a:schemeClr val="dk1"/>
                </a:solidFill>
              </a:rPr>
              <a:t>Prof. Giorgio Battistelli</a:t>
            </a:r>
            <a:endParaRPr sz="200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14"/>
          <p:cNvSpPr/>
          <p:nvPr/>
        </p:nvSpPr>
        <p:spPr>
          <a:xfrm>
            <a:off x="335700" y="645700"/>
            <a:ext cx="8472600" cy="818400"/>
          </a:xfrm>
          <a:prstGeom prst="roundRect">
            <a:avLst>
              <a:gd name="adj" fmla="val 37596"/>
            </a:avLst>
          </a:prstGeom>
          <a:solidFill>
            <a:srgbClr val="FFFFFF"/>
          </a:solidFill>
          <a:ln w="12700" cap="flat" cmpd="sng">
            <a:solidFill>
              <a:srgbClr val="4F81BD"/>
            </a:solidFill>
            <a:prstDash val="solid"/>
            <a:miter lim="400000"/>
            <a:headEnd type="none" w="sm" len="sm"/>
            <a:tailEnd type="none" w="sm" len="sm"/>
          </a:ln>
          <a:effectLst>
            <a:outerShdw blurRad="50800" dist="63500" dir="2700000" rotWithShape="0">
              <a:srgbClr val="000000">
                <a:alpha val="50200"/>
              </a:srgbClr>
            </a:outerShdw>
          </a:effectLst>
        </p:spPr>
        <p:txBody>
          <a:bodyPr spcFirstLastPara="1" wrap="square" lIns="50800" tIns="50800" rIns="50800" bIns="508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F81BD"/>
              </a:buClr>
              <a:buSzPts val="1100"/>
              <a:buFont typeface="Tahoma"/>
              <a:buNone/>
            </a:pPr>
            <a:endParaRPr sz="1100" b="0" i="0" u="none" strike="noStrike" cap="none">
              <a:solidFill>
                <a:srgbClr val="4F81BD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66" name="Google Shape;66;p14"/>
          <p:cNvSpPr txBox="1">
            <a:spLocks noGrp="1"/>
          </p:cNvSpPr>
          <p:nvPr>
            <p:ph type="title"/>
          </p:nvPr>
        </p:nvSpPr>
        <p:spPr>
          <a:xfrm>
            <a:off x="565200" y="0"/>
            <a:ext cx="8286000" cy="47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12700" algn="l" rtl="0">
              <a:spcBef>
                <a:spcPts val="0"/>
              </a:spcBef>
              <a:spcAft>
                <a:spcPts val="0"/>
              </a:spcAft>
              <a:buClr>
                <a:srgbClr val="00407F"/>
              </a:buClr>
              <a:buSzPct val="58333"/>
              <a:buFont typeface="Calibri"/>
              <a:buNone/>
            </a:pPr>
            <a:r>
              <a:rPr lang="it" sz="2400" b="1" dirty="0">
                <a:solidFill>
                  <a:srgbClr val="00407F"/>
                </a:solidFill>
                <a:latin typeface="Calibri"/>
                <a:ea typeface="Calibri"/>
                <a:cs typeface="Calibri"/>
                <a:sym typeface="Calibri"/>
              </a:rPr>
              <a:t>Introduzione e problema</a:t>
            </a:r>
            <a:endParaRPr sz="2700" b="1" dirty="0"/>
          </a:p>
        </p:txBody>
      </p:sp>
      <p:sp>
        <p:nvSpPr>
          <p:cNvPr id="67" name="Google Shape;67;p14"/>
          <p:cNvSpPr txBox="1">
            <a:spLocks noGrp="1"/>
          </p:cNvSpPr>
          <p:nvPr>
            <p:ph type="body" idx="1"/>
          </p:nvPr>
        </p:nvSpPr>
        <p:spPr>
          <a:xfrm>
            <a:off x="640076" y="641549"/>
            <a:ext cx="8034536" cy="815273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indent="0">
              <a:spcBef>
                <a:spcPts val="1200"/>
              </a:spcBef>
              <a:spcAft>
                <a:spcPts val="1200"/>
              </a:spcAft>
              <a:buNone/>
            </a:pPr>
            <a:r>
              <a:rPr lang="it-IT" sz="1500" dirty="0">
                <a:solidFill>
                  <a:srgbClr val="3D85C6"/>
                </a:solidFill>
              </a:rPr>
              <a:t>Contesto applicativo:</a:t>
            </a:r>
            <a:r>
              <a:rPr lang="it-IT" sz="1500" b="1" dirty="0">
                <a:solidFill>
                  <a:srgbClr val="3D85C6"/>
                </a:solidFill>
              </a:rPr>
              <a:t> </a:t>
            </a:r>
            <a:br>
              <a:rPr lang="it-IT" sz="1500" b="1" dirty="0">
                <a:solidFill>
                  <a:schemeClr val="dk1"/>
                </a:solidFill>
              </a:rPr>
            </a:br>
            <a:r>
              <a:rPr lang="it-IT" sz="1500" dirty="0">
                <a:solidFill>
                  <a:schemeClr val="dk1"/>
                </a:solidFill>
              </a:rPr>
              <a:t>Robotica mobile in ambienti con o senza ostacoli.</a:t>
            </a:r>
          </a:p>
        </p:txBody>
      </p:sp>
      <p:pic>
        <p:nvPicPr>
          <p:cNvPr id="68" name="Google Shape;68;p14" title="Logo_unifi.jp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442250" cy="476400"/>
          </a:xfrm>
          <a:prstGeom prst="rect">
            <a:avLst/>
          </a:prstGeom>
          <a:noFill/>
          <a:ln>
            <a:noFill/>
          </a:ln>
        </p:spPr>
      </p:pic>
      <p:sp>
        <p:nvSpPr>
          <p:cNvPr id="69" name="Google Shape;69;p14"/>
          <p:cNvSpPr/>
          <p:nvPr/>
        </p:nvSpPr>
        <p:spPr>
          <a:xfrm>
            <a:off x="335700" y="1780249"/>
            <a:ext cx="8472600" cy="1304400"/>
          </a:xfrm>
          <a:prstGeom prst="roundRect">
            <a:avLst>
              <a:gd name="adj" fmla="val 37596"/>
            </a:avLst>
          </a:prstGeom>
          <a:solidFill>
            <a:srgbClr val="FFFFFF"/>
          </a:solidFill>
          <a:ln w="12700" cap="flat" cmpd="sng">
            <a:solidFill>
              <a:srgbClr val="4F81BD"/>
            </a:solidFill>
            <a:prstDash val="solid"/>
            <a:miter lim="400000"/>
            <a:headEnd type="none" w="sm" len="sm"/>
            <a:tailEnd type="none" w="sm" len="sm"/>
          </a:ln>
          <a:effectLst>
            <a:outerShdw blurRad="50800" dist="63500" dir="2700000" rotWithShape="0">
              <a:srgbClr val="000000">
                <a:alpha val="50200"/>
              </a:srgbClr>
            </a:outerShdw>
          </a:effectLst>
        </p:spPr>
        <p:txBody>
          <a:bodyPr spcFirstLastPara="1" wrap="square" lIns="50800" tIns="50800" rIns="50800" bIns="508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F81BD"/>
              </a:buClr>
              <a:buSzPts val="1100"/>
              <a:buFont typeface="Tahoma"/>
              <a:buNone/>
            </a:pPr>
            <a:endParaRPr sz="1100" b="0" i="0" u="none" strike="noStrike" cap="none">
              <a:solidFill>
                <a:srgbClr val="4F81BD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70" name="Google Shape;70;p14"/>
          <p:cNvSpPr txBox="1">
            <a:spLocks noGrp="1"/>
          </p:cNvSpPr>
          <p:nvPr>
            <p:ph type="body" idx="1"/>
          </p:nvPr>
        </p:nvSpPr>
        <p:spPr>
          <a:xfrm>
            <a:off x="640361" y="1777982"/>
            <a:ext cx="8055900" cy="130774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it" sz="1500" dirty="0">
                <a:solidFill>
                  <a:srgbClr val="3D85C6"/>
                </a:solidFill>
              </a:rPr>
              <a:t>Problema:</a:t>
            </a:r>
            <a:br>
              <a:rPr lang="it" sz="1500" b="1" dirty="0">
                <a:solidFill>
                  <a:schemeClr val="dk1"/>
                </a:solidFill>
              </a:rPr>
            </a:br>
            <a:r>
              <a:rPr lang="it" sz="1500" dirty="0">
                <a:solidFill>
                  <a:schemeClr val="dk1"/>
                </a:solidFill>
              </a:rPr>
              <a:t>Consentire la navigazione autonoma del robot garantendo un inseguimento stabile e preciso di un percorso preimpostato. </a:t>
            </a:r>
            <a:endParaRPr sz="1500"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endParaRPr dirty="0"/>
          </a:p>
        </p:txBody>
      </p:sp>
      <p:sp>
        <p:nvSpPr>
          <p:cNvPr id="71" name="Google Shape;71;p14"/>
          <p:cNvSpPr/>
          <p:nvPr/>
        </p:nvSpPr>
        <p:spPr>
          <a:xfrm>
            <a:off x="335700" y="3400800"/>
            <a:ext cx="8472600" cy="1464404"/>
          </a:xfrm>
          <a:prstGeom prst="roundRect">
            <a:avLst>
              <a:gd name="adj" fmla="val 37596"/>
            </a:avLst>
          </a:prstGeom>
          <a:solidFill>
            <a:srgbClr val="FFFFFF"/>
          </a:solidFill>
          <a:ln w="12700" cap="flat" cmpd="sng">
            <a:solidFill>
              <a:srgbClr val="4F81BD"/>
            </a:solidFill>
            <a:prstDash val="solid"/>
            <a:miter lim="400000"/>
            <a:headEnd type="none" w="sm" len="sm"/>
            <a:tailEnd type="none" w="sm" len="sm"/>
          </a:ln>
          <a:effectLst>
            <a:outerShdw blurRad="50800" dist="63500" dir="2700000" rotWithShape="0">
              <a:srgbClr val="000000">
                <a:alpha val="50200"/>
              </a:srgbClr>
            </a:outerShdw>
          </a:effectLst>
        </p:spPr>
        <p:txBody>
          <a:bodyPr spcFirstLastPara="1" wrap="square" lIns="50800" tIns="50800" rIns="50800" bIns="508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F81BD"/>
              </a:buClr>
              <a:buSzPts val="1100"/>
              <a:buFont typeface="Tahoma"/>
              <a:buNone/>
            </a:pPr>
            <a:endParaRPr sz="1100" b="0" i="0" u="none" strike="noStrike" cap="none">
              <a:solidFill>
                <a:srgbClr val="4F81BD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72" name="Google Shape;72;p14"/>
          <p:cNvSpPr txBox="1">
            <a:spLocks noGrp="1"/>
          </p:cNvSpPr>
          <p:nvPr>
            <p:ph type="body" idx="1"/>
          </p:nvPr>
        </p:nvSpPr>
        <p:spPr>
          <a:xfrm>
            <a:off x="640076" y="3399610"/>
            <a:ext cx="8055900" cy="1464404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it" sz="1500" dirty="0">
                <a:solidFill>
                  <a:srgbClr val="3D85C6"/>
                </a:solidFill>
              </a:rPr>
              <a:t>Soluzione:</a:t>
            </a:r>
            <a:br>
              <a:rPr lang="it" sz="1500" b="1" dirty="0">
                <a:solidFill>
                  <a:schemeClr val="dk1"/>
                </a:solidFill>
              </a:rPr>
            </a:br>
            <a:r>
              <a:rPr lang="it" sz="1500" dirty="0">
                <a:solidFill>
                  <a:schemeClr val="dk1"/>
                </a:solidFill>
              </a:rPr>
              <a:t>Implementazione dell’algoritmo Pure Pursuit in sinergia con la sensoristica di bordo (Odometria e LiDAR) per la stima della posa e il controllo in tempo reale del veicolo lungo il percorso pianificato. </a:t>
            </a:r>
            <a:endParaRPr sz="1500" dirty="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7" name="Google Shape;77;p15" title="Logo_unifi.jp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442250" cy="476400"/>
          </a:xfrm>
          <a:prstGeom prst="rect">
            <a:avLst/>
          </a:prstGeom>
          <a:noFill/>
          <a:ln>
            <a:noFill/>
          </a:ln>
        </p:spPr>
      </p:pic>
      <p:sp>
        <p:nvSpPr>
          <p:cNvPr id="78" name="Google Shape;78;p15"/>
          <p:cNvSpPr txBox="1">
            <a:spLocks noGrp="1"/>
          </p:cNvSpPr>
          <p:nvPr>
            <p:ph type="title"/>
          </p:nvPr>
        </p:nvSpPr>
        <p:spPr>
          <a:xfrm>
            <a:off x="565200" y="0"/>
            <a:ext cx="8286000" cy="47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1270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sz="2400" b="1">
                <a:solidFill>
                  <a:srgbClr val="00407F"/>
                </a:solidFill>
                <a:latin typeface="Calibri"/>
                <a:ea typeface="Calibri"/>
                <a:cs typeface="Calibri"/>
                <a:sym typeface="Calibri"/>
              </a:rPr>
              <a:t>Modello cinematico e stima della posa</a:t>
            </a:r>
            <a:endParaRPr sz="2700" b="1"/>
          </a:p>
        </p:txBody>
      </p:sp>
      <p:sp>
        <p:nvSpPr>
          <p:cNvPr id="79" name="Google Shape;79;p15"/>
          <p:cNvSpPr txBox="1"/>
          <p:nvPr/>
        </p:nvSpPr>
        <p:spPr>
          <a:xfrm>
            <a:off x="4884750" y="598775"/>
            <a:ext cx="3608100" cy="216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4F81BD"/>
              </a:buClr>
              <a:buSzPts val="1000"/>
              <a:buFont typeface="Tahoma"/>
              <a:buNone/>
            </a:pPr>
            <a:r>
              <a:rPr lang="it" dirty="0">
                <a:solidFill>
                  <a:srgbClr val="3D85C6"/>
                </a:solidFill>
              </a:rPr>
              <a:t>Modello cinematico (uniciclo)</a:t>
            </a:r>
            <a:endParaRPr dirty="0">
              <a:solidFill>
                <a:srgbClr val="3D85C6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535353"/>
              </a:buClr>
              <a:buSzPts val="1000"/>
              <a:buFont typeface="Tahoma"/>
              <a:buNone/>
            </a:pPr>
            <a:r>
              <a:rPr lang="it" dirty="0">
                <a:solidFill>
                  <a:schemeClr val="dk1"/>
                </a:solidFill>
              </a:rPr>
              <a:t>Stato: q = [x, y, α]ᵀ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535353"/>
              </a:buClr>
              <a:buSzPts val="1000"/>
              <a:buFont typeface="Tahoma"/>
              <a:buNone/>
            </a:pP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535353"/>
              </a:buClr>
              <a:buSzPts val="1000"/>
              <a:buFont typeface="Tahoma"/>
              <a:buNone/>
            </a:pPr>
            <a:r>
              <a:rPr lang="it" dirty="0">
                <a:solidFill>
                  <a:schemeClr val="dk1"/>
                </a:solidFill>
              </a:rPr>
              <a:t>ẋ = v cos(α)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535353"/>
              </a:buClr>
              <a:buSzPts val="1000"/>
              <a:buFont typeface="Tahoma"/>
              <a:buNone/>
            </a:pPr>
            <a:r>
              <a:rPr lang="it" dirty="0">
                <a:solidFill>
                  <a:schemeClr val="dk1"/>
                </a:solidFill>
              </a:rPr>
              <a:t>ẏ = v sin(α)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dirty="0">
                <a:solidFill>
                  <a:schemeClr val="dk1"/>
                </a:solidFill>
              </a:rPr>
              <a:t>α̇ = ω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dirty="0">
                <a:solidFill>
                  <a:schemeClr val="dk1"/>
                </a:solidFill>
              </a:rPr>
              <a:t>Discretizzazione di Eulero con </a:t>
            </a:r>
            <a:r>
              <a:rPr lang="it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(Δt=0.05s)</a:t>
            </a:r>
            <a:endParaRPr dirty="0">
              <a:solidFill>
                <a:schemeClr val="dk1"/>
              </a:solidFill>
            </a:endParaRPr>
          </a:p>
          <a:p>
            <a:pPr marL="45720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solidFill>
                <a:srgbClr val="535353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535353"/>
              </a:buClr>
              <a:buSzPts val="1000"/>
              <a:buFont typeface="Tahoma"/>
              <a:buNone/>
            </a:pPr>
            <a:endParaRPr dirty="0">
              <a:solidFill>
                <a:srgbClr val="535353"/>
              </a:solidFill>
            </a:endParaRPr>
          </a:p>
        </p:txBody>
      </p:sp>
      <p:sp>
        <p:nvSpPr>
          <p:cNvPr id="80" name="Google Shape;80;p15"/>
          <p:cNvSpPr txBox="1"/>
          <p:nvPr/>
        </p:nvSpPr>
        <p:spPr>
          <a:xfrm>
            <a:off x="5110625" y="3879925"/>
            <a:ext cx="1902300" cy="109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2"/>
              </a:solidFill>
            </a:endParaRPr>
          </a:p>
        </p:txBody>
      </p:sp>
      <p:sp>
        <p:nvSpPr>
          <p:cNvPr id="81" name="Google Shape;81;p15"/>
          <p:cNvSpPr txBox="1"/>
          <p:nvPr/>
        </p:nvSpPr>
        <p:spPr>
          <a:xfrm>
            <a:off x="4276850" y="2881750"/>
            <a:ext cx="4697400" cy="189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dirty="0">
                <a:solidFill>
                  <a:srgbClr val="3D85C6"/>
                </a:solidFill>
              </a:rPr>
              <a:t>Simulazione LiDAR (Ray-Casting) </a:t>
            </a:r>
            <a:endParaRPr dirty="0">
              <a:solidFill>
                <a:srgbClr val="3D85C6"/>
              </a:solidFill>
            </a:endParaRPr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</a:pPr>
            <a:r>
              <a:rPr lang="it" b="1" dirty="0">
                <a:solidFill>
                  <a:schemeClr val="tx1"/>
                </a:solidFill>
              </a:rPr>
              <a:t>Ray-Casting:</a:t>
            </a:r>
            <a:r>
              <a:rPr lang="it" dirty="0">
                <a:solidFill>
                  <a:schemeClr val="tx1"/>
                </a:solidFill>
              </a:rPr>
              <a:t> Simulazione dei fasci luminosi e calcolo geometrico dei punti di contatto.  </a:t>
            </a:r>
            <a:endParaRPr lang="it-IT" dirty="0">
              <a:solidFill>
                <a:schemeClr val="tx1"/>
              </a:solidFill>
            </a:endParaRPr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</a:pPr>
            <a:r>
              <a:rPr lang="it-IT" b="1" dirty="0">
                <a:solidFill>
                  <a:schemeClr val="dk1"/>
                </a:solidFill>
              </a:rPr>
              <a:t>Rilevamento Ostacoli:</a:t>
            </a:r>
            <a:r>
              <a:rPr lang="it-IT" dirty="0">
                <a:solidFill>
                  <a:schemeClr val="dk1"/>
                </a:solidFill>
              </a:rPr>
              <a:t> Misurazione della distanza dagli ostacoli fisici. </a:t>
            </a:r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</a:pPr>
            <a:r>
              <a:rPr lang="it-IT" b="1" dirty="0">
                <a:solidFill>
                  <a:schemeClr val="dk1"/>
                </a:solidFill>
              </a:rPr>
              <a:t>Output Sensoriale:</a:t>
            </a:r>
            <a:r>
              <a:rPr lang="it-IT" dirty="0">
                <a:solidFill>
                  <a:schemeClr val="dk1"/>
                </a:solidFill>
              </a:rPr>
              <a:t> </a:t>
            </a:r>
            <a:r>
              <a:rPr lang="it-IT" i="1" dirty="0">
                <a:solidFill>
                  <a:schemeClr val="dk1"/>
                </a:solidFill>
              </a:rPr>
              <a:t>Point Cloud</a:t>
            </a:r>
            <a:r>
              <a:rPr lang="it-IT" dirty="0">
                <a:solidFill>
                  <a:schemeClr val="dk1"/>
                </a:solidFill>
              </a:rPr>
              <a:t> (nuvola di punti) relativa al frame corrente. </a:t>
            </a:r>
          </a:p>
        </p:txBody>
      </p:sp>
      <p:pic>
        <p:nvPicPr>
          <p:cNvPr id="82" name="Google Shape;82;p15" title="Esempio di scansione LiDAR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28900" y="687500"/>
            <a:ext cx="3924825" cy="382642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16"/>
          <p:cNvSpPr/>
          <p:nvPr/>
        </p:nvSpPr>
        <p:spPr>
          <a:xfrm>
            <a:off x="335700" y="476400"/>
            <a:ext cx="8472600" cy="2514600"/>
          </a:xfrm>
          <a:prstGeom prst="roundRect">
            <a:avLst>
              <a:gd name="adj" fmla="val 14330"/>
            </a:avLst>
          </a:prstGeom>
          <a:solidFill>
            <a:srgbClr val="FFFFFF"/>
          </a:solidFill>
          <a:ln w="12700" cap="flat" cmpd="sng">
            <a:solidFill>
              <a:srgbClr val="4F81BD"/>
            </a:solidFill>
            <a:prstDash val="solid"/>
            <a:miter lim="400000"/>
            <a:headEnd type="none" w="sm" len="sm"/>
            <a:tailEnd type="none" w="sm" len="sm"/>
          </a:ln>
          <a:effectLst>
            <a:outerShdw blurRad="50800" dist="63500" dir="2700000" rotWithShape="0">
              <a:srgbClr val="000000">
                <a:alpha val="50200"/>
              </a:srgbClr>
            </a:outerShdw>
          </a:effectLst>
        </p:spPr>
        <p:txBody>
          <a:bodyPr spcFirstLastPara="1" wrap="square" lIns="50800" tIns="50800" rIns="50800" bIns="508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F81BD"/>
              </a:buClr>
              <a:buSzPts val="1100"/>
              <a:buFont typeface="Tahoma"/>
              <a:buNone/>
            </a:pPr>
            <a:endParaRPr sz="1100" b="0" i="0" u="none" strike="noStrike" cap="none">
              <a:solidFill>
                <a:srgbClr val="4F81BD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87" name="Google Shape;87;p16"/>
          <p:cNvSpPr/>
          <p:nvPr/>
        </p:nvSpPr>
        <p:spPr>
          <a:xfrm>
            <a:off x="335700" y="3204400"/>
            <a:ext cx="8515500" cy="1823700"/>
          </a:xfrm>
          <a:prstGeom prst="roundRect">
            <a:avLst>
              <a:gd name="adj" fmla="val 14330"/>
            </a:avLst>
          </a:prstGeom>
          <a:solidFill>
            <a:srgbClr val="FFFFFF"/>
          </a:solidFill>
          <a:ln w="12700" cap="flat" cmpd="sng">
            <a:solidFill>
              <a:srgbClr val="4F81BD"/>
            </a:solidFill>
            <a:prstDash val="solid"/>
            <a:miter lim="400000"/>
            <a:headEnd type="none" w="sm" len="sm"/>
            <a:tailEnd type="none" w="sm" len="sm"/>
          </a:ln>
          <a:effectLst>
            <a:outerShdw blurRad="50800" dist="63500" dir="2700000" rotWithShape="0">
              <a:srgbClr val="000000">
                <a:alpha val="50200"/>
              </a:srgbClr>
            </a:outerShdw>
          </a:effectLst>
        </p:spPr>
        <p:txBody>
          <a:bodyPr spcFirstLastPara="1" wrap="square" lIns="50800" tIns="50800" rIns="50800" bIns="508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F81BD"/>
              </a:buClr>
              <a:buSzPts val="1100"/>
              <a:buFont typeface="Tahoma"/>
              <a:buNone/>
            </a:pPr>
            <a:endParaRPr sz="1100" b="0" i="0" u="none" strike="noStrike" cap="none">
              <a:solidFill>
                <a:srgbClr val="4F81BD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89" name="Google Shape;89;p16"/>
          <p:cNvSpPr txBox="1">
            <a:spLocks noGrp="1"/>
          </p:cNvSpPr>
          <p:nvPr>
            <p:ph type="body" idx="1"/>
          </p:nvPr>
        </p:nvSpPr>
        <p:spPr>
          <a:xfrm>
            <a:off x="565200" y="522958"/>
            <a:ext cx="8034900" cy="2403821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55000" lnSpcReduction="20000"/>
          </a:bodyPr>
          <a:lstStyle/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br>
              <a:rPr lang="it" sz="6000" b="1" dirty="0"/>
            </a:br>
            <a:br>
              <a:rPr lang="it" sz="6000" b="1" dirty="0"/>
            </a:br>
            <a:br>
              <a:rPr lang="it" sz="6000" b="1" dirty="0"/>
            </a:br>
            <a:br>
              <a:rPr lang="it" sz="6000" b="1" dirty="0"/>
            </a:br>
            <a:endParaRPr lang="it-IT" dirty="0"/>
          </a:p>
        </p:txBody>
      </p:sp>
      <p:pic>
        <p:nvPicPr>
          <p:cNvPr id="90" name="Google Shape;90;p16" title="Logo_unifi.jp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442250" cy="476400"/>
          </a:xfrm>
          <a:prstGeom prst="rect">
            <a:avLst/>
          </a:prstGeom>
          <a:noFill/>
          <a:ln>
            <a:noFill/>
          </a:ln>
        </p:spPr>
      </p:pic>
      <p:sp>
        <p:nvSpPr>
          <p:cNvPr id="91" name="Google Shape;91;p16"/>
          <p:cNvSpPr txBox="1">
            <a:spLocks noGrp="1"/>
          </p:cNvSpPr>
          <p:nvPr>
            <p:ph type="body" idx="1"/>
          </p:nvPr>
        </p:nvSpPr>
        <p:spPr>
          <a:xfrm>
            <a:off x="565200" y="3204400"/>
            <a:ext cx="8034900" cy="1823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it" sz="1200" dirty="0">
                <a:solidFill>
                  <a:srgbClr val="3D85C6"/>
                </a:solidFill>
              </a:rPr>
              <a:t>Contributi della Tesi</a:t>
            </a:r>
            <a:endParaRPr sz="1200" dirty="0">
              <a:solidFill>
                <a:srgbClr val="3D85C6"/>
              </a:solidFill>
            </a:endParaRPr>
          </a:p>
          <a:p>
            <a:pPr marL="457200" lvl="0" indent="-30480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●"/>
            </a:pPr>
            <a:r>
              <a:rPr lang="it" sz="1200" b="1" dirty="0">
                <a:solidFill>
                  <a:schemeClr val="dk1"/>
                </a:solidFill>
              </a:rPr>
              <a:t>Algoritmo Pure Pursuit:</a:t>
            </a:r>
            <a:r>
              <a:rPr lang="it" sz="1200" dirty="0">
                <a:solidFill>
                  <a:schemeClr val="dk1"/>
                </a:solidFill>
              </a:rPr>
              <a:t> Implementazione ed integrazione del controllo di inseguimento della traiettoria nel framework di simulazione. </a:t>
            </a:r>
            <a:endParaRPr sz="1200" dirty="0">
              <a:solidFill>
                <a:schemeClr val="dk1"/>
              </a:solidFill>
            </a:endParaRPr>
          </a:p>
          <a:p>
            <a:pPr marL="457200" lvl="0" indent="-3048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Char char="●"/>
            </a:pPr>
            <a:r>
              <a:rPr lang="it" sz="1200" b="1" dirty="0">
                <a:solidFill>
                  <a:schemeClr val="dk1"/>
                </a:solidFill>
              </a:rPr>
              <a:t>Ambienti Deterministici:</a:t>
            </a:r>
            <a:r>
              <a:rPr lang="it" sz="1200" dirty="0">
                <a:solidFill>
                  <a:schemeClr val="dk1"/>
                </a:solidFill>
              </a:rPr>
              <a:t> Generazione procedurale dei mondi virtuali in funzione diretta della geometria del percorso. </a:t>
            </a:r>
            <a:endParaRPr sz="1200" dirty="0">
              <a:solidFill>
                <a:schemeClr val="dk1"/>
              </a:solidFill>
            </a:endParaRPr>
          </a:p>
          <a:p>
            <a:pPr marL="457200" lvl="0" indent="-3048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Char char="●"/>
            </a:pPr>
            <a:r>
              <a:rPr lang="it" sz="1200" b="1" dirty="0">
                <a:solidFill>
                  <a:schemeClr val="dk1"/>
                </a:solidFill>
              </a:rPr>
              <a:t>Odometria Rumorosa (</a:t>
            </a:r>
            <a:r>
              <a:rPr lang="it" sz="1200" b="1" i="1" dirty="0">
                <a:solidFill>
                  <a:schemeClr val="dk1"/>
                </a:solidFill>
              </a:rPr>
              <a:t>Noisy Odometry</a:t>
            </a:r>
            <a:r>
              <a:rPr lang="it" sz="1200" b="1" dirty="0">
                <a:solidFill>
                  <a:schemeClr val="dk1"/>
                </a:solidFill>
              </a:rPr>
              <a:t>):</a:t>
            </a:r>
            <a:r>
              <a:rPr lang="it" sz="1200" dirty="0">
                <a:solidFill>
                  <a:schemeClr val="dk1"/>
                </a:solidFill>
              </a:rPr>
              <a:t> Modellazione del rumore del sensore odometrico per valutare la robustezza e la stabilità dell'algoritmo in condizioni realistiche. </a:t>
            </a:r>
            <a:endParaRPr sz="6011" dirty="0">
              <a:solidFill>
                <a:schemeClr val="dk1"/>
              </a:solidFill>
            </a:endParaRPr>
          </a:p>
        </p:txBody>
      </p:sp>
      <p:sp>
        <p:nvSpPr>
          <p:cNvPr id="92" name="Google Shape;92;p16"/>
          <p:cNvSpPr txBox="1">
            <a:spLocks noGrp="1"/>
          </p:cNvSpPr>
          <p:nvPr>
            <p:ph type="title"/>
          </p:nvPr>
        </p:nvSpPr>
        <p:spPr>
          <a:xfrm>
            <a:off x="565200" y="0"/>
            <a:ext cx="8286000" cy="47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127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45833"/>
              <a:buFont typeface="Arial"/>
              <a:buNone/>
            </a:pPr>
            <a:r>
              <a:rPr lang="it" sz="2400" b="1">
                <a:solidFill>
                  <a:srgbClr val="00407F"/>
                </a:solidFill>
                <a:latin typeface="Calibri"/>
                <a:ea typeface="Calibri"/>
                <a:cs typeface="Calibri"/>
                <a:sym typeface="Calibri"/>
              </a:rPr>
              <a:t>Punto di partenza e contributo della tesi</a:t>
            </a:r>
            <a:endParaRPr sz="2700" b="1" dirty="0"/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95FBA015-BC28-FAA1-EB1A-F44FC8133983}"/>
              </a:ext>
            </a:extLst>
          </p:cNvPr>
          <p:cNvSpPr txBox="1"/>
          <p:nvPr/>
        </p:nvSpPr>
        <p:spPr>
          <a:xfrm>
            <a:off x="565200" y="476399"/>
            <a:ext cx="8145210" cy="251459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r>
              <a:rPr lang="it-IT" sz="1200" dirty="0">
                <a:solidFill>
                  <a:srgbClr val="3D85C6"/>
                </a:solidFill>
              </a:rPr>
              <a:t>Modulo Mappatura &amp; Localizzazione</a:t>
            </a:r>
            <a:br>
              <a:rPr lang="it-IT" sz="1200" dirty="0">
                <a:solidFill>
                  <a:srgbClr val="3D85C6"/>
                </a:solidFill>
              </a:rPr>
            </a:br>
            <a:endParaRPr lang="it-IT" sz="1200" dirty="0">
              <a:solidFill>
                <a:srgbClr val="3D85C6"/>
              </a:solidFill>
            </a:endParaRPr>
          </a:p>
          <a:p>
            <a:pPr marL="171450" indent="-171450">
              <a:buChar char="•"/>
            </a:pPr>
            <a:r>
              <a:rPr lang="it-IT" sz="1200" b="1" dirty="0"/>
              <a:t>Simulatore 2D:</a:t>
            </a:r>
            <a:r>
              <a:rPr lang="it-IT" sz="1200" dirty="0"/>
              <a:t> Ambiente virtuale per la cinematica del robot mobile. </a:t>
            </a:r>
          </a:p>
          <a:p>
            <a:pPr marL="171450" indent="-171450">
              <a:buChar char="•"/>
            </a:pPr>
            <a:r>
              <a:rPr lang="it-IT" sz="1200" b="1" dirty="0"/>
              <a:t>Algoritmo ICP (Scan-to-</a:t>
            </a:r>
            <a:r>
              <a:rPr lang="it-IT" sz="1200" b="1" dirty="0" err="1"/>
              <a:t>Map</a:t>
            </a:r>
            <a:r>
              <a:rPr lang="it-IT" sz="1200" b="1" dirty="0"/>
              <a:t>):</a:t>
            </a:r>
            <a:r>
              <a:rPr lang="it-IT" sz="1200" dirty="0"/>
              <a:t> Costruzione e aggiornamento incrementale della mappa tramite </a:t>
            </a:r>
            <a:r>
              <a:rPr lang="it-IT" sz="1200" dirty="0" err="1"/>
              <a:t>LiDAR</a:t>
            </a:r>
            <a:r>
              <a:rPr lang="it-IT" sz="1200" dirty="0"/>
              <a:t>.</a:t>
            </a:r>
          </a:p>
          <a:p>
            <a:pPr marL="171450" indent="-171450">
              <a:buChar char="•"/>
            </a:pPr>
            <a:r>
              <a:rPr lang="it-IT" sz="1200" b="1" dirty="0"/>
              <a:t>Inizializzazione </a:t>
            </a:r>
            <a:r>
              <a:rPr lang="it-IT" sz="1200" b="1" dirty="0" err="1"/>
              <a:t>Odometrica</a:t>
            </a:r>
            <a:r>
              <a:rPr lang="it-IT" sz="1200" b="1" dirty="0"/>
              <a:t>:</a:t>
            </a:r>
            <a:r>
              <a:rPr lang="it-IT" sz="1200" dirty="0"/>
              <a:t> Stima preliminare della posa per velocizzare la convergenza dell'ICP.</a:t>
            </a:r>
          </a:p>
          <a:p>
            <a:br>
              <a:rPr lang="it-IT" sz="1200" dirty="0">
                <a:solidFill>
                  <a:srgbClr val="3D85C6"/>
                </a:solidFill>
              </a:rPr>
            </a:br>
            <a:endParaRPr lang="it-IT" sz="1200" dirty="0">
              <a:solidFill>
                <a:srgbClr val="3D85C6"/>
              </a:solidFill>
            </a:endParaRPr>
          </a:p>
          <a:p>
            <a:r>
              <a:rPr lang="it-IT" sz="1200" dirty="0">
                <a:solidFill>
                  <a:srgbClr val="3D85C6"/>
                </a:solidFill>
              </a:rPr>
              <a:t>Strategie Anti-Drift </a:t>
            </a:r>
          </a:p>
          <a:p>
            <a:endParaRPr lang="it-IT" sz="1200" dirty="0"/>
          </a:p>
          <a:p>
            <a:pPr marL="171450" indent="-171450">
              <a:buChar char="•"/>
            </a:pPr>
            <a:r>
              <a:rPr lang="it-IT" sz="1200" b="1" dirty="0"/>
              <a:t>Criteri di Accettazione:</a:t>
            </a:r>
            <a:r>
              <a:rPr lang="it-IT" sz="1200" dirty="0"/>
              <a:t> Filtraggio degli allineamenti basato su soglie di RMSE e conteggio corrispondenze.</a:t>
            </a:r>
          </a:p>
          <a:p>
            <a:pPr marL="171450" indent="-171450">
              <a:buChar char="•"/>
            </a:pPr>
            <a:r>
              <a:rPr lang="it-IT" sz="1200" b="1" dirty="0"/>
              <a:t>Voxel </a:t>
            </a:r>
            <a:r>
              <a:rPr lang="it-IT" sz="1200" b="1" dirty="0" err="1"/>
              <a:t>Downsampling</a:t>
            </a:r>
            <a:r>
              <a:rPr lang="it-IT" sz="1200" b="1" dirty="0"/>
              <a:t>:</a:t>
            </a:r>
            <a:r>
              <a:rPr lang="it-IT" sz="1200" dirty="0"/>
              <a:t> Contenimento della dimensione della mappa mediante riduzione della densità dei punti.</a:t>
            </a:r>
          </a:p>
          <a:p>
            <a:pPr marL="171450" indent="-171450">
              <a:buChar char="•"/>
            </a:pPr>
            <a:r>
              <a:rPr lang="it-IT" sz="1200" b="1" dirty="0"/>
              <a:t>Loop </a:t>
            </a:r>
            <a:r>
              <a:rPr lang="it-IT" sz="1200" b="1" dirty="0" err="1"/>
              <a:t>Closure</a:t>
            </a:r>
            <a:r>
              <a:rPr lang="it-IT" sz="1200" b="1" dirty="0"/>
              <a:t> (</a:t>
            </a:r>
            <a:r>
              <a:rPr lang="it-IT" sz="1200" b="1" dirty="0" err="1"/>
              <a:t>Keyframe-based</a:t>
            </a:r>
            <a:r>
              <a:rPr lang="it-IT" sz="1200" b="1" dirty="0"/>
              <a:t>):</a:t>
            </a:r>
            <a:r>
              <a:rPr lang="it-IT" sz="1200" dirty="0"/>
              <a:t> Eliminazione del drift e correzione topologica della mappa. 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7" name="Google Shape;97;p17" title="Logo_unifi.jp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0" y="0"/>
            <a:ext cx="442250" cy="476400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p17"/>
          <p:cNvSpPr txBox="1">
            <a:spLocks noGrp="1"/>
          </p:cNvSpPr>
          <p:nvPr>
            <p:ph type="title"/>
          </p:nvPr>
        </p:nvSpPr>
        <p:spPr>
          <a:xfrm>
            <a:off x="565200" y="0"/>
            <a:ext cx="8286000" cy="47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1270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sz="2400" b="1">
                <a:solidFill>
                  <a:srgbClr val="00407F"/>
                </a:solidFill>
                <a:latin typeface="Calibri"/>
                <a:ea typeface="Calibri"/>
                <a:cs typeface="Calibri"/>
                <a:sym typeface="Calibri"/>
              </a:rPr>
              <a:t>Algoritmo di Pure Pursuit</a:t>
            </a:r>
            <a:endParaRPr sz="2700" b="1"/>
          </a:p>
        </p:txBody>
      </p:sp>
      <p:sp>
        <p:nvSpPr>
          <p:cNvPr id="99" name="Google Shape;99;p17"/>
          <p:cNvSpPr txBox="1"/>
          <p:nvPr/>
        </p:nvSpPr>
        <p:spPr>
          <a:xfrm>
            <a:off x="5110625" y="3879925"/>
            <a:ext cx="1902300" cy="109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2"/>
              </a:solidFill>
            </a:endParaRPr>
          </a:p>
        </p:txBody>
      </p:sp>
      <p:sp>
        <p:nvSpPr>
          <p:cNvPr id="101" name="Google Shape;101;p17"/>
          <p:cNvSpPr txBox="1"/>
          <p:nvPr/>
        </p:nvSpPr>
        <p:spPr>
          <a:xfrm>
            <a:off x="4619875" y="1601725"/>
            <a:ext cx="4354200" cy="337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sz="1600" dirty="0">
                <a:solidFill>
                  <a:srgbClr val="3D85C6"/>
                </a:solidFill>
              </a:rPr>
              <a:t>Principio di Funzionamento </a:t>
            </a:r>
            <a:endParaRPr sz="1600" dirty="0">
              <a:solidFill>
                <a:srgbClr val="3D85C6"/>
              </a:solidFill>
            </a:endParaRPr>
          </a:p>
          <a:p>
            <a:pPr marL="457200" lvl="0" indent="-330200">
              <a:buClr>
                <a:schemeClr val="dk1"/>
              </a:buClr>
              <a:buSzPts val="1600"/>
              <a:buChar char="●"/>
            </a:pPr>
            <a:r>
              <a:rPr lang="it" sz="1600" b="1" dirty="0">
                <a:solidFill>
                  <a:schemeClr val="dk1"/>
                </a:solidFill>
              </a:rPr>
              <a:t>Ricerca del Punto di Mira (</a:t>
            </a:r>
            <a:r>
              <a:rPr lang="it" sz="1600" b="1" i="1" dirty="0">
                <a:solidFill>
                  <a:schemeClr val="dk1"/>
                </a:solidFill>
              </a:rPr>
              <a:t>Lookahead Point</a:t>
            </a:r>
            <a:r>
              <a:rPr lang="it" sz="1600" b="1" dirty="0">
                <a:solidFill>
                  <a:schemeClr val="dk1"/>
                </a:solidFill>
              </a:rPr>
              <a:t>):</a:t>
            </a:r>
            <a:r>
              <a:rPr lang="it" sz="1600" dirty="0">
                <a:solidFill>
                  <a:schemeClr val="dk1"/>
                </a:solidFill>
              </a:rPr>
              <a:t> Individuazione del punto di intersezione tra la traiettoria pianificata e una circonferenza di raggio L</a:t>
            </a:r>
            <a:r>
              <a:rPr lang="it" sz="1300" dirty="0">
                <a:solidFill>
                  <a:schemeClr val="dk1"/>
                </a:solidFill>
              </a:rPr>
              <a:t>d</a:t>
            </a:r>
            <a:r>
              <a:rPr lang="it" sz="1600" dirty="0">
                <a:solidFill>
                  <a:schemeClr val="dk1"/>
                </a:solidFill>
              </a:rPr>
              <a:t> (Lookahead Distance)</a:t>
            </a:r>
            <a:r>
              <a:rPr lang="it-IT" sz="1600" dirty="0"/>
              <a:t>, centrata sulla posizione del robot stimata mediante i sensori.</a:t>
            </a:r>
            <a:endParaRPr sz="1600" dirty="0">
              <a:solidFill>
                <a:schemeClr val="dk1"/>
              </a:solidFill>
            </a:endParaRPr>
          </a:p>
          <a:p>
            <a:pPr marL="457200" lvl="0" indent="-3302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</a:pPr>
            <a:r>
              <a:rPr lang="it" sz="1600" b="1" dirty="0">
                <a:solidFill>
                  <a:schemeClr val="dk1"/>
                </a:solidFill>
              </a:rPr>
              <a:t>Calcolo della Velocità Angolare:</a:t>
            </a:r>
            <a:r>
              <a:rPr lang="it" sz="1600" dirty="0">
                <a:solidFill>
                  <a:schemeClr val="dk1"/>
                </a:solidFill>
              </a:rPr>
              <a:t> Stima della curvatura dell'arco di cerchio necessario a raggiungere il punto di mira e generazione del comando di steering/velocità angolare </a:t>
            </a:r>
            <a:r>
              <a:rPr lang="it" sz="16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ω</a:t>
            </a:r>
            <a:r>
              <a:rPr lang="it" sz="1600" dirty="0">
                <a:solidFill>
                  <a:schemeClr val="dk1"/>
                </a:solidFill>
              </a:rPr>
              <a:t>. </a:t>
            </a:r>
            <a:endParaRPr sz="1600"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2"/>
              </a:solidFill>
            </a:endParaRPr>
          </a:p>
        </p:txBody>
      </p:sp>
      <p:sp>
        <p:nvSpPr>
          <p:cNvPr id="102" name="Google Shape;102;p17"/>
          <p:cNvSpPr txBox="1"/>
          <p:nvPr/>
        </p:nvSpPr>
        <p:spPr>
          <a:xfrm>
            <a:off x="4817050" y="697550"/>
            <a:ext cx="43542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2"/>
              </a:solidFill>
            </a:endParaRPr>
          </a:p>
        </p:txBody>
      </p:sp>
      <p:sp>
        <p:nvSpPr>
          <p:cNvPr id="103" name="Google Shape;103;p17"/>
          <p:cNvSpPr txBox="1"/>
          <p:nvPr/>
        </p:nvSpPr>
        <p:spPr>
          <a:xfrm>
            <a:off x="4619775" y="556625"/>
            <a:ext cx="4354200" cy="92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sz="1600" dirty="0">
                <a:solidFill>
                  <a:srgbClr val="3D85C6"/>
                </a:solidFill>
              </a:rPr>
              <a:t>Obiettivo:</a:t>
            </a:r>
            <a:br>
              <a:rPr lang="it" sz="1600" dirty="0">
                <a:solidFill>
                  <a:schemeClr val="dk2"/>
                </a:solidFill>
              </a:rPr>
            </a:br>
            <a:r>
              <a:rPr lang="it" sz="1600" dirty="0">
                <a:solidFill>
                  <a:schemeClr val="dk1"/>
                </a:solidFill>
              </a:rPr>
              <a:t>Inseguimento cinematico di una traiettoria predefinita.</a:t>
            </a:r>
            <a:endParaRPr sz="1600" dirty="0">
              <a:solidFill>
                <a:schemeClr val="dk1"/>
              </a:solidFill>
            </a:endParaRPr>
          </a:p>
        </p:txBody>
      </p:sp>
      <p:pic>
        <p:nvPicPr>
          <p:cNvPr id="3" name="pista_1_type2_ld0.4_noisy_nolc_presentazione">
            <a:hlinkClick r:id="" action="ppaction://media"/>
            <a:extLst>
              <a:ext uri="{FF2B5EF4-FFF2-40B4-BE49-F238E27FC236}">
                <a16:creationId xmlns:a16="http://schemas.microsoft.com/office/drawing/2014/main" id="{3DBDA954-4DDE-EF38-DC1F-5E6D1CB7AEA0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139953" y="920275"/>
            <a:ext cx="4286753" cy="3302949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24823" fill="hold"/>
                                        <p:tgtEl>
                                          <p:spTgt spid="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>
                <p:cTn id="7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3"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8" name="Google Shape;108;p18" title="Logo_unifi.jp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442250" cy="476400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18"/>
          <p:cNvSpPr txBox="1">
            <a:spLocks noGrp="1"/>
          </p:cNvSpPr>
          <p:nvPr>
            <p:ph type="title"/>
          </p:nvPr>
        </p:nvSpPr>
        <p:spPr>
          <a:xfrm>
            <a:off x="565200" y="0"/>
            <a:ext cx="8286000" cy="47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1270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sz="2400" b="1">
                <a:solidFill>
                  <a:srgbClr val="00407F"/>
                </a:solidFill>
                <a:latin typeface="Calibri"/>
                <a:ea typeface="Calibri"/>
                <a:cs typeface="Calibri"/>
                <a:sym typeface="Calibri"/>
              </a:rPr>
              <a:t>Algoritmo di Pure Pursuit</a:t>
            </a:r>
            <a:endParaRPr sz="2700" b="1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1" name="Google Shape;111;p18"/>
              <p:cNvSpPr txBox="1"/>
              <p:nvPr/>
            </p:nvSpPr>
            <p:spPr>
              <a:xfrm>
                <a:off x="4558377" y="1484225"/>
                <a:ext cx="4354200" cy="286310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it" dirty="0">
                    <a:solidFill>
                      <a:srgbClr val="3D85C6"/>
                    </a:solidFill>
                  </a:rPr>
                  <a:t>Passi del funzionamento:</a:t>
                </a:r>
                <a:br>
                  <a:rPr lang="it" dirty="0"/>
                </a:br>
                <a:r>
                  <a:rPr lang="it" b="1" dirty="0">
                    <a:solidFill>
                      <a:schemeClr val="dk1"/>
                    </a:solidFill>
                  </a:rPr>
                  <a:t>Orientamento assoluto</a:t>
                </a:r>
                <a:r>
                  <a:rPr lang="it" dirty="0">
                    <a:solidFill>
                      <a:schemeClr val="dk1"/>
                    </a:solidFill>
                  </a:rPr>
                  <a:t> verso il punto di mira (L</a:t>
                </a:r>
                <a:r>
                  <a:rPr lang="it" sz="1100" dirty="0">
                    <a:solidFill>
                      <a:schemeClr val="dk1"/>
                    </a:solidFill>
                  </a:rPr>
                  <a:t>d</a:t>
                </a:r>
                <a:r>
                  <a:rPr lang="it" dirty="0">
                    <a:solidFill>
                      <a:schemeClr val="dk1"/>
                    </a:solidFill>
                  </a:rPr>
                  <a:t>):</a:t>
                </a:r>
              </a:p>
              <a:p>
                <a:br>
                  <a:rPr lang="it" dirty="0">
                    <a:solidFill>
                      <a:schemeClr val="dk1"/>
                    </a:solidFill>
                    <a:latin typeface="Cambria Math" panose="02040503050406030204" pitchFamily="18" charset="0"/>
                  </a:rPr>
                </a:br>
                <a:r>
                  <a:rPr lang="it" dirty="0">
                    <a:solidFill>
                      <a:schemeClr val="dk1"/>
                    </a:solidFill>
                  </a:rPr>
                  <a:t>	</a:t>
                </a:r>
                <a:br>
                  <a:rPr lang="it" dirty="0">
                    <a:solidFill>
                      <a:schemeClr val="dk1"/>
                    </a:solidFill>
                  </a:rPr>
                </a:br>
                <a:r>
                  <a:rPr lang="it-IT" b="1" dirty="0"/>
                  <a:t>Errore di orientamento</a:t>
                </a:r>
                <a:r>
                  <a:rPr lang="it-IT" dirty="0"/>
                  <a:t> (</a:t>
                </a:r>
                <a14:m>
                  <m:oMath xmlns:m="http://schemas.openxmlformats.org/officeDocument/2006/math">
                    <m:r>
                      <a:rPr lang="it-IT" i="1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it-IT" dirty="0"/>
                  <a:t>) riferito al sistema di bordo:</a:t>
                </a:r>
                <a:br>
                  <a:rPr lang="it-IT" dirty="0"/>
                </a:br>
                <a:endParaRPr lang="it-IT" dirty="0"/>
              </a:p>
              <a:p>
                <a:endParaRPr lang="it-IT" dirty="0"/>
              </a:p>
              <a:p>
                <a:r>
                  <a:rPr lang="it-IT" dirty="0"/>
                  <a:t>(Calcolato tramite le funzioni trigonometriche per vincolare l'angolo nell'intervallo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it-IT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it-IT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it-IT" i="1">
                            <a:latin typeface="Cambria Math" panose="02040503050406030204" pitchFamily="18" charset="0"/>
                          </a:rPr>
                          <m:t>𝜋</m:t>
                        </m:r>
                        <m:r>
                          <a:rPr lang="it-IT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it-IT" i="1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</m:d>
                  </m:oMath>
                </a14:m>
                <a:r>
                  <a:rPr lang="it-IT" dirty="0"/>
                  <a:t>)</a:t>
                </a:r>
                <a:br>
                  <a:rPr lang="it-IT" dirty="0"/>
                </a:br>
                <a:br>
                  <a:rPr lang="it-IT" dirty="0"/>
                </a:br>
                <a:r>
                  <a:rPr lang="it-IT" b="1" dirty="0"/>
                  <a:t>Legge di controllo</a:t>
                </a:r>
                <a:r>
                  <a:rPr lang="it-IT" dirty="0"/>
                  <a:t> del Pure </a:t>
                </a:r>
                <a:r>
                  <a:rPr lang="it-IT" dirty="0" err="1"/>
                  <a:t>Pursuit</a:t>
                </a:r>
                <a:r>
                  <a:rPr lang="it-IT" dirty="0"/>
                  <a:t> (calcolo della velocità angolare </a:t>
                </a:r>
                <a14:m>
                  <m:oMath xmlns:m="http://schemas.openxmlformats.org/officeDocument/2006/math">
                    <m:r>
                      <a:rPr lang="it-IT" i="1">
                        <a:latin typeface="Cambria Math" panose="02040503050406030204" pitchFamily="18" charset="0"/>
                      </a:rPr>
                      <m:t>𝜔</m:t>
                    </m:r>
                  </m:oMath>
                </a14:m>
                <a:r>
                  <a:rPr lang="it-IT" dirty="0"/>
                  <a:t>):</a:t>
                </a:r>
                <a:br>
                  <a:rPr lang="it-IT" sz="1100" dirty="0"/>
                </a:br>
                <a:br>
                  <a:rPr lang="it" sz="1100" dirty="0">
                    <a:solidFill>
                      <a:schemeClr val="dk1"/>
                    </a:solidFill>
                  </a:rPr>
                </a:br>
                <a:r>
                  <a:rPr lang="it" sz="1100" dirty="0">
                    <a:solidFill>
                      <a:schemeClr val="dk1"/>
                    </a:solidFill>
                  </a:rPr>
                  <a:t> </a:t>
                </a:r>
                <a:br>
                  <a:rPr lang="it" sz="1100" dirty="0"/>
                </a:br>
                <a:endParaRPr sz="1300" dirty="0">
                  <a:solidFill>
                    <a:schemeClr val="dk1"/>
                  </a:solidFill>
                </a:endParaRPr>
              </a:p>
            </p:txBody>
          </p:sp>
        </mc:Choice>
        <mc:Fallback xmlns="">
          <p:sp>
            <p:nvSpPr>
              <p:cNvPr id="111" name="Google Shape;111;p1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58377" y="1484225"/>
                <a:ext cx="4354200" cy="2863106"/>
              </a:xfrm>
              <a:prstGeom prst="rect">
                <a:avLst/>
              </a:prstGeom>
              <a:blipFill>
                <a:blip r:embed="rId4"/>
                <a:stretch>
                  <a:fillRect l="-420" b="-3830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2" name="Google Shape;112;p18"/>
          <p:cNvSpPr txBox="1"/>
          <p:nvPr/>
        </p:nvSpPr>
        <p:spPr>
          <a:xfrm>
            <a:off x="4817050" y="697550"/>
            <a:ext cx="43542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2"/>
              </a:solidFill>
            </a:endParaRPr>
          </a:p>
        </p:txBody>
      </p:sp>
      <p:sp>
        <p:nvSpPr>
          <p:cNvPr id="113" name="Google Shape;113;p18"/>
          <p:cNvSpPr txBox="1"/>
          <p:nvPr/>
        </p:nvSpPr>
        <p:spPr>
          <a:xfrm>
            <a:off x="4558377" y="556625"/>
            <a:ext cx="4354200" cy="92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sz="1600" dirty="0">
                <a:solidFill>
                  <a:srgbClr val="3D85C6"/>
                </a:solidFill>
              </a:rPr>
              <a:t>Obiettivo:</a:t>
            </a:r>
            <a:br>
              <a:rPr lang="it" sz="1600" dirty="0">
                <a:solidFill>
                  <a:schemeClr val="dk2"/>
                </a:solidFill>
              </a:rPr>
            </a:br>
            <a:r>
              <a:rPr lang="it" sz="1600" dirty="0">
                <a:solidFill>
                  <a:schemeClr val="dk1"/>
                </a:solidFill>
              </a:rPr>
              <a:t>Inseguimento cinematico di una traiettoria predefinita.</a:t>
            </a:r>
            <a:endParaRPr sz="1600" dirty="0">
              <a:solidFill>
                <a:schemeClr val="dk1"/>
              </a:solidFill>
            </a:endParaRPr>
          </a:p>
        </p:txBody>
      </p:sp>
      <p:pic>
        <p:nvPicPr>
          <p:cNvPr id="114" name="Google Shape;114;p18" title="llustration-of-Pure-Pursuit-algorithm-principle-Knowing-the-current-robot-location-and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52400" y="1636625"/>
            <a:ext cx="4315075" cy="2441583"/>
          </a:xfrm>
          <a:prstGeom prst="rect">
            <a:avLst/>
          </a:prstGeom>
          <a:noFill/>
          <a:ln>
            <a:noFill/>
          </a:ln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" name="CasellaDiTesto 1">
                <a:extLst>
                  <a:ext uri="{FF2B5EF4-FFF2-40B4-BE49-F238E27FC236}">
                    <a16:creationId xmlns:a16="http://schemas.microsoft.com/office/drawing/2014/main" id="{27F7910E-BD48-9EA3-9C9B-4E8A187A981B}"/>
                  </a:ext>
                </a:extLst>
              </p:cNvPr>
              <p:cNvSpPr txBox="1"/>
              <p:nvPr/>
            </p:nvSpPr>
            <p:spPr>
              <a:xfrm>
                <a:off x="4619775" y="2049190"/>
                <a:ext cx="1843325" cy="23577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sv-S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sv-SE" i="1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sv-SE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m:rPr>
                              <m:sty m:val="p"/>
                            </m:rPr>
                            <a:rPr lang="it-IT" b="0" i="1" smtClean="0">
                              <a:latin typeface="Cambria Math" panose="02040503050406030204" pitchFamily="18" charset="0"/>
                            </a:rPr>
                            <m:t>arget</m:t>
                          </m:r>
                        </m:sub>
                      </m:sSub>
                      <m:r>
                        <a:rPr lang="sv-SE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nor/>
                        </m:rPr>
                        <a:rPr lang="sv-SE" i="0">
                          <a:latin typeface="Cambria Math" panose="02040503050406030204" pitchFamily="18" charset="0"/>
                        </a:rPr>
                        <m:t>atan2</m:t>
                      </m:r>
                      <m:d>
                        <m:dPr>
                          <m:ctrlPr>
                            <a:rPr lang="sv-S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sv-SE" i="1">
                              <a:latin typeface="Cambria Math" panose="02040503050406030204" pitchFamily="18" charset="0"/>
                            </a:rPr>
                            <m:t>𝑑𝑦</m:t>
                          </m:r>
                          <m:r>
                            <a:rPr lang="sv-SE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sv-SE" i="1">
                              <a:latin typeface="Cambria Math" panose="02040503050406030204" pitchFamily="18" charset="0"/>
                            </a:rPr>
                            <m:t>𝑑𝑥</m:t>
                          </m:r>
                        </m:e>
                      </m:d>
                    </m:oMath>
                  </m:oMathPara>
                </a14:m>
                <a:endParaRPr lang="it-IT" dirty="0"/>
              </a:p>
            </p:txBody>
          </p:sp>
        </mc:Choice>
        <mc:Fallback xmlns="">
          <p:sp>
            <p:nvSpPr>
              <p:cNvPr id="2" name="CasellaDiTesto 1">
                <a:extLst>
                  <a:ext uri="{FF2B5EF4-FFF2-40B4-BE49-F238E27FC236}">
                    <a16:creationId xmlns:a16="http://schemas.microsoft.com/office/drawing/2014/main" id="{27F7910E-BD48-9EA3-9C9B-4E8A187A981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19775" y="2049190"/>
                <a:ext cx="1843325" cy="235770"/>
              </a:xfrm>
              <a:prstGeom prst="rect">
                <a:avLst/>
              </a:prstGeom>
              <a:blipFill>
                <a:blip r:embed="rId6"/>
                <a:stretch>
                  <a:fillRect l="-1987" b="-25641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CasellaDiTesto 5">
                <a:extLst>
                  <a:ext uri="{FF2B5EF4-FFF2-40B4-BE49-F238E27FC236}">
                    <a16:creationId xmlns:a16="http://schemas.microsoft.com/office/drawing/2014/main" id="{9D643573-8B8F-1FFF-0A4E-4F765FD94010}"/>
                  </a:ext>
                </a:extLst>
              </p:cNvPr>
              <p:cNvSpPr txBox="1"/>
              <p:nvPr/>
            </p:nvSpPr>
            <p:spPr>
              <a:xfrm>
                <a:off x="4619775" y="2921138"/>
                <a:ext cx="3647217" cy="25115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it-IT" i="1" smtClean="0"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it-IT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nor/>
                        </m:rPr>
                        <a:rPr lang="it-IT" i="0">
                          <a:latin typeface="Cambria Math" panose="02040503050406030204" pitchFamily="18" charset="0"/>
                        </a:rPr>
                        <m:t>atan2</m:t>
                      </m:r>
                      <m:d>
                        <m:dPr>
                          <m:ctrlPr>
                            <a:rPr lang="it-IT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unc>
                            <m:funcPr>
                              <m:ctrlPr>
                                <a:rPr lang="it-IT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it-IT" i="1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it-IT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it-IT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it-IT" i="1">
                                          <a:latin typeface="Cambria Math" panose="02040503050406030204" pitchFamily="18" charset="0"/>
                                        </a:rPr>
                                        <m:t>𝜃</m:t>
                                      </m:r>
                                    </m:e>
                                    <m:sub>
                                      <m:r>
                                        <a:rPr lang="it-IT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it-IT" b="0" i="1" smtClean="0">
                                          <a:latin typeface="Cambria Math" panose="02040503050406030204" pitchFamily="18" charset="0"/>
                                        </a:rPr>
                                        <m:t>arget</m:t>
                                      </m:r>
                                    </m:sub>
                                  </m:sSub>
                                  <m:r>
                                    <a:rPr lang="it-IT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it-IT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it-IT" i="1">
                                          <a:latin typeface="Cambria Math" panose="02040503050406030204" pitchFamily="18" charset="0"/>
                                        </a:rPr>
                                        <m:t>𝜃</m:t>
                                      </m:r>
                                    </m:e>
                                    <m:sub>
                                      <m:r>
                                        <a:rPr lang="it-IT" i="1">
                                          <a:latin typeface="Cambria Math" panose="02040503050406030204" pitchFamily="18" charset="0"/>
                                        </a:rPr>
                                        <m:t>𝑟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func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,</m:t>
                          </m:r>
                          <m:func>
                            <m:funcPr>
                              <m:ctrlPr>
                                <a:rPr lang="it-IT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it-IT" i="1"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it-IT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it-IT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it-IT" i="1">
                                          <a:latin typeface="Cambria Math" panose="02040503050406030204" pitchFamily="18" charset="0"/>
                                        </a:rPr>
                                        <m:t>𝜃</m:t>
                                      </m:r>
                                    </m:e>
                                    <m:sub>
                                      <m:r>
                                        <a:rPr lang="it-IT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it-IT" b="0" i="1" smtClean="0">
                                          <a:latin typeface="Cambria Math" panose="02040503050406030204" pitchFamily="18" charset="0"/>
                                        </a:rPr>
                                        <m:t>arget</m:t>
                                      </m:r>
                                    </m:sub>
                                  </m:sSub>
                                  <m:r>
                                    <a:rPr lang="it-IT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it-IT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it-IT" i="1">
                                          <a:latin typeface="Cambria Math" panose="02040503050406030204" pitchFamily="18" charset="0"/>
                                        </a:rPr>
                                        <m:t>𝜃</m:t>
                                      </m:r>
                                    </m:e>
                                    <m:sub>
                                      <m:r>
                                        <a:rPr lang="it-IT" i="1">
                                          <a:latin typeface="Cambria Math" panose="02040503050406030204" pitchFamily="18" charset="0"/>
                                        </a:rPr>
                                        <m:t>𝑟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func>
                        </m:e>
                      </m:d>
                    </m:oMath>
                  </m:oMathPara>
                </a14:m>
                <a:endParaRPr lang="it-IT" dirty="0"/>
              </a:p>
            </p:txBody>
          </p:sp>
        </mc:Choice>
        <mc:Fallback xmlns="">
          <p:sp>
            <p:nvSpPr>
              <p:cNvPr id="6" name="CasellaDiTesto 5">
                <a:extLst>
                  <a:ext uri="{FF2B5EF4-FFF2-40B4-BE49-F238E27FC236}">
                    <a16:creationId xmlns:a16="http://schemas.microsoft.com/office/drawing/2014/main" id="{9D643573-8B8F-1FFF-0A4E-4F765FD9401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19775" y="2921138"/>
                <a:ext cx="3647217" cy="251159"/>
              </a:xfrm>
              <a:prstGeom prst="rect">
                <a:avLst/>
              </a:prstGeom>
              <a:blipFill>
                <a:blip r:embed="rId7"/>
                <a:stretch>
                  <a:fillRect l="-167" b="-24390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CasellaDiTesto 6">
                <a:extLst>
                  <a:ext uri="{FF2B5EF4-FFF2-40B4-BE49-F238E27FC236}">
                    <a16:creationId xmlns:a16="http://schemas.microsoft.com/office/drawing/2014/main" id="{1D305615-1C29-D9B5-3F8D-DD9822BF4040}"/>
                  </a:ext>
                </a:extLst>
              </p:cNvPr>
              <p:cNvSpPr txBox="1"/>
              <p:nvPr/>
            </p:nvSpPr>
            <p:spPr>
              <a:xfrm>
                <a:off x="4619775" y="4461744"/>
                <a:ext cx="1270861" cy="45448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it-IT" i="1" smtClean="0">
                          <a:latin typeface="Cambria Math" panose="02040503050406030204" pitchFamily="18" charset="0"/>
                        </a:rPr>
                        <m:t>𝜔</m:t>
                      </m:r>
                      <m:r>
                        <a:rPr lang="it-IT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it-IT" i="1" smtClean="0"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it-IT" i="1" smtClean="0">
                          <a:latin typeface="Cambria Math" panose="02040503050406030204" pitchFamily="18" charset="0"/>
                        </a:rPr>
                        <m:t>⋅</m:t>
                      </m:r>
                      <m:f>
                        <m:fPr>
                          <m:ctrlPr>
                            <a:rPr lang="it-IT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2</m:t>
                          </m:r>
                          <m:func>
                            <m:funcPr>
                              <m:ctrlPr>
                                <a:rPr lang="it-IT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it-IT" i="1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it-IT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it-IT" i="1">
                                      <a:latin typeface="Cambria Math" panose="02040503050406030204" pitchFamily="18" charset="0"/>
                                    </a:rPr>
                                    <m:t>𝛼</m:t>
                                  </m:r>
                                </m:e>
                              </m:d>
                            </m:e>
                          </m:func>
                        </m:num>
                        <m:den>
                          <m:sSub>
                            <m:sSubPr>
                              <m:ctrlPr>
                                <a:rPr lang="it-IT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it-IT" b="0" i="1" smtClean="0">
                                  <a:latin typeface="Cambria Math" panose="02040503050406030204" pitchFamily="18" charset="0"/>
                                </a:rPr>
                                <m:t>l</m:t>
                              </m:r>
                            </m:e>
                            <m:sub>
                              <m:r>
                                <a:rPr lang="it-IT" i="1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it-IT" dirty="0"/>
              </a:p>
            </p:txBody>
          </p:sp>
        </mc:Choice>
        <mc:Fallback xmlns="">
          <p:sp>
            <p:nvSpPr>
              <p:cNvPr id="7" name="CasellaDiTesto 6">
                <a:extLst>
                  <a:ext uri="{FF2B5EF4-FFF2-40B4-BE49-F238E27FC236}">
                    <a16:creationId xmlns:a16="http://schemas.microsoft.com/office/drawing/2014/main" id="{1D305615-1C29-D9B5-3F8D-DD9822BF404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19775" y="4461744"/>
                <a:ext cx="1270861" cy="454483"/>
              </a:xfrm>
              <a:prstGeom prst="rect">
                <a:avLst/>
              </a:prstGeom>
              <a:blipFill>
                <a:blip r:embed="rId8"/>
                <a:stretch>
                  <a:fillRect l="-1442" b="-8108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9"/>
          <p:cNvSpPr/>
          <p:nvPr/>
        </p:nvSpPr>
        <p:spPr>
          <a:xfrm>
            <a:off x="4851300" y="540150"/>
            <a:ext cx="3999900" cy="4431900"/>
          </a:xfrm>
          <a:prstGeom prst="roundRect">
            <a:avLst>
              <a:gd name="adj" fmla="val 8685"/>
            </a:avLst>
          </a:prstGeom>
          <a:solidFill>
            <a:srgbClr val="FFFFFF"/>
          </a:solidFill>
          <a:ln w="12700" cap="flat" cmpd="sng">
            <a:solidFill>
              <a:srgbClr val="4F81BD"/>
            </a:solidFill>
            <a:prstDash val="solid"/>
            <a:miter lim="400000"/>
            <a:headEnd type="none" w="sm" len="sm"/>
            <a:tailEnd type="none" w="sm" len="sm"/>
          </a:ln>
          <a:effectLst>
            <a:outerShdw blurRad="50800" dist="63500" dir="2700000" rotWithShape="0">
              <a:srgbClr val="000000">
                <a:alpha val="50200"/>
              </a:srgbClr>
            </a:outerShdw>
          </a:effectLst>
        </p:spPr>
        <p:txBody>
          <a:bodyPr spcFirstLastPara="1" wrap="square" lIns="50800" tIns="50800" rIns="50800" bIns="508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F81BD"/>
              </a:buClr>
              <a:buSzPts val="1100"/>
              <a:buFont typeface="Tahoma"/>
              <a:buNone/>
            </a:pPr>
            <a:endParaRPr sz="1100" b="0" i="0" u="none" strike="noStrike" cap="none">
              <a:solidFill>
                <a:srgbClr val="4F81BD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20" name="Google Shape;120;p19"/>
          <p:cNvSpPr/>
          <p:nvPr/>
        </p:nvSpPr>
        <p:spPr>
          <a:xfrm>
            <a:off x="183050" y="739650"/>
            <a:ext cx="3999900" cy="3598200"/>
          </a:xfrm>
          <a:prstGeom prst="roundRect">
            <a:avLst>
              <a:gd name="adj" fmla="val 8685"/>
            </a:avLst>
          </a:prstGeom>
          <a:solidFill>
            <a:srgbClr val="FFFFFF"/>
          </a:solidFill>
          <a:ln w="12700" cap="flat" cmpd="sng">
            <a:solidFill>
              <a:srgbClr val="4F81BD"/>
            </a:solidFill>
            <a:prstDash val="solid"/>
            <a:miter lim="400000"/>
            <a:headEnd type="none" w="sm" len="sm"/>
            <a:tailEnd type="none" w="sm" len="sm"/>
          </a:ln>
          <a:effectLst>
            <a:outerShdw blurRad="50800" dist="63500" dir="2700000" rotWithShape="0">
              <a:srgbClr val="000000">
                <a:alpha val="50200"/>
              </a:srgbClr>
            </a:outerShdw>
          </a:effectLst>
        </p:spPr>
        <p:txBody>
          <a:bodyPr spcFirstLastPara="1" wrap="square" lIns="50800" tIns="50800" rIns="50800" bIns="508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F81BD"/>
              </a:buClr>
              <a:buSzPts val="1100"/>
              <a:buFont typeface="Tahoma"/>
              <a:buNone/>
            </a:pPr>
            <a:endParaRPr sz="1100" b="0" i="0" u="none" strike="noStrike" cap="none">
              <a:solidFill>
                <a:srgbClr val="4F81BD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pic>
        <p:nvPicPr>
          <p:cNvPr id="121" name="Google Shape;121;p19" title="Logo_unifi.jp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442250" cy="47640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9"/>
          <p:cNvSpPr txBox="1">
            <a:spLocks noGrp="1"/>
          </p:cNvSpPr>
          <p:nvPr>
            <p:ph type="title"/>
          </p:nvPr>
        </p:nvSpPr>
        <p:spPr>
          <a:xfrm>
            <a:off x="565200" y="0"/>
            <a:ext cx="8286000" cy="47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1270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sz="2400" b="1">
                <a:solidFill>
                  <a:srgbClr val="00407F"/>
                </a:solidFill>
                <a:latin typeface="Calibri"/>
                <a:ea typeface="Calibri"/>
                <a:cs typeface="Calibri"/>
                <a:sym typeface="Calibri"/>
              </a:rPr>
              <a:t>Esecuzione degli esperimenti e condizioni di arresto </a:t>
            </a:r>
            <a:endParaRPr sz="2700" b="1"/>
          </a:p>
        </p:txBody>
      </p:sp>
      <p:sp>
        <p:nvSpPr>
          <p:cNvPr id="123" name="Google Shape;123;p19"/>
          <p:cNvSpPr txBox="1"/>
          <p:nvPr/>
        </p:nvSpPr>
        <p:spPr>
          <a:xfrm>
            <a:off x="5110625" y="3879925"/>
            <a:ext cx="1902300" cy="109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2"/>
              </a:solidFill>
            </a:endParaRPr>
          </a:p>
        </p:txBody>
      </p:sp>
      <p:sp>
        <p:nvSpPr>
          <p:cNvPr id="124" name="Google Shape;124;p19"/>
          <p:cNvSpPr txBox="1"/>
          <p:nvPr/>
        </p:nvSpPr>
        <p:spPr>
          <a:xfrm>
            <a:off x="406550" y="739650"/>
            <a:ext cx="3552900" cy="3598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sz="1200" b="1" dirty="0">
                <a:solidFill>
                  <a:schemeClr val="dk1"/>
                </a:solidFill>
              </a:rPr>
              <a:t>ICP con inizializzazione odometrica</a:t>
            </a:r>
            <a:endParaRPr sz="1200" b="1"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sz="1200" b="1" dirty="0">
                <a:solidFill>
                  <a:schemeClr val="dk1"/>
                </a:solidFill>
              </a:rPr>
              <a:t>gating</a:t>
            </a:r>
            <a:r>
              <a:rPr lang="it" sz="1200" dirty="0">
                <a:solidFill>
                  <a:schemeClr val="dk1"/>
                </a:solidFill>
              </a:rPr>
              <a:t> basato su: </a:t>
            </a:r>
            <a:endParaRPr sz="1200" dirty="0">
              <a:solidFill>
                <a:schemeClr val="dk1"/>
              </a:solidFill>
            </a:endParaRPr>
          </a:p>
          <a:p>
            <a:pPr marL="457200" lvl="0" indent="-3048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lang="it" sz="1200" b="1" dirty="0">
                <a:solidFill>
                  <a:schemeClr val="dk1"/>
                </a:solidFill>
              </a:rPr>
              <a:t>numero minimo</a:t>
            </a:r>
            <a:r>
              <a:rPr lang="it" sz="1200" dirty="0">
                <a:solidFill>
                  <a:schemeClr val="dk1"/>
                </a:solidFill>
              </a:rPr>
              <a:t> di corrispondenze </a:t>
            </a:r>
            <a:endParaRPr sz="1200" dirty="0">
              <a:solidFill>
                <a:schemeClr val="dk1"/>
              </a:solidFill>
            </a:endParaRPr>
          </a:p>
          <a:p>
            <a:pPr marL="457200" lvl="0" indent="-3048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lang="it" sz="1200" b="1" dirty="0">
                <a:solidFill>
                  <a:schemeClr val="dk1"/>
                </a:solidFill>
              </a:rPr>
              <a:t>RMSE</a:t>
            </a:r>
            <a:r>
              <a:rPr lang="it" sz="1200" dirty="0">
                <a:solidFill>
                  <a:schemeClr val="dk1"/>
                </a:solidFill>
              </a:rPr>
              <a:t> </a:t>
            </a:r>
            <a:endParaRPr sz="1200" dirty="0">
              <a:solidFill>
                <a:schemeClr val="dk1"/>
              </a:solidFill>
            </a:endParaRPr>
          </a:p>
          <a:p>
            <a:pPr marL="457200" lvl="0" indent="-3048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lang="it" sz="1200" b="1" dirty="0">
                <a:solidFill>
                  <a:schemeClr val="dk1"/>
                </a:solidFill>
              </a:rPr>
              <a:t>plausibilità fisica</a:t>
            </a:r>
            <a:r>
              <a:rPr lang="it" sz="1200" dirty="0">
                <a:solidFill>
                  <a:schemeClr val="dk1"/>
                </a:solidFill>
              </a:rPr>
              <a:t> della soluzione (soglie posizionali e rotazionali che dipendono dal numero di corrispondenze trovate) </a:t>
            </a:r>
            <a:br>
              <a:rPr lang="it" sz="1200" dirty="0">
                <a:solidFill>
                  <a:schemeClr val="dk1"/>
                </a:solidFill>
              </a:rPr>
            </a:br>
            <a:endParaRPr sz="1200"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sz="1200" b="1" dirty="0">
                <a:solidFill>
                  <a:schemeClr val="dk1"/>
                </a:solidFill>
              </a:rPr>
              <a:t>Loop Closure </a:t>
            </a:r>
            <a:r>
              <a:rPr lang="it" sz="1200" dirty="0">
                <a:solidFill>
                  <a:schemeClr val="dk1"/>
                </a:solidFill>
              </a:rPr>
              <a:t>basato su </a:t>
            </a:r>
            <a:r>
              <a:rPr lang="it" sz="1200" b="1" dirty="0">
                <a:solidFill>
                  <a:schemeClr val="dk1"/>
                </a:solidFill>
              </a:rPr>
              <a:t>Keyframe</a:t>
            </a:r>
            <a:endParaRPr sz="1200" b="1" dirty="0">
              <a:solidFill>
                <a:schemeClr val="dk1"/>
              </a:solidFill>
            </a:endParaRPr>
          </a:p>
          <a:p>
            <a:pPr marL="457200" lvl="0" indent="-3048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lang="it" sz="1200" b="1" dirty="0">
                <a:solidFill>
                  <a:schemeClr val="dk1"/>
                </a:solidFill>
              </a:rPr>
              <a:t>Tempo di Cooldown:</a:t>
            </a:r>
            <a:r>
              <a:rPr lang="it" sz="1200" dirty="0">
                <a:solidFill>
                  <a:schemeClr val="dk1"/>
                </a:solidFill>
              </a:rPr>
              <a:t> Intervallo di attesa minimo </a:t>
            </a:r>
            <a:endParaRPr sz="1200"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sz="1200" b="1" dirty="0">
                <a:solidFill>
                  <a:schemeClr val="dk1"/>
                </a:solidFill>
              </a:rPr>
              <a:t>Gating</a:t>
            </a:r>
            <a:r>
              <a:rPr lang="it" sz="1200" dirty="0">
                <a:solidFill>
                  <a:schemeClr val="dk1"/>
                </a:solidFill>
              </a:rPr>
              <a:t> basato su:</a:t>
            </a:r>
            <a:endParaRPr sz="1200" dirty="0">
              <a:solidFill>
                <a:schemeClr val="dk1"/>
              </a:solidFill>
            </a:endParaRPr>
          </a:p>
          <a:p>
            <a:pPr marL="457200" lvl="0" indent="-3048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lang="it" sz="1200" b="1" dirty="0">
                <a:solidFill>
                  <a:schemeClr val="dk1"/>
                </a:solidFill>
              </a:rPr>
              <a:t>RMSE</a:t>
            </a:r>
            <a:r>
              <a:rPr lang="it" sz="1200" dirty="0">
                <a:solidFill>
                  <a:schemeClr val="dk1"/>
                </a:solidFill>
              </a:rPr>
              <a:t> </a:t>
            </a:r>
            <a:endParaRPr sz="1200" dirty="0">
              <a:solidFill>
                <a:schemeClr val="dk1"/>
              </a:solidFill>
            </a:endParaRPr>
          </a:p>
          <a:p>
            <a:pPr marL="457200" lvl="0" indent="-3048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lang="it" sz="1200" b="1" dirty="0">
                <a:solidFill>
                  <a:schemeClr val="dk1"/>
                </a:solidFill>
              </a:rPr>
              <a:t>fitness</a:t>
            </a:r>
            <a:r>
              <a:rPr lang="it" sz="1200" dirty="0">
                <a:solidFill>
                  <a:schemeClr val="dk1"/>
                </a:solidFill>
              </a:rPr>
              <a:t> </a:t>
            </a:r>
            <a:endParaRPr sz="1200" dirty="0">
              <a:solidFill>
                <a:schemeClr val="dk1"/>
              </a:solidFill>
            </a:endParaRPr>
          </a:p>
          <a:p>
            <a:pPr marL="457200" lvl="0" indent="-3048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lang="it" sz="1200" b="1" dirty="0">
                <a:solidFill>
                  <a:schemeClr val="dk1"/>
                </a:solidFill>
              </a:rPr>
              <a:t>valori massimi di correzione</a:t>
            </a:r>
            <a:r>
              <a:rPr lang="it" sz="1200" dirty="0">
                <a:solidFill>
                  <a:schemeClr val="dk1"/>
                </a:solidFill>
              </a:rPr>
              <a:t> in termini di posizione e rotazione </a:t>
            </a:r>
            <a:endParaRPr sz="1200"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00" dirty="0">
              <a:solidFill>
                <a:schemeClr val="dk1"/>
              </a:solidFill>
            </a:endParaRPr>
          </a:p>
        </p:txBody>
      </p:sp>
      <p:sp>
        <p:nvSpPr>
          <p:cNvPr id="125" name="Google Shape;125;p19"/>
          <p:cNvSpPr txBox="1"/>
          <p:nvPr/>
        </p:nvSpPr>
        <p:spPr>
          <a:xfrm>
            <a:off x="5119200" y="540025"/>
            <a:ext cx="3464100" cy="44318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sz="1200" dirty="0">
                <a:solidFill>
                  <a:srgbClr val="3D85C6"/>
                </a:solidFill>
              </a:rPr>
              <a:t>Pure Pursuit:</a:t>
            </a:r>
            <a:br>
              <a:rPr lang="it" sz="1200" dirty="0">
                <a:solidFill>
                  <a:schemeClr val="dk2"/>
                </a:solidFill>
              </a:rPr>
            </a:br>
            <a:endParaRPr sz="1200" dirty="0">
              <a:solidFill>
                <a:schemeClr val="dk2"/>
              </a:solidFill>
            </a:endParaRPr>
          </a:p>
          <a:p>
            <a:pPr marL="457200" lvl="0" indent="-30480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Char char="●"/>
            </a:pPr>
            <a:r>
              <a:rPr lang="it" sz="1200" b="1" dirty="0">
                <a:solidFill>
                  <a:schemeClr val="dk1"/>
                </a:solidFill>
              </a:rPr>
              <a:t>Finestra di Ricerca (</a:t>
            </a:r>
            <a:r>
              <a:rPr lang="it" sz="1200" b="1" i="1" dirty="0">
                <a:solidFill>
                  <a:schemeClr val="dk1"/>
                </a:solidFill>
              </a:rPr>
              <a:t>Search Window</a:t>
            </a:r>
            <a:r>
              <a:rPr lang="it" sz="1200" b="1" dirty="0">
                <a:solidFill>
                  <a:schemeClr val="dk1"/>
                </a:solidFill>
              </a:rPr>
              <a:t>):</a:t>
            </a:r>
            <a:r>
              <a:rPr lang="it" sz="1200" dirty="0">
                <a:solidFill>
                  <a:schemeClr val="dk1"/>
                </a:solidFill>
              </a:rPr>
              <a:t> Riduzione del campo di ricerca del punto di mira per prevenire il taglio delle curve e scorciatoie indebite sul percorso. </a:t>
            </a:r>
            <a:endParaRPr sz="1200" dirty="0">
              <a:solidFill>
                <a:schemeClr val="dk1"/>
              </a:solidFill>
            </a:endParaRPr>
          </a:p>
          <a:p>
            <a:pPr marL="45720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sz="1200" dirty="0">
                <a:solidFill>
                  <a:srgbClr val="3D85C6"/>
                </a:solidFill>
              </a:rPr>
              <a:t>Criteri di Terminazione:</a:t>
            </a:r>
            <a:br>
              <a:rPr lang="it" sz="1200" dirty="0">
                <a:solidFill>
                  <a:schemeClr val="dk1"/>
                </a:solidFill>
              </a:rPr>
            </a:br>
            <a:endParaRPr sz="1200" dirty="0">
              <a:solidFill>
                <a:schemeClr val="dk1"/>
              </a:solidFill>
            </a:endParaRPr>
          </a:p>
          <a:p>
            <a:pPr marL="457200" lvl="0" indent="-3048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lang="it" sz="1200" b="1" dirty="0">
                <a:solidFill>
                  <a:schemeClr val="dk1"/>
                </a:solidFill>
              </a:rPr>
              <a:t>Tolleranza di Arresto (</a:t>
            </a:r>
            <a:r>
              <a:rPr lang="it" sz="1200" b="1" i="1" dirty="0">
                <a:solidFill>
                  <a:schemeClr val="dk1"/>
                </a:solidFill>
              </a:rPr>
              <a:t>Stop Tolerance</a:t>
            </a:r>
            <a:r>
              <a:rPr lang="it" sz="1200" b="1" dirty="0">
                <a:solidFill>
                  <a:schemeClr val="dk1"/>
                </a:solidFill>
              </a:rPr>
              <a:t>):</a:t>
            </a:r>
            <a:r>
              <a:rPr lang="it" sz="1200" dirty="0">
                <a:solidFill>
                  <a:schemeClr val="dk1"/>
                </a:solidFill>
              </a:rPr>
              <a:t> 0,1m dal punto finale del percorso. </a:t>
            </a:r>
            <a:endParaRPr sz="1200" dirty="0">
              <a:solidFill>
                <a:schemeClr val="dk1"/>
              </a:solidFill>
            </a:endParaRPr>
          </a:p>
          <a:p>
            <a:pPr marL="457200" lvl="0" indent="-3048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lang="it" sz="1200" b="1" dirty="0">
                <a:solidFill>
                  <a:schemeClr val="dk1"/>
                </a:solidFill>
              </a:rPr>
              <a:t>Gap Indice Massimo (</a:t>
            </a:r>
            <a:r>
              <a:rPr lang="it" sz="1200" b="1" i="1" dirty="0">
                <a:solidFill>
                  <a:schemeClr val="dk1"/>
                </a:solidFill>
              </a:rPr>
              <a:t>Max Index Gap</a:t>
            </a:r>
            <a:r>
              <a:rPr lang="it" sz="1200" b="1" dirty="0">
                <a:solidFill>
                  <a:schemeClr val="dk1"/>
                </a:solidFill>
              </a:rPr>
              <a:t>):</a:t>
            </a:r>
            <a:r>
              <a:rPr lang="it" sz="1200" dirty="0">
                <a:solidFill>
                  <a:schemeClr val="dk1"/>
                </a:solidFill>
              </a:rPr>
              <a:t> Impedisce arresti prematuri quando il robot transita vicino al traguardo prima di aver completato il percorso. </a:t>
            </a:r>
            <a:endParaRPr sz="1200" dirty="0">
              <a:solidFill>
                <a:schemeClr val="dk1"/>
              </a:solidFill>
            </a:endParaRPr>
          </a:p>
          <a:p>
            <a:pPr marL="457200" lvl="0" indent="-3048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lang="it" sz="1200" b="1" dirty="0">
                <a:solidFill>
                  <a:schemeClr val="dk1"/>
                </a:solidFill>
              </a:rPr>
              <a:t>Distanza Minima di Allontanamento (</a:t>
            </a:r>
            <a:r>
              <a:rPr lang="it" sz="1200" b="1" i="1" dirty="0">
                <a:solidFill>
                  <a:schemeClr val="dk1"/>
                </a:solidFill>
              </a:rPr>
              <a:t>Min Leave Distance</a:t>
            </a:r>
            <a:r>
              <a:rPr lang="it" sz="1200" b="1" dirty="0">
                <a:solidFill>
                  <a:schemeClr val="dk1"/>
                </a:solidFill>
              </a:rPr>
              <a:t>):</a:t>
            </a:r>
            <a:r>
              <a:rPr lang="it" sz="1200" dirty="0">
                <a:solidFill>
                  <a:schemeClr val="dk1"/>
                </a:solidFill>
              </a:rPr>
              <a:t> Evita che la prova termini subito se il robot parte già vicino al traguardo. </a:t>
            </a:r>
            <a:endParaRPr sz="1200" dirty="0">
              <a:solidFill>
                <a:schemeClr val="dk1"/>
              </a:solidFill>
            </a:endParaRPr>
          </a:p>
          <a:p>
            <a:pPr marL="457200" lvl="0" indent="-3048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lang="it" sz="1200" b="1" dirty="0">
                <a:solidFill>
                  <a:schemeClr val="dk1"/>
                </a:solidFill>
              </a:rPr>
              <a:t>Numero Massimo di Passi:</a:t>
            </a:r>
            <a:r>
              <a:rPr lang="it" sz="1200" dirty="0">
                <a:solidFill>
                  <a:schemeClr val="dk1"/>
                </a:solidFill>
              </a:rPr>
              <a:t> 7000 iterazioni per limitare il tempo di simulazione ed evitare loop infiniti. </a:t>
            </a:r>
            <a:endParaRPr sz="1200" dirty="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0" name="Google Shape;130;p20" title="Logo_unifi.jp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442250" cy="476400"/>
          </a:xfrm>
          <a:prstGeom prst="rect">
            <a:avLst/>
          </a:prstGeom>
          <a:noFill/>
          <a:ln>
            <a:noFill/>
          </a:ln>
        </p:spPr>
      </p:pic>
      <p:sp>
        <p:nvSpPr>
          <p:cNvPr id="131" name="Google Shape;131;p20"/>
          <p:cNvSpPr txBox="1">
            <a:spLocks noGrp="1"/>
          </p:cNvSpPr>
          <p:nvPr>
            <p:ph type="title"/>
          </p:nvPr>
        </p:nvSpPr>
        <p:spPr>
          <a:xfrm>
            <a:off x="565200" y="0"/>
            <a:ext cx="8286000" cy="47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1270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sz="2400" b="1">
                <a:solidFill>
                  <a:srgbClr val="00407F"/>
                </a:solidFill>
                <a:latin typeface="Calibri"/>
                <a:ea typeface="Calibri"/>
                <a:cs typeface="Calibri"/>
                <a:sym typeface="Calibri"/>
              </a:rPr>
              <a:t>Percorsi predefiniti</a:t>
            </a:r>
            <a:endParaRPr sz="2700" b="1"/>
          </a:p>
        </p:txBody>
      </p:sp>
      <p:sp>
        <p:nvSpPr>
          <p:cNvPr id="132" name="Google Shape;132;p20"/>
          <p:cNvSpPr txBox="1"/>
          <p:nvPr/>
        </p:nvSpPr>
        <p:spPr>
          <a:xfrm>
            <a:off x="5110625" y="3879925"/>
            <a:ext cx="1902300" cy="109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2"/>
              </a:solidFill>
            </a:endParaRPr>
          </a:p>
        </p:txBody>
      </p:sp>
      <p:sp>
        <p:nvSpPr>
          <p:cNvPr id="133" name="Google Shape;133;p20"/>
          <p:cNvSpPr txBox="1"/>
          <p:nvPr/>
        </p:nvSpPr>
        <p:spPr>
          <a:xfrm>
            <a:off x="62513" y="533763"/>
            <a:ext cx="3388200" cy="176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111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Char char="●"/>
            </a:pPr>
            <a:r>
              <a:rPr lang="it" sz="1300" dirty="0">
                <a:solidFill>
                  <a:schemeClr val="dk1"/>
                </a:solidFill>
              </a:rPr>
              <a:t>Valutazione dell'algoritmo su </a:t>
            </a:r>
            <a:r>
              <a:rPr lang="it" sz="1300" b="1" dirty="0">
                <a:solidFill>
                  <a:schemeClr val="dk1"/>
                </a:solidFill>
              </a:rPr>
              <a:t>12 percorsi predefiniti</a:t>
            </a:r>
            <a:r>
              <a:rPr lang="it" sz="1300" dirty="0">
                <a:solidFill>
                  <a:schemeClr val="dk1"/>
                </a:solidFill>
              </a:rPr>
              <a:t> differenti per geometria e complessità. </a:t>
            </a:r>
            <a:endParaRPr sz="1300"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sz="1300" dirty="0">
                <a:solidFill>
                  <a:srgbClr val="1F1F1F"/>
                </a:solidFill>
                <a:highlight>
                  <a:srgbClr val="FDFCFC"/>
                </a:highlight>
              </a:rPr>
              <a:t>Percorsi di test</a:t>
            </a:r>
            <a:endParaRPr sz="1300" dirty="0">
              <a:solidFill>
                <a:srgbClr val="1F1F1F"/>
              </a:solidFill>
              <a:highlight>
                <a:srgbClr val="FDFCFC"/>
              </a:highlight>
            </a:endParaRPr>
          </a:p>
          <a:p>
            <a:pPr marL="457200" lvl="0" indent="-311150" algn="l" rtl="0"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300"/>
              <a:buChar char="●"/>
            </a:pPr>
            <a:r>
              <a:rPr lang="it" sz="1300" b="1" dirty="0">
                <a:solidFill>
                  <a:srgbClr val="1F1F1F"/>
                </a:solidFill>
                <a:highlight>
                  <a:srgbClr val="FDFCFC"/>
                </a:highlight>
              </a:rPr>
              <a:t>percorsi standard</a:t>
            </a:r>
            <a:r>
              <a:rPr lang="it" sz="1300" dirty="0">
                <a:solidFill>
                  <a:srgbClr val="1F1F1F"/>
                </a:solidFill>
                <a:highlight>
                  <a:srgbClr val="FDFCFC"/>
                </a:highlight>
              </a:rPr>
              <a:t> (rettilinei, circonferenze, traiettorie ad otto e slalom)</a:t>
            </a:r>
            <a:endParaRPr sz="1300" dirty="0">
              <a:solidFill>
                <a:srgbClr val="1F1F1F"/>
              </a:solidFill>
              <a:highlight>
                <a:srgbClr val="FDFCFC"/>
              </a:highlight>
            </a:endParaRPr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it" sz="1300" b="1" dirty="0">
                <a:solidFill>
                  <a:srgbClr val="1F1F1F"/>
                </a:solidFill>
                <a:highlight>
                  <a:srgbClr val="FDFCFC"/>
                </a:highlight>
              </a:rPr>
              <a:t>percorsi complessi</a:t>
            </a:r>
            <a:r>
              <a:rPr lang="it" sz="1300" dirty="0">
                <a:solidFill>
                  <a:srgbClr val="1F1F1F"/>
                </a:solidFill>
                <a:highlight>
                  <a:srgbClr val="FDFCFC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it" sz="1300" dirty="0">
                <a:solidFill>
                  <a:srgbClr val="1F1F1F"/>
                </a:solidFill>
                <a:highlight>
                  <a:srgbClr val="FDFCFC"/>
                </a:highlight>
              </a:rPr>
              <a:t>(scenari</a:t>
            </a:r>
            <a:r>
              <a:rPr lang="it" sz="1300" dirty="0">
                <a:solidFill>
                  <a:srgbClr val="1F1F1F"/>
                </a:solidFill>
                <a:highlight>
                  <a:srgbClr val="FDFCFC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it" sz="1300" dirty="0">
                <a:solidFill>
                  <a:srgbClr val="1F1F1F"/>
                </a:solidFill>
                <a:highlight>
                  <a:srgbClr val="FDFCFC"/>
                </a:highlight>
              </a:rPr>
              <a:t>critici)</a:t>
            </a:r>
            <a:r>
              <a:rPr lang="it" sz="1100" dirty="0">
                <a:solidFill>
                  <a:schemeClr val="dk1"/>
                </a:solidFill>
              </a:rPr>
              <a:t> </a:t>
            </a:r>
            <a:endParaRPr sz="1300" dirty="0">
              <a:solidFill>
                <a:schemeClr val="dk1"/>
              </a:solidFill>
            </a:endParaRPr>
          </a:p>
          <a:p>
            <a:pPr marL="45720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00" dirty="0">
              <a:solidFill>
                <a:schemeClr val="dk1"/>
              </a:solidFill>
            </a:endParaRPr>
          </a:p>
          <a:p>
            <a:pPr marL="45720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00" dirty="0">
              <a:solidFill>
                <a:schemeClr val="dk1"/>
              </a:solidFill>
            </a:endParaRPr>
          </a:p>
        </p:txBody>
      </p:sp>
      <p:pic>
        <p:nvPicPr>
          <p:cNvPr id="134" name="Google Shape;134;p20" title="path_straight_long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675263" y="263675"/>
            <a:ext cx="2642100" cy="1591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35" name="Google Shape;135;p20" title="path_circle_medium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179675" y="3539035"/>
            <a:ext cx="1378026" cy="145338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6" name="Google Shape;136;p20" title="path_eight.pn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6699938" y="389677"/>
            <a:ext cx="2151251" cy="17628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7" name="Google Shape;137;p20" title="path_pista_2.png"/>
          <p:cNvPicPr preferRelativeResize="0"/>
          <p:nvPr/>
        </p:nvPicPr>
        <p:blipFill rotWithShape="1">
          <a:blip r:embed="rId7">
            <a:alphaModFix/>
          </a:blip>
          <a:srcRect l="121224" t="107411" r="-128636" b="-114823"/>
          <a:stretch/>
        </p:blipFill>
        <p:spPr>
          <a:xfrm>
            <a:off x="6291588" y="3351500"/>
            <a:ext cx="2559625" cy="16204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8" name="Google Shape;138;p20" title="path_tight_slalom.png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6659400" y="1717139"/>
            <a:ext cx="2232350" cy="1448363"/>
          </a:xfrm>
          <a:prstGeom prst="rect">
            <a:avLst/>
          </a:prstGeom>
          <a:noFill/>
          <a:ln>
            <a:noFill/>
          </a:ln>
        </p:spPr>
      </p:pic>
      <p:pic>
        <p:nvPicPr>
          <p:cNvPr id="139" name="Google Shape;139;p20" title="path_square.png"/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2984287" y="3286200"/>
            <a:ext cx="1587750" cy="1751026"/>
          </a:xfrm>
          <a:prstGeom prst="rect">
            <a:avLst/>
          </a:prstGeom>
          <a:noFill/>
          <a:ln>
            <a:noFill/>
          </a:ln>
        </p:spPr>
      </p:pic>
      <p:pic>
        <p:nvPicPr>
          <p:cNvPr id="140" name="Google Shape;140;p20" title="path_pista_2.png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3772101" y="1666300"/>
            <a:ext cx="2448428" cy="15500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1" name="Google Shape;141;p20" title="path_contapassi.png"/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4998600" y="3490688"/>
            <a:ext cx="1587750" cy="1550066"/>
          </a:xfrm>
          <a:prstGeom prst="rect">
            <a:avLst/>
          </a:prstGeom>
          <a:noFill/>
          <a:ln>
            <a:noFill/>
          </a:ln>
        </p:spPr>
      </p:pic>
      <p:pic>
        <p:nvPicPr>
          <p:cNvPr id="142" name="Google Shape;142;p20" title="path_pista_3.png"/>
          <p:cNvPicPr preferRelativeResize="0"/>
          <p:nvPr/>
        </p:nvPicPr>
        <p:blipFill>
          <a:blip r:embed="rId11">
            <a:alphaModFix/>
          </a:blip>
          <a:stretch>
            <a:fillRect/>
          </a:stretch>
        </p:blipFill>
        <p:spPr>
          <a:xfrm>
            <a:off x="7012924" y="3470149"/>
            <a:ext cx="1999126" cy="15911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20" title="path_wide_slalom.png"/>
          <p:cNvPicPr preferRelativeResize="0"/>
          <p:nvPr/>
        </p:nvPicPr>
        <p:blipFill>
          <a:blip r:embed="rId12">
            <a:alphaModFix/>
          </a:blip>
          <a:stretch>
            <a:fillRect/>
          </a:stretch>
        </p:blipFill>
        <p:spPr>
          <a:xfrm>
            <a:off x="770875" y="2296575"/>
            <a:ext cx="1587751" cy="123800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8" name="Google Shape;148;p21" title="Logo_unifi.jp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442250" cy="476400"/>
          </a:xfrm>
          <a:prstGeom prst="rect">
            <a:avLst/>
          </a:prstGeom>
          <a:noFill/>
          <a:ln>
            <a:noFill/>
          </a:ln>
        </p:spPr>
      </p:pic>
      <p:sp>
        <p:nvSpPr>
          <p:cNvPr id="149" name="Google Shape;149;p21"/>
          <p:cNvSpPr txBox="1">
            <a:spLocks noGrp="1"/>
          </p:cNvSpPr>
          <p:nvPr>
            <p:ph type="title"/>
          </p:nvPr>
        </p:nvSpPr>
        <p:spPr>
          <a:xfrm>
            <a:off x="565200" y="0"/>
            <a:ext cx="8286000" cy="47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1270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sz="2400" b="1">
                <a:solidFill>
                  <a:srgbClr val="00407F"/>
                </a:solidFill>
                <a:latin typeface="Calibri"/>
                <a:ea typeface="Calibri"/>
                <a:cs typeface="Calibri"/>
                <a:sym typeface="Calibri"/>
              </a:rPr>
              <a:t>Percorsi predefiniti tipologie ambienti</a:t>
            </a:r>
            <a:endParaRPr sz="2700" b="1"/>
          </a:p>
        </p:txBody>
      </p:sp>
      <p:sp>
        <p:nvSpPr>
          <p:cNvPr id="150" name="Google Shape;150;p21"/>
          <p:cNvSpPr txBox="1"/>
          <p:nvPr/>
        </p:nvSpPr>
        <p:spPr>
          <a:xfrm>
            <a:off x="5110625" y="3879925"/>
            <a:ext cx="1902300" cy="109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2"/>
              </a:solidFill>
            </a:endParaRPr>
          </a:p>
        </p:txBody>
      </p:sp>
      <p:sp>
        <p:nvSpPr>
          <p:cNvPr id="151" name="Google Shape;151;p21"/>
          <p:cNvSpPr txBox="1"/>
          <p:nvPr/>
        </p:nvSpPr>
        <p:spPr>
          <a:xfrm>
            <a:off x="166750" y="662325"/>
            <a:ext cx="2642100" cy="287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sz="1300" b="1">
                <a:solidFill>
                  <a:schemeClr val="dk1"/>
                </a:solidFill>
              </a:rPr>
              <a:t>3 configurazioni</a:t>
            </a:r>
            <a:r>
              <a:rPr lang="it" sz="1300">
                <a:solidFill>
                  <a:schemeClr val="dk1"/>
                </a:solidFill>
              </a:rPr>
              <a:t> di ostacoli </a:t>
            </a:r>
            <a:endParaRPr sz="1300">
              <a:solidFill>
                <a:schemeClr val="dk1"/>
              </a:solidFill>
            </a:endParaRPr>
          </a:p>
          <a:p>
            <a:pPr marL="457200" lvl="0" indent="-3111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Char char="●"/>
            </a:pPr>
            <a:r>
              <a:rPr lang="it" sz="1300">
                <a:solidFill>
                  <a:schemeClr val="dk1"/>
                </a:solidFill>
              </a:rPr>
              <a:t>Tipo 1: Nessun Ostacolo</a:t>
            </a:r>
            <a:endParaRPr sz="1300">
              <a:solidFill>
                <a:schemeClr val="dk1"/>
              </a:solidFill>
            </a:endParaRPr>
          </a:p>
          <a:p>
            <a:pPr marL="457200" lvl="0" indent="-3111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Char char="●"/>
            </a:pPr>
            <a:r>
              <a:rPr lang="it" sz="1300">
                <a:solidFill>
                  <a:schemeClr val="dk1"/>
                </a:solidFill>
              </a:rPr>
              <a:t>Tipo 2: Pochi Ostacoli</a:t>
            </a:r>
            <a:endParaRPr sz="1300">
              <a:solidFill>
                <a:schemeClr val="dk1"/>
              </a:solidFill>
            </a:endParaRPr>
          </a:p>
          <a:p>
            <a:pPr marL="457200" lvl="0" indent="-3111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Char char="●"/>
            </a:pPr>
            <a:r>
              <a:rPr lang="it" sz="1300">
                <a:solidFill>
                  <a:schemeClr val="dk1"/>
                </a:solidFill>
              </a:rPr>
              <a:t>Tipo 3: Molti Ostacoli</a:t>
            </a:r>
            <a:endParaRPr sz="130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0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sz="1300" b="1">
                <a:solidFill>
                  <a:schemeClr val="dk1"/>
                </a:solidFill>
              </a:rPr>
              <a:t>Clearance:</a:t>
            </a:r>
            <a:r>
              <a:rPr lang="it" sz="1300">
                <a:solidFill>
                  <a:schemeClr val="dk1"/>
                </a:solidFill>
              </a:rPr>
              <a:t> Distanza minima tra l'ostacolo e il percorso pianificato. </a:t>
            </a:r>
            <a:endParaRPr sz="130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sz="1300" b="1">
                <a:solidFill>
                  <a:schemeClr val="dk1"/>
                </a:solidFill>
              </a:rPr>
              <a:t>Tipologie di Ostacoli:</a:t>
            </a:r>
            <a:r>
              <a:rPr lang="it" sz="1300">
                <a:solidFill>
                  <a:schemeClr val="dk1"/>
                </a:solidFill>
              </a:rPr>
              <a:t> circolari, rettangolari, poligonal</a:t>
            </a:r>
            <a:r>
              <a:rPr lang="it">
                <a:solidFill>
                  <a:schemeClr val="dk1"/>
                </a:solidFill>
              </a:rPr>
              <a:t>i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sz="1300">
                <a:solidFill>
                  <a:schemeClr val="dk1"/>
                </a:solidFill>
              </a:rPr>
              <a:t>L’</a:t>
            </a:r>
            <a:r>
              <a:rPr lang="it" sz="1300" b="1">
                <a:solidFill>
                  <a:schemeClr val="dk1"/>
                </a:solidFill>
              </a:rPr>
              <a:t>ampiezza massima</a:t>
            </a:r>
            <a:r>
              <a:rPr lang="it" sz="1300">
                <a:solidFill>
                  <a:schemeClr val="dk1"/>
                </a:solidFill>
              </a:rPr>
              <a:t> del raggio LiDAR (r_max) varia in base all'ambiente. </a:t>
            </a:r>
            <a:endParaRPr sz="1300">
              <a:solidFill>
                <a:schemeClr val="dk1"/>
              </a:solidFill>
            </a:endParaRPr>
          </a:p>
        </p:txBody>
      </p:sp>
      <p:pic>
        <p:nvPicPr>
          <p:cNvPr id="152" name="Google Shape;152;p21" title="path_straight_short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42875" y="3307150"/>
            <a:ext cx="2553675" cy="1703804"/>
          </a:xfrm>
          <a:prstGeom prst="rect">
            <a:avLst/>
          </a:prstGeom>
          <a:noFill/>
          <a:ln>
            <a:noFill/>
          </a:ln>
        </p:spPr>
      </p:pic>
      <p:pic>
        <p:nvPicPr>
          <p:cNvPr id="153" name="Google Shape;153;p21" title="path_straight_short_2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387038" y="3317187"/>
            <a:ext cx="2553676" cy="168372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4" name="Google Shape;154;p21" title="path_straight_short_3.pn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6531225" y="3324513"/>
            <a:ext cx="2553676" cy="166906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5" name="Google Shape;155;p21" title="path_circle_large.png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2732750" y="600675"/>
            <a:ext cx="1902300" cy="1962134"/>
          </a:xfrm>
          <a:prstGeom prst="rect">
            <a:avLst/>
          </a:prstGeom>
          <a:noFill/>
          <a:ln>
            <a:noFill/>
          </a:ln>
        </p:spPr>
      </p:pic>
      <p:pic>
        <p:nvPicPr>
          <p:cNvPr id="156" name="Google Shape;156;p21" title="path_circle_large_2.png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4957675" y="585788"/>
            <a:ext cx="1902300" cy="1991899"/>
          </a:xfrm>
          <a:prstGeom prst="rect">
            <a:avLst/>
          </a:prstGeom>
          <a:noFill/>
          <a:ln>
            <a:noFill/>
          </a:ln>
        </p:spPr>
      </p:pic>
      <p:pic>
        <p:nvPicPr>
          <p:cNvPr id="157" name="Google Shape;157;p21" title="path_circle_large_3.png"/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7182600" y="539637"/>
            <a:ext cx="1902300" cy="208420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2" name="Google Shape;162;p22" title="Logo_unifi.jp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442250" cy="4764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2"/>
          <p:cNvSpPr txBox="1">
            <a:spLocks noGrp="1"/>
          </p:cNvSpPr>
          <p:nvPr>
            <p:ph type="title"/>
          </p:nvPr>
        </p:nvSpPr>
        <p:spPr>
          <a:xfrm>
            <a:off x="565200" y="0"/>
            <a:ext cx="8286000" cy="47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1270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sz="2400" b="1">
                <a:solidFill>
                  <a:srgbClr val="00407F"/>
                </a:solidFill>
                <a:latin typeface="Calibri"/>
                <a:ea typeface="Calibri"/>
                <a:cs typeface="Calibri"/>
                <a:sym typeface="Calibri"/>
              </a:rPr>
              <a:t>Tipologie di esperimenti effetuati </a:t>
            </a:r>
            <a:endParaRPr sz="2700" b="1"/>
          </a:p>
        </p:txBody>
      </p:sp>
      <p:sp>
        <p:nvSpPr>
          <p:cNvPr id="164" name="Google Shape;164;p22"/>
          <p:cNvSpPr txBox="1"/>
          <p:nvPr/>
        </p:nvSpPr>
        <p:spPr>
          <a:xfrm>
            <a:off x="5110625" y="3879925"/>
            <a:ext cx="1902300" cy="109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2"/>
              </a:solidFill>
            </a:endParaRPr>
          </a:p>
        </p:txBody>
      </p:sp>
      <p:sp>
        <p:nvSpPr>
          <p:cNvPr id="165" name="Google Shape;165;p22"/>
          <p:cNvSpPr txBox="1"/>
          <p:nvPr/>
        </p:nvSpPr>
        <p:spPr>
          <a:xfrm>
            <a:off x="442250" y="575550"/>
            <a:ext cx="3400200" cy="199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sz="1300" dirty="0">
                <a:solidFill>
                  <a:srgbClr val="3D85C6"/>
                </a:solidFill>
              </a:rPr>
              <a:t>Parametri di Configurazione:</a:t>
            </a:r>
            <a:endParaRPr sz="1300" dirty="0">
              <a:solidFill>
                <a:srgbClr val="3D85C6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sz="1300" b="1" dirty="0">
                <a:solidFill>
                  <a:schemeClr val="dk1"/>
                </a:solidFill>
              </a:rPr>
              <a:t>Modello Odometrico:</a:t>
            </a:r>
            <a:r>
              <a:rPr lang="it" sz="1300" dirty="0">
                <a:solidFill>
                  <a:schemeClr val="dk1"/>
                </a:solidFill>
              </a:rPr>
              <a:t> Confronto tra odometria </a:t>
            </a:r>
            <a:r>
              <a:rPr lang="it" sz="1300" b="1" dirty="0">
                <a:solidFill>
                  <a:schemeClr val="dk1"/>
                </a:solidFill>
              </a:rPr>
              <a:t>ideale</a:t>
            </a:r>
            <a:r>
              <a:rPr lang="it" sz="1300" dirty="0">
                <a:solidFill>
                  <a:schemeClr val="dk1"/>
                </a:solidFill>
              </a:rPr>
              <a:t> (senza errore) e </a:t>
            </a:r>
            <a:r>
              <a:rPr lang="it" sz="1300" b="1" dirty="0">
                <a:solidFill>
                  <a:schemeClr val="dk1"/>
                </a:solidFill>
              </a:rPr>
              <a:t>rumorosa</a:t>
            </a:r>
            <a:r>
              <a:rPr lang="it" sz="1300" dirty="0">
                <a:solidFill>
                  <a:schemeClr val="dk1"/>
                </a:solidFill>
              </a:rPr>
              <a:t> (con rumore di misura). </a:t>
            </a:r>
            <a:endParaRPr sz="1300"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sz="1300" b="1" dirty="0">
                <a:solidFill>
                  <a:schemeClr val="dk1"/>
                </a:solidFill>
              </a:rPr>
              <a:t>Utilizzo Loop Closure:</a:t>
            </a:r>
            <a:r>
              <a:rPr lang="it" sz="1300" dirty="0">
                <a:solidFill>
                  <a:schemeClr val="dk1"/>
                </a:solidFill>
              </a:rPr>
              <a:t> Valutazione delle prestazioni con e senza </a:t>
            </a:r>
            <a:r>
              <a:rPr lang="it" sz="1300" b="1" dirty="0">
                <a:solidFill>
                  <a:schemeClr val="dk1"/>
                </a:solidFill>
              </a:rPr>
              <a:t>Loop Closure</a:t>
            </a:r>
            <a:r>
              <a:rPr lang="it" sz="1300" dirty="0">
                <a:solidFill>
                  <a:schemeClr val="dk1"/>
                </a:solidFill>
              </a:rPr>
              <a:t>. </a:t>
            </a:r>
            <a:endParaRPr sz="1300"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sz="1300" b="1" dirty="0">
                <a:solidFill>
                  <a:schemeClr val="dk1"/>
                </a:solidFill>
              </a:rPr>
              <a:t>Distanza di Look-Ahead (L</a:t>
            </a:r>
            <a:r>
              <a:rPr lang="it" sz="1000" b="1" dirty="0">
                <a:solidFill>
                  <a:schemeClr val="dk1"/>
                </a:solidFill>
              </a:rPr>
              <a:t>d</a:t>
            </a:r>
            <a:r>
              <a:rPr lang="it" sz="1300" b="1" dirty="0">
                <a:solidFill>
                  <a:schemeClr val="dk1"/>
                </a:solidFill>
              </a:rPr>
              <a:t>):</a:t>
            </a:r>
            <a:r>
              <a:rPr lang="it" sz="1300" dirty="0">
                <a:solidFill>
                  <a:schemeClr val="dk1"/>
                </a:solidFill>
              </a:rPr>
              <a:t> Analisi parametrica impostata su tre valori: </a:t>
            </a:r>
            <a:r>
              <a:rPr lang="it" sz="1300" b="1" dirty="0">
                <a:solidFill>
                  <a:schemeClr val="dk1"/>
                </a:solidFill>
              </a:rPr>
              <a:t>0,2 m</a:t>
            </a:r>
            <a:r>
              <a:rPr lang="it" sz="1300" dirty="0">
                <a:solidFill>
                  <a:schemeClr val="dk1"/>
                </a:solidFill>
              </a:rPr>
              <a:t>, </a:t>
            </a:r>
            <a:r>
              <a:rPr lang="it" sz="1300" b="1" dirty="0">
                <a:solidFill>
                  <a:schemeClr val="dk1"/>
                </a:solidFill>
              </a:rPr>
              <a:t>0,4 m</a:t>
            </a:r>
            <a:r>
              <a:rPr lang="it" sz="1300" dirty="0">
                <a:solidFill>
                  <a:schemeClr val="dk1"/>
                </a:solidFill>
              </a:rPr>
              <a:t> e </a:t>
            </a:r>
            <a:r>
              <a:rPr lang="it" sz="1300" b="1" dirty="0">
                <a:solidFill>
                  <a:schemeClr val="dk1"/>
                </a:solidFill>
              </a:rPr>
              <a:t>0,6 m</a:t>
            </a:r>
            <a:r>
              <a:rPr lang="it" sz="1300" dirty="0">
                <a:solidFill>
                  <a:schemeClr val="dk1"/>
                </a:solidFill>
              </a:rPr>
              <a:t>. </a:t>
            </a:r>
            <a:endParaRPr sz="1300"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00" dirty="0">
              <a:solidFill>
                <a:schemeClr val="dk1"/>
              </a:solidFill>
            </a:endParaRPr>
          </a:p>
        </p:txBody>
      </p:sp>
      <p:pic>
        <p:nvPicPr>
          <p:cNvPr id="166" name="Google Shape;166;p22" title="straight_long_type1_ld0.2_1_Odometria_Ideale_No_LC_completa_1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000550" y="575551"/>
            <a:ext cx="2619135" cy="2095351"/>
          </a:xfrm>
          <a:prstGeom prst="rect">
            <a:avLst/>
          </a:prstGeom>
          <a:noFill/>
          <a:ln>
            <a:noFill/>
          </a:ln>
        </p:spPr>
      </p:pic>
      <p:pic>
        <p:nvPicPr>
          <p:cNvPr id="167" name="Google Shape;167;p22" title="straight_long_type1_ld0.2_4_Odometria_Rumorosa_Con_LC_completa_1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6529925" y="575551"/>
            <a:ext cx="2619126" cy="2095289"/>
          </a:xfrm>
          <a:prstGeom prst="rect">
            <a:avLst/>
          </a:prstGeom>
          <a:noFill/>
          <a:ln>
            <a:noFill/>
          </a:ln>
        </p:spPr>
      </p:pic>
      <p:sp>
        <p:nvSpPr>
          <p:cNvPr id="168" name="Google Shape;168;p22"/>
          <p:cNvSpPr txBox="1"/>
          <p:nvPr/>
        </p:nvSpPr>
        <p:spPr>
          <a:xfrm>
            <a:off x="442250" y="2670902"/>
            <a:ext cx="4591500" cy="225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sz="1300">
                <a:solidFill>
                  <a:srgbClr val="3D85C6"/>
                </a:solidFill>
              </a:rPr>
              <a:t>Metriche di valutazione: </a:t>
            </a:r>
            <a:endParaRPr sz="1300">
              <a:solidFill>
                <a:srgbClr val="3D85C6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00">
              <a:solidFill>
                <a:schemeClr val="dk2"/>
              </a:solidFill>
            </a:endParaRPr>
          </a:p>
          <a:p>
            <a:pPr marL="457200" lvl="0" indent="-3111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Char char="●"/>
            </a:pPr>
            <a:r>
              <a:rPr lang="it" sz="1300" b="1">
                <a:solidFill>
                  <a:schemeClr val="dk1"/>
                </a:solidFill>
              </a:rPr>
              <a:t>Errore medio:</a:t>
            </a:r>
            <a:r>
              <a:rPr lang="it" sz="1300">
                <a:solidFill>
                  <a:schemeClr val="dk1"/>
                </a:solidFill>
              </a:rPr>
              <a:t> media aritmetica degli scostamenti geometrici istantanei lungo il percorso. </a:t>
            </a:r>
            <a:endParaRPr sz="1300">
              <a:solidFill>
                <a:schemeClr val="dk1"/>
              </a:solidFill>
            </a:endParaRPr>
          </a:p>
          <a:p>
            <a:pPr marL="457200" lvl="0" indent="-3111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Char char="●"/>
            </a:pPr>
            <a:r>
              <a:rPr lang="it" sz="1300" b="1">
                <a:solidFill>
                  <a:schemeClr val="dk1"/>
                </a:solidFill>
              </a:rPr>
              <a:t>Errore cumulato totale:</a:t>
            </a:r>
            <a:r>
              <a:rPr lang="it" sz="1300">
                <a:solidFill>
                  <a:schemeClr val="dk1"/>
                </a:solidFill>
              </a:rPr>
              <a:t> somma complessiva delle deviazioni istantanee. </a:t>
            </a:r>
            <a:endParaRPr sz="1300">
              <a:solidFill>
                <a:schemeClr val="dk1"/>
              </a:solidFill>
            </a:endParaRPr>
          </a:p>
          <a:p>
            <a:pPr marL="457200" lvl="0" indent="-3111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Char char="●"/>
            </a:pPr>
            <a:r>
              <a:rPr lang="it" sz="1300" b="1">
                <a:solidFill>
                  <a:schemeClr val="dk1"/>
                </a:solidFill>
              </a:rPr>
              <a:t>Numero totale di passi di simulazione:</a:t>
            </a:r>
            <a:r>
              <a:rPr lang="it" sz="1300">
                <a:solidFill>
                  <a:schemeClr val="dk1"/>
                </a:solidFill>
              </a:rPr>
              <a:t> per valutare la durata della prova. </a:t>
            </a:r>
            <a:endParaRPr sz="1300">
              <a:solidFill>
                <a:schemeClr val="dk1"/>
              </a:solidFill>
            </a:endParaRPr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</a:pPr>
            <a:r>
              <a:rPr lang="it" sz="1300" b="1">
                <a:solidFill>
                  <a:schemeClr val="dk1"/>
                </a:solidFill>
              </a:rPr>
              <a:t>Profilo della traiettoria</a:t>
            </a:r>
            <a:r>
              <a:rPr lang="it" sz="1300">
                <a:solidFill>
                  <a:schemeClr val="dk1"/>
                </a:solidFill>
              </a:rPr>
              <a:t> effettivamente seguita dal veicolo. </a:t>
            </a:r>
            <a:br>
              <a:rPr lang="it">
                <a:solidFill>
                  <a:schemeClr val="dk2"/>
                </a:solidFill>
              </a:rPr>
            </a:br>
            <a:endParaRPr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br>
              <a:rPr lang="it" sz="1800">
                <a:solidFill>
                  <a:schemeClr val="dk2"/>
                </a:solidFill>
              </a:rPr>
            </a:br>
            <a:endParaRPr sz="1800">
              <a:solidFill>
                <a:schemeClr val="dk2"/>
              </a:solidFill>
            </a:endParaRPr>
          </a:p>
        </p:txBody>
      </p:sp>
      <p:pic>
        <p:nvPicPr>
          <p:cNvPr id="169" name="Google Shape;169;p22" title="straight_long_type1_ld0.2_riepilogo_media_1.pn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5110625" y="2721925"/>
            <a:ext cx="3940701" cy="236438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4" name="Google Shape;174;p23" title="Logo_unifi.jp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442250" cy="476400"/>
          </a:xfrm>
          <a:prstGeom prst="rect">
            <a:avLst/>
          </a:prstGeom>
          <a:noFill/>
          <a:ln>
            <a:noFill/>
          </a:ln>
        </p:spPr>
      </p:pic>
      <p:sp>
        <p:nvSpPr>
          <p:cNvPr id="175" name="Google Shape;175;p23"/>
          <p:cNvSpPr txBox="1">
            <a:spLocks noGrp="1"/>
          </p:cNvSpPr>
          <p:nvPr>
            <p:ph type="title"/>
          </p:nvPr>
        </p:nvSpPr>
        <p:spPr>
          <a:xfrm>
            <a:off x="565200" y="0"/>
            <a:ext cx="8286000" cy="47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1270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sz="2400" b="1">
                <a:solidFill>
                  <a:srgbClr val="00407F"/>
                </a:solidFill>
                <a:latin typeface="Calibri"/>
                <a:ea typeface="Calibri"/>
                <a:cs typeface="Calibri"/>
                <a:sym typeface="Calibri"/>
              </a:rPr>
              <a:t>Esperimento </a:t>
            </a:r>
            <a:r>
              <a:rPr lang="it" sz="2400" b="1" i="1">
                <a:solidFill>
                  <a:srgbClr val="00407F"/>
                </a:solidFill>
                <a:latin typeface="Calibri"/>
                <a:ea typeface="Calibri"/>
                <a:cs typeface="Calibri"/>
                <a:sym typeface="Calibri"/>
              </a:rPr>
              <a:t>contapassi</a:t>
            </a:r>
            <a:endParaRPr sz="2700" b="1" i="1"/>
          </a:p>
        </p:txBody>
      </p:sp>
      <p:sp>
        <p:nvSpPr>
          <p:cNvPr id="176" name="Google Shape;176;p23"/>
          <p:cNvSpPr txBox="1"/>
          <p:nvPr/>
        </p:nvSpPr>
        <p:spPr>
          <a:xfrm>
            <a:off x="5110625" y="3879925"/>
            <a:ext cx="1902300" cy="109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2"/>
              </a:solidFill>
            </a:endParaRPr>
          </a:p>
        </p:txBody>
      </p:sp>
      <p:pic>
        <p:nvPicPr>
          <p:cNvPr id="177" name="Google Shape;177;p23" title="contapassi_type1_ld0.2_riepilogo_media_2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545300" y="2999663"/>
            <a:ext cx="3287124" cy="1972274"/>
          </a:xfrm>
          <a:prstGeom prst="rect">
            <a:avLst/>
          </a:prstGeom>
          <a:noFill/>
          <a:ln>
            <a:noFill/>
          </a:ln>
        </p:spPr>
      </p:pic>
      <p:pic>
        <p:nvPicPr>
          <p:cNvPr id="178" name="Google Shape;178;p23" title="contapassi_type1_ld0.6_riepilogo_media_2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832425" y="2999663"/>
            <a:ext cx="3287124" cy="1972274"/>
          </a:xfrm>
          <a:prstGeom prst="rect">
            <a:avLst/>
          </a:prstGeom>
          <a:noFill/>
          <a:ln>
            <a:noFill/>
          </a:ln>
        </p:spPr>
      </p:pic>
      <p:pic>
        <p:nvPicPr>
          <p:cNvPr id="179" name="Google Shape;179;p23" title="contapassi_type1_0.2_ideale_no_loop_macchina.pn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4187439" y="194300"/>
            <a:ext cx="2192319" cy="2483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80" name="Google Shape;180;p23" title="contapassi_type1_0.6_ideale_no_loop_macchina_2_copia.png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6778758" y="194300"/>
            <a:ext cx="2192319" cy="2483400"/>
          </a:xfrm>
          <a:prstGeom prst="rect">
            <a:avLst/>
          </a:prstGeom>
          <a:noFill/>
          <a:ln>
            <a:noFill/>
          </a:ln>
        </p:spPr>
      </p:pic>
      <p:sp>
        <p:nvSpPr>
          <p:cNvPr id="181" name="Google Shape;181;p23"/>
          <p:cNvSpPr txBox="1"/>
          <p:nvPr/>
        </p:nvSpPr>
        <p:spPr>
          <a:xfrm>
            <a:off x="225350" y="476400"/>
            <a:ext cx="3863700" cy="228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sz="1200" dirty="0">
                <a:solidFill>
                  <a:schemeClr val="dk1"/>
                </a:solidFill>
              </a:rPr>
              <a:t>Analisi del comportamento del robot al variare della distanza di look-ahead. </a:t>
            </a:r>
            <a:br>
              <a:rPr lang="it" sz="1200" dirty="0">
                <a:solidFill>
                  <a:schemeClr val="dk1"/>
                </a:solidFill>
              </a:rPr>
            </a:br>
            <a:r>
              <a:rPr lang="it" sz="1200" dirty="0">
                <a:solidFill>
                  <a:schemeClr val="dk1"/>
                </a:solidFill>
              </a:rPr>
              <a:t>All'</a:t>
            </a:r>
            <a:r>
              <a:rPr lang="it" sz="1200" b="1" dirty="0">
                <a:solidFill>
                  <a:schemeClr val="dk1"/>
                </a:solidFill>
              </a:rPr>
              <a:t>aumentare</a:t>
            </a:r>
            <a:r>
              <a:rPr lang="it" sz="1200" dirty="0">
                <a:solidFill>
                  <a:schemeClr val="dk1"/>
                </a:solidFill>
              </a:rPr>
              <a:t> della distanza di </a:t>
            </a:r>
            <a:r>
              <a:rPr lang="it" sz="1200" b="1" dirty="0">
                <a:solidFill>
                  <a:schemeClr val="dk1"/>
                </a:solidFill>
              </a:rPr>
              <a:t>look-ahead</a:t>
            </a:r>
            <a:r>
              <a:rPr lang="it" sz="1200" dirty="0">
                <a:solidFill>
                  <a:schemeClr val="dk1"/>
                </a:solidFill>
              </a:rPr>
              <a:t>: </a:t>
            </a:r>
            <a:br>
              <a:rPr lang="it" sz="1200" dirty="0">
                <a:solidFill>
                  <a:schemeClr val="dk1"/>
                </a:solidFill>
              </a:rPr>
            </a:br>
            <a:endParaRPr sz="1200" dirty="0">
              <a:solidFill>
                <a:schemeClr val="dk1"/>
              </a:solidFill>
            </a:endParaRPr>
          </a:p>
          <a:p>
            <a:pPr marL="457200" lvl="0" indent="-3048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lang="it" sz="1200" b="1" dirty="0">
                <a:solidFill>
                  <a:schemeClr val="dk1"/>
                </a:solidFill>
              </a:rPr>
              <a:t>Anticipo/taglio</a:t>
            </a:r>
            <a:r>
              <a:rPr lang="it" sz="1200" dirty="0">
                <a:solidFill>
                  <a:schemeClr val="dk1"/>
                </a:solidFill>
              </a:rPr>
              <a:t> delle curve. </a:t>
            </a:r>
            <a:endParaRPr sz="1200" dirty="0">
              <a:solidFill>
                <a:schemeClr val="dk1"/>
              </a:solidFill>
            </a:endParaRPr>
          </a:p>
          <a:p>
            <a:pPr marL="457200" lvl="0" indent="-3048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lang="it" sz="1200" b="1" dirty="0">
                <a:solidFill>
                  <a:schemeClr val="dk1"/>
                </a:solidFill>
              </a:rPr>
              <a:t>Riduzione</a:t>
            </a:r>
            <a:r>
              <a:rPr lang="it" sz="1200" dirty="0">
                <a:solidFill>
                  <a:schemeClr val="dk1"/>
                </a:solidFill>
              </a:rPr>
              <a:t> del numero di </a:t>
            </a:r>
            <a:r>
              <a:rPr lang="it" sz="1200" b="1" dirty="0">
                <a:solidFill>
                  <a:schemeClr val="dk1"/>
                </a:solidFill>
              </a:rPr>
              <a:t>passi</a:t>
            </a:r>
            <a:r>
              <a:rPr lang="it" sz="1200" dirty="0">
                <a:solidFill>
                  <a:schemeClr val="dk1"/>
                </a:solidFill>
              </a:rPr>
              <a:t> necessari per completare il percorso. </a:t>
            </a:r>
            <a:endParaRPr sz="1200" dirty="0">
              <a:solidFill>
                <a:schemeClr val="dk1"/>
              </a:solidFill>
            </a:endParaRPr>
          </a:p>
          <a:p>
            <a:pPr marL="457200" lvl="0" indent="-3048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lang="it" sz="1200" b="1" dirty="0">
                <a:solidFill>
                  <a:schemeClr val="dk1"/>
                </a:solidFill>
              </a:rPr>
              <a:t>Incremento dell'errore</a:t>
            </a:r>
            <a:r>
              <a:rPr lang="it" sz="1200" dirty="0">
                <a:solidFill>
                  <a:schemeClr val="dk1"/>
                </a:solidFill>
              </a:rPr>
              <a:t> medio di inseguimento. </a:t>
            </a:r>
            <a:endParaRPr sz="1200"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sz="1200" dirty="0">
                <a:solidFill>
                  <a:schemeClr val="dk1"/>
                </a:solidFill>
              </a:rPr>
              <a:t>In caso di odometria ideale, nei tratti rettilinei il comportamento rimane invariato. </a:t>
            </a:r>
            <a:endParaRPr sz="1200"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00" dirty="0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6" name="Google Shape;186;p24" title="Logo_unifi.jp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442250" cy="476400"/>
          </a:xfrm>
          <a:prstGeom prst="rect">
            <a:avLst/>
          </a:prstGeom>
          <a:noFill/>
          <a:ln>
            <a:noFill/>
          </a:ln>
        </p:spPr>
      </p:pic>
      <p:sp>
        <p:nvSpPr>
          <p:cNvPr id="187" name="Google Shape;187;p24"/>
          <p:cNvSpPr txBox="1">
            <a:spLocks noGrp="1"/>
          </p:cNvSpPr>
          <p:nvPr>
            <p:ph type="title"/>
          </p:nvPr>
        </p:nvSpPr>
        <p:spPr>
          <a:xfrm>
            <a:off x="565200" y="0"/>
            <a:ext cx="8286000" cy="47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1270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sz="2400" b="1">
                <a:solidFill>
                  <a:srgbClr val="00407F"/>
                </a:solidFill>
                <a:latin typeface="Calibri"/>
                <a:ea typeface="Calibri"/>
                <a:cs typeface="Calibri"/>
                <a:sym typeface="Calibri"/>
              </a:rPr>
              <a:t>Esperimento </a:t>
            </a:r>
            <a:r>
              <a:rPr lang="it" sz="2400" b="1" i="1">
                <a:solidFill>
                  <a:srgbClr val="00407F"/>
                </a:solidFill>
                <a:latin typeface="Calibri"/>
                <a:ea typeface="Calibri"/>
                <a:cs typeface="Calibri"/>
                <a:sym typeface="Calibri"/>
              </a:rPr>
              <a:t>pista3 (due giri)</a:t>
            </a:r>
            <a:endParaRPr sz="2700" b="1" i="1"/>
          </a:p>
        </p:txBody>
      </p:sp>
      <p:sp>
        <p:nvSpPr>
          <p:cNvPr id="188" name="Google Shape;188;p24"/>
          <p:cNvSpPr txBox="1"/>
          <p:nvPr/>
        </p:nvSpPr>
        <p:spPr>
          <a:xfrm>
            <a:off x="5110625" y="3879925"/>
            <a:ext cx="1902300" cy="109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2"/>
              </a:solidFill>
            </a:endParaRPr>
          </a:p>
        </p:txBody>
      </p:sp>
      <p:sp>
        <p:nvSpPr>
          <p:cNvPr id="189" name="Google Shape;189;p24"/>
          <p:cNvSpPr txBox="1"/>
          <p:nvPr/>
        </p:nvSpPr>
        <p:spPr>
          <a:xfrm>
            <a:off x="129475" y="568400"/>
            <a:ext cx="3337200" cy="450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" sz="1300" dirty="0">
                <a:solidFill>
                  <a:schemeClr val="dk1"/>
                </a:solidFill>
              </a:rPr>
              <a:t>Vengono compiuti </a:t>
            </a:r>
            <a:r>
              <a:rPr lang="it" sz="1300" b="1" dirty="0">
                <a:solidFill>
                  <a:schemeClr val="dk1"/>
                </a:solidFill>
              </a:rPr>
              <a:t>due giri </a:t>
            </a:r>
            <a:r>
              <a:rPr lang="it" sz="1300" dirty="0">
                <a:solidFill>
                  <a:schemeClr val="dk1"/>
                </a:solidFill>
              </a:rPr>
              <a:t>per valutare l'efficacia dei meccanismi di Loop Closure. </a:t>
            </a:r>
            <a:br>
              <a:rPr lang="it" sz="1300" dirty="0">
                <a:solidFill>
                  <a:schemeClr val="dk1"/>
                </a:solidFill>
              </a:rPr>
            </a:br>
            <a:r>
              <a:rPr lang="it" sz="1300" dirty="0">
                <a:solidFill>
                  <a:schemeClr val="dk1"/>
                </a:solidFill>
              </a:rPr>
              <a:t>L'aumento della distanza di look-ahead porta a tagliare le curve.		Per l'ambiente Type 1 l'effetto è </a:t>
            </a:r>
            <a:r>
              <a:rPr lang="it" sz="1300" b="1" dirty="0">
                <a:solidFill>
                  <a:schemeClr val="dk1"/>
                </a:solidFill>
              </a:rPr>
              <a:t>ininfluente</a:t>
            </a:r>
            <a:r>
              <a:rPr lang="it" sz="1300" dirty="0">
                <a:solidFill>
                  <a:schemeClr val="dk1"/>
                </a:solidFill>
              </a:rPr>
              <a:t>.                                              Gli esperimenti nell'ambiente Type 2 sono stati effettuati con un valore di portata massima del raggio LiDAR (r_max) pari a 9 e 6 metri. </a:t>
            </a:r>
            <a:br>
              <a:rPr lang="it" sz="1300" dirty="0">
                <a:solidFill>
                  <a:schemeClr val="dk1"/>
                </a:solidFill>
              </a:rPr>
            </a:br>
            <a:r>
              <a:rPr lang="it" sz="1300" dirty="0">
                <a:solidFill>
                  <a:schemeClr val="dk1"/>
                </a:solidFill>
              </a:rPr>
              <a:t>Si evidenziano </a:t>
            </a:r>
            <a:r>
              <a:rPr lang="it" sz="1300" b="1" dirty="0">
                <a:solidFill>
                  <a:schemeClr val="dk1"/>
                </a:solidFill>
              </a:rPr>
              <a:t>sia miglioramenti che peggioramenti</a:t>
            </a:r>
            <a:r>
              <a:rPr lang="it" sz="1300" dirty="0">
                <a:solidFill>
                  <a:schemeClr val="dk1"/>
                </a:solidFill>
              </a:rPr>
              <a:t> utilizzando il Loop Closure. </a:t>
            </a:r>
            <a:br>
              <a:rPr lang="it" sz="1300" dirty="0">
                <a:solidFill>
                  <a:schemeClr val="dk1"/>
                </a:solidFill>
              </a:rPr>
            </a:br>
            <a:r>
              <a:rPr lang="it" sz="1300" dirty="0">
                <a:solidFill>
                  <a:schemeClr val="dk1"/>
                </a:solidFill>
              </a:rPr>
              <a:t>I risultati ottenuti in presenza di odometria rumorosa sono soggetti a una </a:t>
            </a:r>
            <a:r>
              <a:rPr lang="it" sz="1300" b="1" dirty="0">
                <a:solidFill>
                  <a:schemeClr val="dk1"/>
                </a:solidFill>
              </a:rPr>
              <a:t>componente stocastica</a:t>
            </a:r>
            <a:r>
              <a:rPr lang="it" sz="1300" dirty="0">
                <a:solidFill>
                  <a:schemeClr val="dk1"/>
                </a:solidFill>
              </a:rPr>
              <a:t> rilevante. </a:t>
            </a:r>
            <a:br>
              <a:rPr lang="it" sz="1300" dirty="0">
                <a:solidFill>
                  <a:schemeClr val="dk1"/>
                </a:solidFill>
              </a:rPr>
            </a:br>
            <a:r>
              <a:rPr lang="it" sz="1300" dirty="0">
                <a:solidFill>
                  <a:schemeClr val="dk1"/>
                </a:solidFill>
              </a:rPr>
              <a:t>Il passaggio da 9 a 6 metri di r_max  porta a un aumento dell'errore medio. </a:t>
            </a:r>
            <a:br>
              <a:rPr lang="it" sz="1300" dirty="0">
                <a:solidFill>
                  <a:schemeClr val="dk1"/>
                </a:solidFill>
              </a:rPr>
            </a:br>
            <a:r>
              <a:rPr lang="it" sz="1300" dirty="0">
                <a:solidFill>
                  <a:schemeClr val="dk1"/>
                </a:solidFill>
              </a:rPr>
              <a:t>L’ambiente determina l’accuratezza della localizzazione.</a:t>
            </a:r>
            <a:endParaRPr sz="1300" dirty="0">
              <a:solidFill>
                <a:schemeClr val="dk1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endParaRPr sz="1200" dirty="0">
              <a:solidFill>
                <a:schemeClr val="dk1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200" dirty="0">
              <a:solidFill>
                <a:schemeClr val="dk1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endParaRPr sz="1200"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endParaRPr sz="1500" dirty="0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br>
              <a:rPr lang="it" sz="1500" dirty="0">
                <a:solidFill>
                  <a:schemeClr val="dk2"/>
                </a:solidFill>
              </a:rPr>
            </a:br>
            <a:endParaRPr sz="1500" dirty="0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500" dirty="0">
              <a:solidFill>
                <a:schemeClr val="dk2"/>
              </a:solidFill>
            </a:endParaRPr>
          </a:p>
        </p:txBody>
      </p:sp>
      <p:pic>
        <p:nvPicPr>
          <p:cNvPr id="190" name="Google Shape;190;p24" title="pista_3_(2_giri)_type2_ld0.2_1_Odometria_Ideale_No_LC_completa_1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660000" y="481000"/>
            <a:ext cx="1824001" cy="2014999"/>
          </a:xfrm>
          <a:prstGeom prst="rect">
            <a:avLst/>
          </a:prstGeom>
          <a:noFill/>
          <a:ln>
            <a:noFill/>
          </a:ln>
        </p:spPr>
      </p:pic>
      <p:pic>
        <p:nvPicPr>
          <p:cNvPr id="191" name="Google Shape;191;p24" title="pista_3_(2_giri)_type2_ld0.2_1_Odometria_Ideale_No_LC_completa_2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660000" y="2818450"/>
            <a:ext cx="1824000" cy="2010382"/>
          </a:xfrm>
          <a:prstGeom prst="rect">
            <a:avLst/>
          </a:prstGeom>
          <a:noFill/>
          <a:ln>
            <a:noFill/>
          </a:ln>
        </p:spPr>
      </p:pic>
      <p:pic>
        <p:nvPicPr>
          <p:cNvPr id="192" name="Google Shape;192;p24" title="pista_3_(2_giri)_type2_ld0.2_riepilogo_media_1.pn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5765175" y="501775"/>
            <a:ext cx="3289101" cy="19734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93" name="Google Shape;193;p24" title="pista_3_(2_giri)_type2_ld0.2_riepilogo_media_2.png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5765175" y="2836920"/>
            <a:ext cx="3289101" cy="197345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5"/>
          <p:cNvSpPr/>
          <p:nvPr/>
        </p:nvSpPr>
        <p:spPr>
          <a:xfrm>
            <a:off x="335700" y="3643150"/>
            <a:ext cx="8515500" cy="1385100"/>
          </a:xfrm>
          <a:prstGeom prst="roundRect">
            <a:avLst>
              <a:gd name="adj" fmla="val 29758"/>
            </a:avLst>
          </a:prstGeom>
          <a:solidFill>
            <a:srgbClr val="FFFFFF"/>
          </a:solidFill>
          <a:ln w="12700" cap="flat" cmpd="sng">
            <a:solidFill>
              <a:srgbClr val="4F81BD"/>
            </a:solidFill>
            <a:prstDash val="solid"/>
            <a:miter lim="400000"/>
            <a:headEnd type="none" w="sm" len="sm"/>
            <a:tailEnd type="none" w="sm" len="sm"/>
          </a:ln>
          <a:effectLst>
            <a:outerShdw blurRad="50800" dist="63500" dir="2700000" rotWithShape="0">
              <a:srgbClr val="000000">
                <a:alpha val="50200"/>
              </a:srgbClr>
            </a:outerShdw>
          </a:effectLst>
        </p:spPr>
        <p:txBody>
          <a:bodyPr spcFirstLastPara="1" wrap="square" lIns="50800" tIns="50800" rIns="50800" bIns="508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F81BD"/>
              </a:buClr>
              <a:buSzPts val="1100"/>
              <a:buFont typeface="Tahoma"/>
              <a:buNone/>
            </a:pPr>
            <a:endParaRPr sz="1100" b="0" i="0" u="none" strike="noStrike" cap="none">
              <a:solidFill>
                <a:srgbClr val="4F81BD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9" name="Google Shape;199;p25"/>
          <p:cNvSpPr/>
          <p:nvPr/>
        </p:nvSpPr>
        <p:spPr>
          <a:xfrm>
            <a:off x="335700" y="476400"/>
            <a:ext cx="8472600" cy="2898625"/>
          </a:xfrm>
          <a:prstGeom prst="roundRect">
            <a:avLst>
              <a:gd name="adj" fmla="val 14330"/>
            </a:avLst>
          </a:prstGeom>
          <a:solidFill>
            <a:srgbClr val="FFFFFF"/>
          </a:solidFill>
          <a:ln w="12700" cap="flat" cmpd="sng">
            <a:solidFill>
              <a:srgbClr val="4F81BD"/>
            </a:solidFill>
            <a:prstDash val="solid"/>
            <a:miter lim="400000"/>
            <a:headEnd type="none" w="sm" len="sm"/>
            <a:tailEnd type="none" w="sm" len="sm"/>
          </a:ln>
          <a:effectLst>
            <a:outerShdw blurRad="50800" dist="63500" dir="2700000" rotWithShape="0">
              <a:srgbClr val="000000">
                <a:alpha val="50200"/>
              </a:srgbClr>
            </a:outerShdw>
          </a:effectLst>
        </p:spPr>
        <p:txBody>
          <a:bodyPr spcFirstLastPara="1" wrap="square" lIns="50800" tIns="50800" rIns="50800" bIns="508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F81BD"/>
              </a:buClr>
              <a:buSzPts val="1100"/>
              <a:buFont typeface="Tahoma"/>
              <a:buNone/>
            </a:pPr>
            <a:endParaRPr sz="1100" b="0" i="0" u="none" strike="noStrike" cap="none">
              <a:solidFill>
                <a:srgbClr val="4F81BD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pic>
        <p:nvPicPr>
          <p:cNvPr id="200" name="Google Shape;200;p25" title="Logo_unifi.jp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442250" cy="476400"/>
          </a:xfrm>
          <a:prstGeom prst="rect">
            <a:avLst/>
          </a:prstGeom>
          <a:noFill/>
          <a:ln>
            <a:noFill/>
          </a:ln>
        </p:spPr>
      </p:pic>
      <p:sp>
        <p:nvSpPr>
          <p:cNvPr id="201" name="Google Shape;201;p25"/>
          <p:cNvSpPr txBox="1">
            <a:spLocks noGrp="1"/>
          </p:cNvSpPr>
          <p:nvPr>
            <p:ph type="title"/>
          </p:nvPr>
        </p:nvSpPr>
        <p:spPr>
          <a:xfrm>
            <a:off x="565200" y="0"/>
            <a:ext cx="8286000" cy="47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1270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sz="2400" b="1">
                <a:solidFill>
                  <a:srgbClr val="00407F"/>
                </a:solidFill>
              </a:rPr>
              <a:t>Conclusioni e sviluppi futuri</a:t>
            </a:r>
            <a:endParaRPr sz="2400" b="1">
              <a:solidFill>
                <a:srgbClr val="00407F"/>
              </a:solidFill>
            </a:endParaRPr>
          </a:p>
          <a:p>
            <a:pPr marL="0" lvl="0" indent="12700" algn="l" rtl="0">
              <a:spcBef>
                <a:spcPts val="0"/>
              </a:spcBef>
              <a:spcAft>
                <a:spcPts val="0"/>
              </a:spcAft>
              <a:buNone/>
            </a:pPr>
            <a:endParaRPr sz="2400" b="1">
              <a:solidFill>
                <a:srgbClr val="00407F"/>
              </a:solidFill>
            </a:endParaRPr>
          </a:p>
        </p:txBody>
      </p:sp>
      <p:sp>
        <p:nvSpPr>
          <p:cNvPr id="202" name="Google Shape;202;p25"/>
          <p:cNvSpPr txBox="1"/>
          <p:nvPr/>
        </p:nvSpPr>
        <p:spPr>
          <a:xfrm>
            <a:off x="636500" y="476400"/>
            <a:ext cx="8020500" cy="2898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sz="1500" dirty="0">
                <a:solidFill>
                  <a:srgbClr val="3D85C6"/>
                </a:solidFill>
              </a:rPr>
              <a:t>Conclusioni:</a:t>
            </a:r>
            <a:r>
              <a:rPr lang="it" sz="1500" dirty="0">
                <a:solidFill>
                  <a:schemeClr val="dk2"/>
                </a:solidFill>
              </a:rPr>
              <a:t> </a:t>
            </a:r>
            <a:endParaRPr sz="1500" dirty="0">
              <a:solidFill>
                <a:schemeClr val="dk2"/>
              </a:solidFill>
            </a:endParaRPr>
          </a:p>
          <a:p>
            <a:pPr marL="457200" lvl="0" indent="-3238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Char char="●"/>
            </a:pPr>
            <a:r>
              <a:rPr lang="it" sz="1500" dirty="0">
                <a:solidFill>
                  <a:schemeClr val="dk1"/>
                </a:solidFill>
              </a:rPr>
              <a:t>All'aumentare della distanza di look-ahead il robot taglia le curve e parti del percorso, con un conseguente aumento dell'errore medio e una riduzione del numero di passi necessari. (L'uso della search window riduce questo fenomeno). </a:t>
            </a:r>
            <a:endParaRPr sz="1500" dirty="0">
              <a:solidFill>
                <a:schemeClr val="dk1"/>
              </a:solidFill>
            </a:endParaRPr>
          </a:p>
          <a:p>
            <a:pPr marL="457200" lvl="0" indent="-3238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Char char="●"/>
            </a:pPr>
            <a:r>
              <a:rPr lang="it" sz="1500" dirty="0">
                <a:solidFill>
                  <a:schemeClr val="dk1"/>
                </a:solidFill>
              </a:rPr>
              <a:t>Il meccanismo di Loop Closure può portare a dei miglioramenti in termini di errore medio.</a:t>
            </a:r>
            <a:endParaRPr sz="1500" dirty="0">
              <a:solidFill>
                <a:schemeClr val="dk1"/>
              </a:solidFill>
            </a:endParaRPr>
          </a:p>
          <a:p>
            <a:pPr marL="457200" lvl="0" indent="-3238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Char char="●"/>
            </a:pPr>
            <a:r>
              <a:rPr lang="it" sz="1500" dirty="0">
                <a:solidFill>
                  <a:schemeClr val="dk1"/>
                </a:solidFill>
              </a:rPr>
              <a:t>La portata massima del LiDAR (r_max) influisce direttamente sulle prestazioni complessive. </a:t>
            </a:r>
            <a:endParaRPr sz="1500" dirty="0">
              <a:solidFill>
                <a:schemeClr val="dk1"/>
              </a:solidFill>
            </a:endParaRPr>
          </a:p>
          <a:p>
            <a:pPr marL="457200" lvl="0" indent="-3238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Char char="●"/>
            </a:pPr>
            <a:r>
              <a:rPr lang="it" sz="1500" dirty="0">
                <a:solidFill>
                  <a:schemeClr val="dk1"/>
                </a:solidFill>
              </a:rPr>
              <a:t>Per gli scenari caratterizzati da odometria rumorosa, è necessario ripetere l'esperimento un numero elevato di volte per via della forte componente stocastica. </a:t>
            </a:r>
            <a:br>
              <a:rPr lang="it" sz="1800" dirty="0">
                <a:solidFill>
                  <a:schemeClr val="dk2"/>
                </a:solidFill>
              </a:rPr>
            </a:br>
            <a:br>
              <a:rPr lang="it" sz="1800" dirty="0">
                <a:solidFill>
                  <a:schemeClr val="dk2"/>
                </a:solidFill>
              </a:rPr>
            </a:br>
            <a:endParaRPr sz="1800" dirty="0">
              <a:solidFill>
                <a:schemeClr val="dk2"/>
              </a:solidFill>
            </a:endParaRPr>
          </a:p>
        </p:txBody>
      </p:sp>
      <p:sp>
        <p:nvSpPr>
          <p:cNvPr id="203" name="Google Shape;203;p25"/>
          <p:cNvSpPr txBox="1"/>
          <p:nvPr/>
        </p:nvSpPr>
        <p:spPr>
          <a:xfrm>
            <a:off x="618800" y="3643149"/>
            <a:ext cx="8055900" cy="13850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sz="1500" dirty="0">
                <a:solidFill>
                  <a:srgbClr val="3D85C6"/>
                </a:solidFill>
              </a:rPr>
              <a:t>Sviluppi futuri:</a:t>
            </a:r>
            <a:r>
              <a:rPr lang="it" sz="1500" dirty="0">
                <a:solidFill>
                  <a:schemeClr val="dk1"/>
                </a:solidFill>
              </a:rPr>
              <a:t> </a:t>
            </a:r>
            <a:endParaRPr sz="1500" dirty="0">
              <a:solidFill>
                <a:schemeClr val="dk1"/>
              </a:solidFill>
            </a:endParaRPr>
          </a:p>
          <a:p>
            <a:pPr marL="457200" lvl="0" indent="-3238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Char char="●"/>
            </a:pPr>
            <a:r>
              <a:rPr lang="it" sz="1500" dirty="0">
                <a:solidFill>
                  <a:schemeClr val="dk1"/>
                </a:solidFill>
              </a:rPr>
              <a:t>Aggiunta di un modulo di Path Replanning così da permettere di ripianificare la rotta nel caso di ostacoli sul percorso. </a:t>
            </a:r>
            <a:endParaRPr sz="1500" dirty="0">
              <a:solidFill>
                <a:schemeClr val="dk1"/>
              </a:solidFill>
            </a:endParaRPr>
          </a:p>
          <a:p>
            <a:pPr marL="457200" lvl="0" indent="-3238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Char char="●"/>
            </a:pPr>
            <a:r>
              <a:rPr lang="it" sz="1500" dirty="0">
                <a:solidFill>
                  <a:schemeClr val="dk1"/>
                </a:solidFill>
              </a:rPr>
              <a:t>Esperimenti su veicolo reale.</a:t>
            </a:r>
            <a:br>
              <a:rPr lang="it" sz="1800" dirty="0">
                <a:solidFill>
                  <a:schemeClr val="dk2"/>
                </a:solidFill>
              </a:rPr>
            </a:br>
            <a:endParaRPr sz="1800" dirty="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6"/>
          <p:cNvSpPr txBox="1">
            <a:spLocks noGrp="1"/>
          </p:cNvSpPr>
          <p:nvPr>
            <p:ph type="ctrTitle"/>
          </p:nvPr>
        </p:nvSpPr>
        <p:spPr>
          <a:xfrm>
            <a:off x="311700" y="179225"/>
            <a:ext cx="5750100" cy="13974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rgbClr val="00407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it" sz="2080" b="1" dirty="0">
                <a:solidFill>
                  <a:srgbClr val="00407F"/>
                </a:solidFill>
              </a:rPr>
              <a:t>Sviluppo, implementazione e analisi comparativa dell'algoritmo di pure pursuit in ambienti di simulazione per la guida autonoma  </a:t>
            </a:r>
            <a:endParaRPr sz="2080" b="1" dirty="0">
              <a:solidFill>
                <a:srgbClr val="00407F"/>
              </a:solidFill>
            </a:endParaRPr>
          </a:p>
        </p:txBody>
      </p:sp>
      <p:pic>
        <p:nvPicPr>
          <p:cNvPr id="209" name="Google Shape;209;p26" descr="object 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120645" y="0"/>
            <a:ext cx="4023354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10" name="Google Shape;210;p26"/>
          <p:cNvSpPr txBox="1"/>
          <p:nvPr/>
        </p:nvSpPr>
        <p:spPr>
          <a:xfrm>
            <a:off x="494850" y="2941150"/>
            <a:ext cx="1488900" cy="5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sz="1800" b="1">
                <a:solidFill>
                  <a:schemeClr val="dk1"/>
                </a:solidFill>
              </a:rPr>
              <a:t>Candidato:</a:t>
            </a:r>
            <a:endParaRPr sz="1800" b="1">
              <a:solidFill>
                <a:schemeClr val="dk1"/>
              </a:solidFill>
            </a:endParaRPr>
          </a:p>
        </p:txBody>
      </p:sp>
      <p:sp>
        <p:nvSpPr>
          <p:cNvPr id="211" name="Google Shape;211;p26"/>
          <p:cNvSpPr txBox="1"/>
          <p:nvPr/>
        </p:nvSpPr>
        <p:spPr>
          <a:xfrm>
            <a:off x="494850" y="3310500"/>
            <a:ext cx="2737200" cy="5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sz="1800" i="1">
                <a:solidFill>
                  <a:schemeClr val="dk1"/>
                </a:solidFill>
              </a:rPr>
              <a:t>Marco Tetsuya Stella</a:t>
            </a:r>
            <a:endParaRPr sz="1800" i="1">
              <a:solidFill>
                <a:schemeClr val="dk1"/>
              </a:solidFill>
            </a:endParaRPr>
          </a:p>
        </p:txBody>
      </p:sp>
      <p:sp>
        <p:nvSpPr>
          <p:cNvPr id="212" name="Google Shape;212;p26"/>
          <p:cNvSpPr txBox="1"/>
          <p:nvPr/>
        </p:nvSpPr>
        <p:spPr>
          <a:xfrm>
            <a:off x="494850" y="3839100"/>
            <a:ext cx="1653300" cy="44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lang="it" sz="2000" b="1">
                <a:solidFill>
                  <a:schemeClr val="dk1"/>
                </a:solidFill>
              </a:rPr>
              <a:t>Relatore</a:t>
            </a:r>
            <a:r>
              <a:rPr lang="it" sz="2000">
                <a:solidFill>
                  <a:schemeClr val="dk1"/>
                </a:solidFill>
              </a:rPr>
              <a:t>:</a:t>
            </a:r>
            <a:endParaRPr sz="2600">
              <a:solidFill>
                <a:schemeClr val="dk2"/>
              </a:solidFill>
            </a:endParaRPr>
          </a:p>
        </p:txBody>
      </p:sp>
      <p:sp>
        <p:nvSpPr>
          <p:cNvPr id="213" name="Google Shape;213;p26"/>
          <p:cNvSpPr txBox="1"/>
          <p:nvPr/>
        </p:nvSpPr>
        <p:spPr>
          <a:xfrm>
            <a:off x="494850" y="4287900"/>
            <a:ext cx="2824500" cy="5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lang="it" sz="1800" i="1">
                <a:solidFill>
                  <a:schemeClr val="dk1"/>
                </a:solidFill>
              </a:rPr>
              <a:t>Prof. Giorgio Battistelli</a:t>
            </a:r>
            <a:endParaRPr sz="200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458</TotalTime>
  <Words>1289</Words>
  <Application>Microsoft Office PowerPoint</Application>
  <PresentationFormat>Presentazione su schermo (16:9)</PresentationFormat>
  <Paragraphs>126</Paragraphs>
  <Slides>14</Slides>
  <Notes>14</Notes>
  <HiddenSlides>0</HiddenSlides>
  <MMClips>1</MMClips>
  <ScaleCrop>false</ScaleCrop>
  <HeadingPairs>
    <vt:vector size="6" baseType="variant">
      <vt:variant>
        <vt:lpstr>Caratteri utilizzati</vt:lpstr>
      </vt:variant>
      <vt:variant>
        <vt:i4>5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14</vt:i4>
      </vt:variant>
    </vt:vector>
  </HeadingPairs>
  <TitlesOfParts>
    <vt:vector size="20" baseType="lpstr">
      <vt:lpstr>Tahoma</vt:lpstr>
      <vt:lpstr>Arial</vt:lpstr>
      <vt:lpstr>Cambria Math</vt:lpstr>
      <vt:lpstr>Calibri</vt:lpstr>
      <vt:lpstr>Courier New</vt:lpstr>
      <vt:lpstr>Simple Light</vt:lpstr>
      <vt:lpstr>Sviluppo, implementazione e analisi comparativa dell'algoritmo di pure pursuit in ambienti di simulazione per la guida autonoma  </vt:lpstr>
      <vt:lpstr>Introduzione e problema</vt:lpstr>
      <vt:lpstr>Modello cinematico e stima della posa</vt:lpstr>
      <vt:lpstr>Punto di partenza e contributo della tesi</vt:lpstr>
      <vt:lpstr>Algoritmo di Pure Pursuit</vt:lpstr>
      <vt:lpstr>Algoritmo di Pure Pursuit</vt:lpstr>
      <vt:lpstr>Esecuzione degli esperimenti e condizioni di arresto </vt:lpstr>
      <vt:lpstr>Percorsi predefiniti</vt:lpstr>
      <vt:lpstr>Percorsi predefiniti tipologie ambienti</vt:lpstr>
      <vt:lpstr>Tipologie di esperimenti effetuati </vt:lpstr>
      <vt:lpstr>Esperimento contapassi</vt:lpstr>
      <vt:lpstr>Esperimento pista3 (due giri)</vt:lpstr>
      <vt:lpstr>Conclusioni e sviluppi futuri </vt:lpstr>
      <vt:lpstr>Sviluppo, implementazione e analisi comparativa dell'algoritmo di pure pursuit in ambienti di simulazione per la guida autonoma  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Marco Tetsuya Stella</dc:creator>
  <cp:lastModifiedBy>Marco Tetsuya Stella</cp:lastModifiedBy>
  <cp:revision>76</cp:revision>
  <dcterms:modified xsi:type="dcterms:W3CDTF">2026-09-25T16:56:53Z</dcterms:modified>
</cp:coreProperties>
</file>