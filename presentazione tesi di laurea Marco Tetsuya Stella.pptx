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7"/>
    </p:embeddedFont>
    <p:embeddedFont>
      <p:font typeface="Tahoma" panose="020B0604030504040204" pitchFamily="3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60" d="100"/>
          <a:sy n="160" d="100"/>
        </p:scale>
        <p:origin x="1824" y="7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Tetsuya Stella" userId="7a527e88a4458984" providerId="LiveId" clId="{E2788E01-F35F-472E-B91B-450BDC619935}"/>
    <pc:docChg chg="undo custSel modSld">
      <pc:chgData name="Marco Tetsuya Stella" userId="7a527e88a4458984" providerId="LiveId" clId="{E2788E01-F35F-472E-B91B-450BDC619935}" dt="2026-09-23T22:48:55.686" v="6" actId="20577"/>
      <pc:docMkLst>
        <pc:docMk/>
      </pc:docMkLst>
      <pc:sldChg chg="modSp mod">
        <pc:chgData name="Marco Tetsuya Stella" userId="7a527e88a4458984" providerId="LiveId" clId="{E2788E01-F35F-472E-B91B-450BDC619935}" dt="2026-09-23T22:48:55.686" v="6" actId="20577"/>
        <pc:sldMkLst>
          <pc:docMk/>
          <pc:sldMk cId="0" sldId="259"/>
        </pc:sldMkLst>
        <pc:spChg chg="mod">
          <ac:chgData name="Marco Tetsuya Stella" userId="7a527e88a4458984" providerId="LiveId" clId="{E2788E01-F35F-472E-B91B-450BDC619935}" dt="2026-09-23T22:48:55.686" v="6" actId="20577"/>
          <ac:spMkLst>
            <pc:docMk/>
            <pc:sldMk cId="0" sldId="259"/>
            <ac:spMk id="92" creationId="{00000000-0000-0000-0000-000000000000}"/>
          </ac:spMkLst>
        </pc:spChg>
      </pc:sldChg>
      <pc:sldChg chg="modSp mod">
        <pc:chgData name="Marco Tetsuya Stella" userId="7a527e88a4458984" providerId="LiveId" clId="{E2788E01-F35F-472E-B91B-450BDC619935}" dt="2026-09-23T21:35:51.522" v="1" actId="1076"/>
        <pc:sldMkLst>
          <pc:docMk/>
          <pc:sldMk cId="0" sldId="262"/>
        </pc:sldMkLst>
        <pc:spChg chg="mod">
          <ac:chgData name="Marco Tetsuya Stella" userId="7a527e88a4458984" providerId="LiveId" clId="{E2788E01-F35F-472E-B91B-450BDC619935}" dt="2026-09-23T21:35:51.522" v="1" actId="1076"/>
          <ac:spMkLst>
            <pc:docMk/>
            <pc:sldMk cId="0" sldId="262"/>
            <ac:spMk id="12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66f5a83a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66f5a83a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66f5a83a2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66f5a83a2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6f5a83a2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66f5a83a2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67bb190a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67bb190ac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1a7f3e7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a1a7f3e7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67bb190ac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67bb190ac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67bb190ac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67bb190ac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67bb190ac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67bb190ac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67bb190ac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67bb190ac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67bb190ac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67bb190ac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67bb190ac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67bb190ac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66f5a83a2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66f5a83a2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6946fc26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6946fc26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2.jp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jp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jp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79225"/>
            <a:ext cx="5750100" cy="139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080" b="1">
                <a:solidFill>
                  <a:srgbClr val="00407F"/>
                </a:solidFill>
              </a:rPr>
              <a:t>Sviluppo, implementazione e analisi comparativa dell'algoritmo di pure pursuit in ambienti di simulazione per la guida autonoma  </a:t>
            </a:r>
            <a:endParaRPr sz="2080" b="1">
              <a:solidFill>
                <a:srgbClr val="00407F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94850" y="1805000"/>
            <a:ext cx="5244000" cy="7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it" sz="1520"/>
              <a:t>Valutazione delle prestazioni di tracciamento in presenza di odometria ideale e rumorosa sotto differenti configurazioni sensoriali </a:t>
            </a:r>
            <a:endParaRPr sz="1620"/>
          </a:p>
        </p:txBody>
      </p:sp>
      <p:pic>
        <p:nvPicPr>
          <p:cNvPr id="56" name="Google Shape;56;p13" descr="object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20645" y="0"/>
            <a:ext cx="402335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94850" y="2941150"/>
            <a:ext cx="14889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dk1"/>
                </a:solidFill>
              </a:rPr>
              <a:t>Candidato: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94850" y="3310500"/>
            <a:ext cx="27372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i="1">
                <a:solidFill>
                  <a:schemeClr val="dk1"/>
                </a:solidFill>
              </a:rPr>
              <a:t>Marco Tetsuya Stella</a:t>
            </a:r>
            <a:endParaRPr sz="1800" i="1">
              <a:solidFill>
                <a:schemeClr val="dk1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94850" y="3839100"/>
            <a:ext cx="16533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" sz="2000" b="1">
                <a:solidFill>
                  <a:schemeClr val="dk1"/>
                </a:solidFill>
              </a:rPr>
              <a:t>Relatore</a:t>
            </a:r>
            <a:r>
              <a:rPr lang="it" sz="2000">
                <a:solidFill>
                  <a:schemeClr val="dk1"/>
                </a:solidFill>
              </a:rPr>
              <a:t>:</a:t>
            </a:r>
            <a:endParaRPr sz="2600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94850" y="4287900"/>
            <a:ext cx="28245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" sz="1800" i="1">
                <a:solidFill>
                  <a:schemeClr val="dk1"/>
                </a:solidFill>
              </a:rPr>
              <a:t>Prof. Giorgio Battistelli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335700" y="645700"/>
            <a:ext cx="8472600" cy="818400"/>
          </a:xfrm>
          <a:prstGeom prst="roundRect">
            <a:avLst>
              <a:gd name="adj" fmla="val 37596"/>
            </a:avLst>
          </a:prstGeom>
          <a:solidFill>
            <a:srgbClr val="FFFFFF"/>
          </a:solidFill>
          <a:ln w="12700" cap="flat" cmpd="sng">
            <a:solidFill>
              <a:srgbClr val="4F81BD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50800" dist="63500" dir="2700000" rotWithShape="0">
              <a:srgbClr val="000000">
                <a:alpha val="50200"/>
              </a:srgbClr>
            </a:outerShdw>
          </a:effectLst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1100"/>
              <a:buFont typeface="Tahoma"/>
              <a:buNone/>
            </a:pPr>
            <a:endParaRPr sz="1100" b="0" i="0" u="none" strike="noStrike" cap="none">
              <a:solidFill>
                <a:srgbClr val="4F81BD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565200" y="0"/>
            <a:ext cx="8286000" cy="4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12700" algn="l" rtl="0">
              <a:spcBef>
                <a:spcPts val="0"/>
              </a:spcBef>
              <a:spcAft>
                <a:spcPts val="0"/>
              </a:spcAft>
              <a:buClr>
                <a:srgbClr val="00407F"/>
              </a:buClr>
              <a:buSzPct val="58333"/>
              <a:buFont typeface="Calibri"/>
              <a:buNone/>
            </a:pPr>
            <a:r>
              <a:rPr lang="it" sz="2400" b="1" dirty="0">
                <a:solidFill>
                  <a:srgbClr val="00407F"/>
                </a:solidFill>
                <a:latin typeface="Calibri"/>
                <a:ea typeface="Calibri"/>
                <a:cs typeface="Calibri"/>
                <a:sym typeface="Calibri"/>
              </a:rPr>
              <a:t>Introduzione e problema</a:t>
            </a:r>
            <a:endParaRPr sz="2700" b="1" dirty="0"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640076" y="641549"/>
            <a:ext cx="8034536" cy="81527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it-IT" sz="1500" dirty="0">
                <a:solidFill>
                  <a:srgbClr val="3D85C6"/>
                </a:solidFill>
              </a:rPr>
              <a:t>Contesto applicativo:</a:t>
            </a:r>
            <a:r>
              <a:rPr lang="it-IT" sz="1500" b="1" dirty="0">
                <a:solidFill>
                  <a:srgbClr val="3D85C6"/>
                </a:solidFill>
              </a:rPr>
              <a:t> </a:t>
            </a:r>
            <a:br>
              <a:rPr lang="it-IT" sz="1500" b="1" dirty="0">
                <a:solidFill>
                  <a:schemeClr val="dk1"/>
                </a:solidFill>
              </a:rPr>
            </a:br>
            <a:r>
              <a:rPr lang="it-IT" sz="1500" dirty="0">
                <a:solidFill>
                  <a:schemeClr val="dk1"/>
                </a:solidFill>
              </a:rPr>
              <a:t>Robotica mobile in ambienti con o senza ostacoli.</a:t>
            </a:r>
          </a:p>
        </p:txBody>
      </p:sp>
      <p:pic>
        <p:nvPicPr>
          <p:cNvPr id="68" name="Google Shape;68;p14" title="Logo_unifi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225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335700" y="1780249"/>
            <a:ext cx="8472600" cy="1304400"/>
          </a:xfrm>
          <a:prstGeom prst="roundRect">
            <a:avLst>
              <a:gd name="adj" fmla="val 37596"/>
            </a:avLst>
          </a:prstGeom>
          <a:solidFill>
            <a:srgbClr val="FFFFFF"/>
          </a:solidFill>
          <a:ln w="12700" cap="flat" cmpd="sng">
            <a:solidFill>
              <a:srgbClr val="4F81BD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50800" dist="63500" dir="2700000" rotWithShape="0">
              <a:srgbClr val="000000">
                <a:alpha val="50200"/>
              </a:srgbClr>
            </a:outerShdw>
          </a:effectLst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1100"/>
              <a:buFont typeface="Tahoma"/>
              <a:buNone/>
            </a:pPr>
            <a:endParaRPr sz="1100" b="0" i="0" u="none" strike="noStrike" cap="none">
              <a:solidFill>
                <a:srgbClr val="4F81BD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640361" y="1777982"/>
            <a:ext cx="8055900" cy="13077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500" dirty="0">
                <a:solidFill>
                  <a:srgbClr val="3D85C6"/>
                </a:solidFill>
              </a:rPr>
              <a:t>Problema:</a:t>
            </a:r>
            <a:br>
              <a:rPr lang="it" sz="1500" b="1" dirty="0">
                <a:solidFill>
                  <a:schemeClr val="dk1"/>
                </a:solidFill>
              </a:rPr>
            </a:br>
            <a:r>
              <a:rPr lang="it" sz="1500" dirty="0">
                <a:solidFill>
                  <a:schemeClr val="dk1"/>
                </a:solidFill>
              </a:rPr>
              <a:t>Consentire la navigazione autonoma del robot garantendo un inseguimento stabile e preciso di un percorso preimpostato. </a:t>
            </a: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71" name="Google Shape;71;p14"/>
          <p:cNvSpPr/>
          <p:nvPr/>
        </p:nvSpPr>
        <p:spPr>
          <a:xfrm>
            <a:off x="335700" y="3400800"/>
            <a:ext cx="8472600" cy="1464404"/>
          </a:xfrm>
          <a:prstGeom prst="roundRect">
            <a:avLst>
              <a:gd name="adj" fmla="val 37596"/>
            </a:avLst>
          </a:prstGeom>
          <a:solidFill>
            <a:srgbClr val="FFFFFF"/>
          </a:solidFill>
          <a:ln w="12700" cap="flat" cmpd="sng">
            <a:solidFill>
              <a:srgbClr val="4F81BD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50800" dist="63500" dir="2700000" rotWithShape="0">
              <a:srgbClr val="000000">
                <a:alpha val="50200"/>
              </a:srgbClr>
            </a:outerShdw>
          </a:effectLst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1100"/>
              <a:buFont typeface="Tahoma"/>
              <a:buNone/>
            </a:pPr>
            <a:endParaRPr sz="1100" b="0" i="0" u="none" strike="noStrike" cap="none">
              <a:solidFill>
                <a:srgbClr val="4F81BD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640076" y="3399610"/>
            <a:ext cx="8055900" cy="146440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500" dirty="0">
                <a:solidFill>
                  <a:srgbClr val="3D85C6"/>
                </a:solidFill>
              </a:rPr>
              <a:t>Soluzione:</a:t>
            </a:r>
            <a:br>
              <a:rPr lang="it" sz="1500" b="1" dirty="0">
                <a:solidFill>
                  <a:schemeClr val="dk1"/>
                </a:solidFill>
              </a:rPr>
            </a:br>
            <a:r>
              <a:rPr lang="it" sz="1500" dirty="0">
                <a:solidFill>
                  <a:schemeClr val="dk1"/>
                </a:solidFill>
              </a:rPr>
              <a:t>Implementazione dell’algoritmo Pure Pursuit in sinergia con la sensoristica di bordo (Odometria e LiDAR) per la stima della posa e il controllo in tempo reale del veicolo lungo il percorso pianificato. </a:t>
            </a:r>
            <a:endParaRPr sz="15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 title="Logo_unifi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225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565200" y="0"/>
            <a:ext cx="8286000" cy="4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127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 b="1">
                <a:solidFill>
                  <a:srgbClr val="00407F"/>
                </a:solidFill>
                <a:latin typeface="Calibri"/>
                <a:ea typeface="Calibri"/>
                <a:cs typeface="Calibri"/>
                <a:sym typeface="Calibri"/>
              </a:rPr>
              <a:t>Modello cinematico e stima della posa</a:t>
            </a:r>
            <a:endParaRPr sz="2700" b="1"/>
          </a:p>
        </p:txBody>
      </p:sp>
      <p:sp>
        <p:nvSpPr>
          <p:cNvPr id="79" name="Google Shape;79;p15"/>
          <p:cNvSpPr txBox="1"/>
          <p:nvPr/>
        </p:nvSpPr>
        <p:spPr>
          <a:xfrm>
            <a:off x="4884750" y="598775"/>
            <a:ext cx="3608100" cy="21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1000"/>
              <a:buFont typeface="Tahoma"/>
              <a:buNone/>
            </a:pPr>
            <a:r>
              <a:rPr lang="it" dirty="0">
                <a:solidFill>
                  <a:srgbClr val="3D85C6"/>
                </a:solidFill>
              </a:rPr>
              <a:t>Modello cinematico (uniciclo)</a:t>
            </a:r>
            <a:endParaRPr dirty="0">
              <a:solidFill>
                <a:srgbClr val="3D85C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000"/>
              <a:buFont typeface="Tahoma"/>
              <a:buNone/>
            </a:pPr>
            <a:r>
              <a:rPr lang="it" dirty="0">
                <a:solidFill>
                  <a:schemeClr val="dk1"/>
                </a:solidFill>
              </a:rPr>
              <a:t>Stato: q = [x, y, α]ᵀ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000"/>
              <a:buFont typeface="Tahoma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000"/>
              <a:buFont typeface="Tahoma"/>
              <a:buNone/>
            </a:pPr>
            <a:r>
              <a:rPr lang="it" dirty="0">
                <a:solidFill>
                  <a:schemeClr val="dk1"/>
                </a:solidFill>
              </a:rPr>
              <a:t>ẋ = v cos(α)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000"/>
              <a:buFont typeface="Tahoma"/>
              <a:buNone/>
            </a:pPr>
            <a:r>
              <a:rPr lang="it" dirty="0">
                <a:solidFill>
                  <a:schemeClr val="dk1"/>
                </a:solidFill>
              </a:rPr>
              <a:t>ẏ = v sin(α)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solidFill>
                  <a:schemeClr val="dk1"/>
                </a:solidFill>
              </a:rPr>
              <a:t>α̇ = ω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solidFill>
                  <a:schemeClr val="dk1"/>
                </a:solidFill>
              </a:rPr>
              <a:t>Discretizzazione di Eulero con </a:t>
            </a:r>
            <a:r>
              <a:rPr lang="it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(Δt=0.05s)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53535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000"/>
              <a:buFont typeface="Tahoma"/>
              <a:buNone/>
            </a:pPr>
            <a:endParaRPr dirty="0">
              <a:solidFill>
                <a:srgbClr val="535353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5110625" y="3879925"/>
            <a:ext cx="1902300" cy="10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4276850" y="2881750"/>
            <a:ext cx="4697400" cy="18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>
                <a:solidFill>
                  <a:srgbClr val="3D85C6"/>
                </a:solidFill>
              </a:rPr>
              <a:t>Simulazione LiDAR (Ray-Casting) </a:t>
            </a:r>
            <a:endParaRPr dirty="0">
              <a:solidFill>
                <a:srgbClr val="3D85C6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it" b="1" dirty="0">
                <a:solidFill>
                  <a:schemeClr val="tx1"/>
                </a:solidFill>
              </a:rPr>
              <a:t>Ray-Casting:</a:t>
            </a:r>
            <a:r>
              <a:rPr lang="it" dirty="0">
                <a:solidFill>
                  <a:schemeClr val="tx1"/>
                </a:solidFill>
              </a:rPr>
              <a:t> Simulazione dei fasci luminosi e calcolo geometrico dei punti di contatto.  </a:t>
            </a:r>
            <a:endParaRPr lang="it-IT" dirty="0">
              <a:solidFill>
                <a:schemeClr val="tx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-IT" b="1" dirty="0">
                <a:solidFill>
                  <a:schemeClr val="dk1"/>
                </a:solidFill>
              </a:rPr>
              <a:t>Rilevamento Ostacoli:</a:t>
            </a:r>
            <a:r>
              <a:rPr lang="it-IT" dirty="0">
                <a:solidFill>
                  <a:schemeClr val="dk1"/>
                </a:solidFill>
              </a:rPr>
              <a:t> Misurazione della distanza dagli ostacoli fisici. 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-IT" b="1" dirty="0">
                <a:solidFill>
                  <a:schemeClr val="dk1"/>
                </a:solidFill>
              </a:rPr>
              <a:t>Output Sensoriale:</a:t>
            </a:r>
            <a:r>
              <a:rPr lang="it-IT" dirty="0">
                <a:solidFill>
                  <a:schemeClr val="dk1"/>
                </a:solidFill>
              </a:rPr>
              <a:t> </a:t>
            </a:r>
            <a:r>
              <a:rPr lang="it-IT" i="1" dirty="0">
                <a:solidFill>
                  <a:schemeClr val="dk1"/>
                </a:solidFill>
              </a:rPr>
              <a:t>Point Cloud</a:t>
            </a:r>
            <a:r>
              <a:rPr lang="it-IT" dirty="0">
                <a:solidFill>
                  <a:schemeClr val="dk1"/>
                </a:solidFill>
              </a:rPr>
              <a:t> (nuvola di punti) relativa al frame corrente. </a:t>
            </a:r>
          </a:p>
        </p:txBody>
      </p:sp>
      <p:pic>
        <p:nvPicPr>
          <p:cNvPr id="82" name="Google Shape;82;p15" title="Esempio di scansione LiDA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900" y="687500"/>
            <a:ext cx="3924825" cy="382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/>
          <p:nvPr/>
        </p:nvSpPr>
        <p:spPr>
          <a:xfrm>
            <a:off x="335700" y="476400"/>
            <a:ext cx="8472600" cy="2514600"/>
          </a:xfrm>
          <a:prstGeom prst="roundRect">
            <a:avLst>
              <a:gd name="adj" fmla="val 14330"/>
            </a:avLst>
          </a:prstGeom>
          <a:solidFill>
            <a:srgbClr val="FFFFFF"/>
          </a:solidFill>
          <a:ln w="12700" cap="flat" cmpd="sng">
            <a:solidFill>
              <a:srgbClr val="4F81BD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50800" dist="63500" dir="2700000" rotWithShape="0">
              <a:srgbClr val="000000">
                <a:alpha val="50200"/>
              </a:srgbClr>
            </a:outerShdw>
          </a:effectLst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1100"/>
              <a:buFont typeface="Tahoma"/>
              <a:buNone/>
            </a:pPr>
            <a:endParaRPr sz="1100" b="0" i="0" u="none" strike="noStrike" cap="none">
              <a:solidFill>
                <a:srgbClr val="4F81BD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335700" y="3204400"/>
            <a:ext cx="8515500" cy="1823700"/>
          </a:xfrm>
          <a:prstGeom prst="roundRect">
            <a:avLst>
              <a:gd name="adj" fmla="val 14330"/>
            </a:avLst>
          </a:prstGeom>
          <a:solidFill>
            <a:srgbClr val="FFFFFF"/>
          </a:solidFill>
          <a:ln w="12700" cap="flat" cmpd="sng">
            <a:solidFill>
              <a:srgbClr val="4F81BD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50800" dist="63500" dir="2700000" rotWithShape="0">
              <a:srgbClr val="000000">
                <a:alpha val="50200"/>
              </a:srgbClr>
            </a:outerShdw>
          </a:effectLst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1100"/>
              <a:buFont typeface="Tahoma"/>
              <a:buNone/>
            </a:pPr>
            <a:endParaRPr sz="1100" b="0" i="0" u="none" strike="noStrike" cap="none">
              <a:solidFill>
                <a:srgbClr val="4F81BD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9" name="Google Shape;89;p16"/>
          <p:cNvSpPr txBox="1">
            <a:spLocks noGrp="1"/>
          </p:cNvSpPr>
          <p:nvPr>
            <p:ph type="body" idx="1"/>
          </p:nvPr>
        </p:nvSpPr>
        <p:spPr>
          <a:xfrm>
            <a:off x="565200" y="522958"/>
            <a:ext cx="8034900" cy="2403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it" sz="6000" b="1" dirty="0"/>
            </a:br>
            <a:br>
              <a:rPr lang="it" sz="6000" b="1" dirty="0"/>
            </a:br>
            <a:br>
              <a:rPr lang="it" sz="6000" b="1" dirty="0"/>
            </a:br>
            <a:br>
              <a:rPr lang="it" sz="6000" b="1" dirty="0"/>
            </a:br>
            <a:endParaRPr lang="it-IT" dirty="0"/>
          </a:p>
        </p:txBody>
      </p:sp>
      <p:pic>
        <p:nvPicPr>
          <p:cNvPr id="90" name="Google Shape;90;p16" title="Logo_unifi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225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>
            <a:spLocks noGrp="1"/>
          </p:cNvSpPr>
          <p:nvPr>
            <p:ph type="body" idx="1"/>
          </p:nvPr>
        </p:nvSpPr>
        <p:spPr>
          <a:xfrm>
            <a:off x="565200" y="3204400"/>
            <a:ext cx="8034900" cy="182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200" dirty="0">
                <a:solidFill>
                  <a:srgbClr val="3D85C6"/>
                </a:solidFill>
              </a:rPr>
              <a:t>Contributi della Tesi</a:t>
            </a:r>
            <a:endParaRPr sz="1200" dirty="0">
              <a:solidFill>
                <a:srgbClr val="3D85C6"/>
              </a:solidFill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it" sz="1200" b="1" dirty="0">
                <a:solidFill>
                  <a:schemeClr val="dk1"/>
                </a:solidFill>
              </a:rPr>
              <a:t>Algoritmo Pure Pursuit:</a:t>
            </a:r>
            <a:r>
              <a:rPr lang="it" sz="1200" dirty="0">
                <a:solidFill>
                  <a:schemeClr val="dk1"/>
                </a:solidFill>
              </a:rPr>
              <a:t> Implementazione ed integrazione del controllo di inseguimento della traiettoria nel framework di simulazione. 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it" sz="1200" b="1" dirty="0">
                <a:solidFill>
                  <a:schemeClr val="dk1"/>
                </a:solidFill>
              </a:rPr>
              <a:t>Ambienti Deterministici:</a:t>
            </a:r>
            <a:r>
              <a:rPr lang="it" sz="1200" dirty="0">
                <a:solidFill>
                  <a:schemeClr val="dk1"/>
                </a:solidFill>
              </a:rPr>
              <a:t> Generazione procedurale dei mondi virtuali in funzione diretta della geometria del percorso. 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it" sz="1200" b="1" dirty="0">
                <a:solidFill>
                  <a:schemeClr val="dk1"/>
                </a:solidFill>
              </a:rPr>
              <a:t>Odometria Rumorosa (</a:t>
            </a:r>
            <a:r>
              <a:rPr lang="it" sz="1200" b="1" i="1" dirty="0">
                <a:solidFill>
                  <a:schemeClr val="dk1"/>
                </a:solidFill>
              </a:rPr>
              <a:t>Noisy Odometry</a:t>
            </a:r>
            <a:r>
              <a:rPr lang="it" sz="1200" b="1" dirty="0">
                <a:solidFill>
                  <a:schemeClr val="dk1"/>
                </a:solidFill>
              </a:rPr>
              <a:t>):</a:t>
            </a:r>
            <a:r>
              <a:rPr lang="it" sz="1200" dirty="0">
                <a:solidFill>
                  <a:schemeClr val="dk1"/>
                </a:solidFill>
              </a:rPr>
              <a:t> Modellazione del rumore del sensore odometrico per valutare la robustezza e la stabilità dell'algoritmo in condizioni realistiche. </a:t>
            </a:r>
            <a:endParaRPr sz="6011" dirty="0">
              <a:solidFill>
                <a:schemeClr val="dk1"/>
              </a:solidFill>
            </a:endParaRPr>
          </a:p>
        </p:txBody>
      </p:sp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565200" y="0"/>
            <a:ext cx="8286000" cy="4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12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it" sz="2400" b="1">
                <a:solidFill>
                  <a:srgbClr val="00407F"/>
                </a:solidFill>
                <a:latin typeface="Calibri"/>
                <a:ea typeface="Calibri"/>
                <a:cs typeface="Calibri"/>
                <a:sym typeface="Calibri"/>
              </a:rPr>
              <a:t>Punto di partenza e contributo della tesi</a:t>
            </a:r>
            <a:endParaRPr sz="2700" b="1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5FBA015-BC28-FAA1-EB1A-F44FC8133983}"/>
              </a:ext>
            </a:extLst>
          </p:cNvPr>
          <p:cNvSpPr txBox="1"/>
          <p:nvPr/>
        </p:nvSpPr>
        <p:spPr>
          <a:xfrm>
            <a:off x="565200" y="476399"/>
            <a:ext cx="8145210" cy="25145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it-IT" sz="1200" dirty="0">
                <a:solidFill>
                  <a:srgbClr val="3D85C6"/>
                </a:solidFill>
              </a:rPr>
              <a:t>Modulo Mappatura &amp; Localizzazione</a:t>
            </a:r>
            <a:br>
              <a:rPr lang="it-IT" sz="1200" dirty="0">
                <a:solidFill>
                  <a:srgbClr val="3D85C6"/>
                </a:solidFill>
              </a:rPr>
            </a:br>
            <a:endParaRPr lang="it-IT" sz="1200" dirty="0">
              <a:solidFill>
                <a:srgbClr val="3D85C6"/>
              </a:solidFill>
            </a:endParaRPr>
          </a:p>
          <a:p>
            <a:pPr marL="171450" indent="-171450">
              <a:buChar char="•"/>
            </a:pPr>
            <a:r>
              <a:rPr lang="it-IT" sz="1200" b="1" dirty="0"/>
              <a:t>Simulatore 2D:</a:t>
            </a:r>
            <a:r>
              <a:rPr lang="it-IT" sz="1200" dirty="0"/>
              <a:t> Ambiente virtuale per la cinematica del robot mobile. </a:t>
            </a:r>
          </a:p>
          <a:p>
            <a:pPr marL="171450" indent="-171450">
              <a:buChar char="•"/>
            </a:pPr>
            <a:r>
              <a:rPr lang="it-IT" sz="1200" b="1" dirty="0"/>
              <a:t>Algoritmo ICP (Scan-to-</a:t>
            </a:r>
            <a:r>
              <a:rPr lang="it-IT" sz="1200" b="1" dirty="0" err="1"/>
              <a:t>Map</a:t>
            </a:r>
            <a:r>
              <a:rPr lang="it-IT" sz="1200" b="1" dirty="0"/>
              <a:t>):</a:t>
            </a:r>
            <a:r>
              <a:rPr lang="it-IT" sz="1200" dirty="0"/>
              <a:t> Costruzione e aggiornamento incrementale della mappa tramite </a:t>
            </a:r>
            <a:r>
              <a:rPr lang="it-IT" sz="1200" dirty="0" err="1"/>
              <a:t>LiDAR</a:t>
            </a:r>
            <a:r>
              <a:rPr lang="it-IT" sz="1200" dirty="0"/>
              <a:t>.</a:t>
            </a:r>
          </a:p>
          <a:p>
            <a:pPr marL="171450" indent="-171450">
              <a:buChar char="•"/>
            </a:pPr>
            <a:r>
              <a:rPr lang="it-IT" sz="1200" b="1" dirty="0"/>
              <a:t>Inizializzazione </a:t>
            </a:r>
            <a:r>
              <a:rPr lang="it-IT" sz="1200" b="1" dirty="0" err="1"/>
              <a:t>Odometrica</a:t>
            </a:r>
            <a:r>
              <a:rPr lang="it-IT" sz="1200" b="1" dirty="0"/>
              <a:t>:</a:t>
            </a:r>
            <a:r>
              <a:rPr lang="it-IT" sz="1200" dirty="0"/>
              <a:t> Stima preliminare della posa per velocizzare la convergenza dell'ICP.</a:t>
            </a:r>
          </a:p>
          <a:p>
            <a:br>
              <a:rPr lang="it-IT" sz="1200" dirty="0">
                <a:solidFill>
                  <a:srgbClr val="3D85C6"/>
                </a:solidFill>
              </a:rPr>
            </a:br>
            <a:endParaRPr lang="it-IT" sz="1200" dirty="0">
              <a:solidFill>
                <a:srgbClr val="3D85C6"/>
              </a:solidFill>
            </a:endParaRPr>
          </a:p>
          <a:p>
            <a:r>
              <a:rPr lang="it-IT" sz="1200" dirty="0">
                <a:solidFill>
                  <a:srgbClr val="3D85C6"/>
                </a:solidFill>
              </a:rPr>
              <a:t>Strategie Anti-Drift </a:t>
            </a:r>
          </a:p>
          <a:p>
            <a:endParaRPr lang="it-IT" sz="1200" dirty="0"/>
          </a:p>
          <a:p>
            <a:pPr marL="171450" indent="-171450">
              <a:buChar char="•"/>
            </a:pPr>
            <a:r>
              <a:rPr lang="it-IT" sz="1200" b="1" dirty="0"/>
              <a:t>Criteri di Accettazione:</a:t>
            </a:r>
            <a:r>
              <a:rPr lang="it-IT" sz="1200" dirty="0"/>
              <a:t> Filtraggio degli allineamenti basato su soglie di RMSE e conteggio corrispondenze.</a:t>
            </a:r>
          </a:p>
          <a:p>
            <a:pPr marL="171450" indent="-171450">
              <a:buChar char="•"/>
            </a:pPr>
            <a:r>
              <a:rPr lang="it-IT" sz="1200" b="1" dirty="0"/>
              <a:t>Voxel </a:t>
            </a:r>
            <a:r>
              <a:rPr lang="it-IT" sz="1200" b="1" dirty="0" err="1"/>
              <a:t>Downsampling</a:t>
            </a:r>
            <a:r>
              <a:rPr lang="it-IT" sz="1200" b="1" dirty="0"/>
              <a:t>:</a:t>
            </a:r>
            <a:r>
              <a:rPr lang="it-IT" sz="1200" dirty="0"/>
              <a:t> Contenimento della dimensione della mappa mediante riduzione della densità dei punti.</a:t>
            </a:r>
          </a:p>
          <a:p>
            <a:pPr marL="171450" indent="-171450">
              <a:buChar char="•"/>
            </a:pPr>
            <a:r>
              <a:rPr lang="it-IT" sz="1200" b="1" dirty="0"/>
              <a:t>Loop </a:t>
            </a:r>
            <a:r>
              <a:rPr lang="it-IT" sz="1200" b="1" dirty="0" err="1"/>
              <a:t>Closure</a:t>
            </a:r>
            <a:r>
              <a:rPr lang="it-IT" sz="1200" b="1" dirty="0"/>
              <a:t> (</a:t>
            </a:r>
            <a:r>
              <a:rPr lang="it-IT" sz="1200" b="1" dirty="0" err="1"/>
              <a:t>Keyframe-based</a:t>
            </a:r>
            <a:r>
              <a:rPr lang="it-IT" sz="1200" b="1" dirty="0"/>
              <a:t>):</a:t>
            </a:r>
            <a:r>
              <a:rPr lang="it-IT" sz="1200" dirty="0"/>
              <a:t> Eliminazione del drift e correzione topologica della mappa.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 title="Logo_unifi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44225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565200" y="0"/>
            <a:ext cx="8286000" cy="4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127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 b="1">
                <a:solidFill>
                  <a:srgbClr val="00407F"/>
                </a:solidFill>
                <a:latin typeface="Calibri"/>
                <a:ea typeface="Calibri"/>
                <a:cs typeface="Calibri"/>
                <a:sym typeface="Calibri"/>
              </a:rPr>
              <a:t>Algoritmo di Pure Pursuit</a:t>
            </a:r>
            <a:endParaRPr sz="2700" b="1"/>
          </a:p>
        </p:txBody>
      </p:sp>
      <p:sp>
        <p:nvSpPr>
          <p:cNvPr id="99" name="Google Shape;99;p17"/>
          <p:cNvSpPr txBox="1"/>
          <p:nvPr/>
        </p:nvSpPr>
        <p:spPr>
          <a:xfrm>
            <a:off x="5110625" y="3879925"/>
            <a:ext cx="1902300" cy="10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4619875" y="1601725"/>
            <a:ext cx="4354200" cy="33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dirty="0">
                <a:solidFill>
                  <a:srgbClr val="3D85C6"/>
                </a:solidFill>
              </a:rPr>
              <a:t>Principio di Funzionamento </a:t>
            </a:r>
            <a:endParaRPr sz="1600" dirty="0">
              <a:solidFill>
                <a:srgbClr val="3D85C6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 b="1" dirty="0">
                <a:solidFill>
                  <a:schemeClr val="dk1"/>
                </a:solidFill>
              </a:rPr>
              <a:t>Ricerca del Punto di Mira (</a:t>
            </a:r>
            <a:r>
              <a:rPr lang="it" sz="1600" b="1" i="1" dirty="0">
                <a:solidFill>
                  <a:schemeClr val="dk1"/>
                </a:solidFill>
              </a:rPr>
              <a:t>Lookahead Point</a:t>
            </a:r>
            <a:r>
              <a:rPr lang="it" sz="1600" b="1" dirty="0">
                <a:solidFill>
                  <a:schemeClr val="dk1"/>
                </a:solidFill>
              </a:rPr>
              <a:t>):</a:t>
            </a:r>
            <a:r>
              <a:rPr lang="it" sz="1600" dirty="0">
                <a:solidFill>
                  <a:schemeClr val="dk1"/>
                </a:solidFill>
              </a:rPr>
              <a:t> Individuazione del punto di intersezione tra la traiettoria pianificata e una circonferenza di raggio L</a:t>
            </a:r>
            <a:r>
              <a:rPr lang="it" sz="1300" dirty="0">
                <a:solidFill>
                  <a:schemeClr val="dk1"/>
                </a:solidFill>
              </a:rPr>
              <a:t>d</a:t>
            </a:r>
            <a:r>
              <a:rPr lang="it" sz="1600" dirty="0">
                <a:solidFill>
                  <a:schemeClr val="dk1"/>
                </a:solidFill>
              </a:rPr>
              <a:t> (Lookahead Distance) centrata sul robot. 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 b="1" dirty="0">
                <a:solidFill>
                  <a:schemeClr val="dk1"/>
                </a:solidFill>
              </a:rPr>
              <a:t>Calcolo della Velocità Angolare:</a:t>
            </a:r>
            <a:r>
              <a:rPr lang="it" sz="1600" dirty="0">
                <a:solidFill>
                  <a:schemeClr val="dk1"/>
                </a:solidFill>
              </a:rPr>
              <a:t> Stima della curvatura dell'arco di cerchio necessario a raggiungere il punto di mira e generazione del comando di steering/velocità angolare </a:t>
            </a:r>
            <a:r>
              <a:rPr lang="it" sz="16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ω</a:t>
            </a:r>
            <a:r>
              <a:rPr lang="it" sz="1600" dirty="0">
                <a:solidFill>
                  <a:schemeClr val="dk1"/>
                </a:solidFill>
              </a:rPr>
              <a:t>. 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4817050" y="697550"/>
            <a:ext cx="4354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4619775" y="556625"/>
            <a:ext cx="4354200" cy="9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dirty="0">
                <a:solidFill>
                  <a:srgbClr val="3D85C6"/>
                </a:solidFill>
              </a:rPr>
              <a:t>Obiettivo:</a:t>
            </a:r>
            <a:br>
              <a:rPr lang="it" sz="1600" dirty="0">
                <a:solidFill>
                  <a:schemeClr val="dk2"/>
                </a:solidFill>
              </a:rPr>
            </a:br>
            <a:r>
              <a:rPr lang="it" sz="1600" dirty="0">
                <a:solidFill>
                  <a:schemeClr val="dk1"/>
                </a:solidFill>
              </a:rPr>
              <a:t>Inseguimento cinematico di una traiettoria predefinita.</a:t>
            </a:r>
            <a:endParaRPr sz="1600" dirty="0">
              <a:solidFill>
                <a:schemeClr val="dk1"/>
              </a:solidFill>
            </a:endParaRPr>
          </a:p>
        </p:txBody>
      </p:sp>
      <p:pic>
        <p:nvPicPr>
          <p:cNvPr id="3" name="pista_1_type2_ld0.4_noisy_nolc_presentazione">
            <a:hlinkClick r:id="" action="ppaction://media"/>
            <a:extLst>
              <a:ext uri="{FF2B5EF4-FFF2-40B4-BE49-F238E27FC236}">
                <a16:creationId xmlns:a16="http://schemas.microsoft.com/office/drawing/2014/main" id="{3DBDA954-4DDE-EF38-DC1F-5E6D1CB7AEA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39953" y="920275"/>
            <a:ext cx="4286753" cy="33029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82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8" title="Logo_unifi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225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>
            <a:spLocks noGrp="1"/>
          </p:cNvSpPr>
          <p:nvPr>
            <p:ph type="title"/>
          </p:nvPr>
        </p:nvSpPr>
        <p:spPr>
          <a:xfrm>
            <a:off x="565200" y="0"/>
            <a:ext cx="8286000" cy="4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127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 b="1">
                <a:solidFill>
                  <a:srgbClr val="00407F"/>
                </a:solidFill>
                <a:latin typeface="Calibri"/>
                <a:ea typeface="Calibri"/>
                <a:cs typeface="Calibri"/>
                <a:sym typeface="Calibri"/>
              </a:rPr>
              <a:t>Algoritmo di Pure Pursuit</a:t>
            </a:r>
            <a:endParaRPr sz="27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Google Shape;111;p18"/>
              <p:cNvSpPr txBox="1"/>
              <p:nvPr/>
            </p:nvSpPr>
            <p:spPr>
              <a:xfrm>
                <a:off x="4558377" y="1484225"/>
                <a:ext cx="4354200" cy="28631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dirty="0">
                    <a:solidFill>
                      <a:srgbClr val="3D85C6"/>
                    </a:solidFill>
                  </a:rPr>
                  <a:t>Passi del funzionamento:</a:t>
                </a:r>
                <a:br>
                  <a:rPr lang="it" dirty="0"/>
                </a:br>
                <a:r>
                  <a:rPr lang="it" b="1" dirty="0">
                    <a:solidFill>
                      <a:schemeClr val="dk1"/>
                    </a:solidFill>
                  </a:rPr>
                  <a:t>Orientamento assoluto</a:t>
                </a:r>
                <a:r>
                  <a:rPr lang="it" dirty="0">
                    <a:solidFill>
                      <a:schemeClr val="dk1"/>
                    </a:solidFill>
                  </a:rPr>
                  <a:t> verso il punto di mira (L</a:t>
                </a:r>
                <a:r>
                  <a:rPr lang="it" sz="1100" dirty="0">
                    <a:solidFill>
                      <a:schemeClr val="dk1"/>
                    </a:solidFill>
                  </a:rPr>
                  <a:t>d</a:t>
                </a:r>
                <a:r>
                  <a:rPr lang="it" dirty="0">
                    <a:solidFill>
                      <a:schemeClr val="dk1"/>
                    </a:solidFill>
                  </a:rPr>
                  <a:t>):</a:t>
                </a:r>
              </a:p>
              <a:p>
                <a:br>
                  <a:rPr lang="it" dirty="0">
                    <a:solidFill>
                      <a:schemeClr val="dk1"/>
                    </a:solidFill>
                    <a:latin typeface="Cambria Math" panose="02040503050406030204" pitchFamily="18" charset="0"/>
                  </a:rPr>
                </a:br>
                <a:r>
                  <a:rPr lang="it" dirty="0">
                    <a:solidFill>
                      <a:schemeClr val="dk1"/>
                    </a:solidFill>
                  </a:rPr>
                  <a:t>	</a:t>
                </a:r>
                <a:br>
                  <a:rPr lang="it" dirty="0">
                    <a:solidFill>
                      <a:schemeClr val="dk1"/>
                    </a:solidFill>
                  </a:rPr>
                </a:br>
                <a:r>
                  <a:rPr lang="it-IT" b="1" dirty="0"/>
                  <a:t>Errore di orientamento</a:t>
                </a:r>
                <a:r>
                  <a:rPr lang="it-IT" dirty="0"/>
                  <a:t> (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it-IT" dirty="0"/>
                  <a:t>) riferito al sistema di bordo:</a:t>
                </a:r>
                <a:br>
                  <a:rPr lang="it-IT" dirty="0"/>
                </a:br>
                <a:endParaRPr lang="it-IT" dirty="0"/>
              </a:p>
              <a:p>
                <a:endParaRPr lang="it-IT" dirty="0"/>
              </a:p>
              <a:p>
                <a:r>
                  <a:rPr lang="it-IT" dirty="0"/>
                  <a:t>(Calcolato tramite le funzioni trigonometriche per vincolare l'angolo nell'intervallo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t-IT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it-IT" dirty="0"/>
                  <a:t>)</a:t>
                </a:r>
                <a:br>
                  <a:rPr lang="it-IT" dirty="0"/>
                </a:br>
                <a:br>
                  <a:rPr lang="it-IT" dirty="0"/>
                </a:br>
                <a:r>
                  <a:rPr lang="it-IT" b="1" dirty="0"/>
                  <a:t>Legge di controllo</a:t>
                </a:r>
                <a:r>
                  <a:rPr lang="it-IT" dirty="0"/>
                  <a:t> del Pure </a:t>
                </a:r>
                <a:r>
                  <a:rPr lang="it-IT" dirty="0" err="1"/>
                  <a:t>Pursuit</a:t>
                </a:r>
                <a:r>
                  <a:rPr lang="it-IT" dirty="0"/>
                  <a:t> (calcolo della velocità angolare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it-IT" dirty="0"/>
                  <a:t>):</a:t>
                </a:r>
                <a:br>
                  <a:rPr lang="it-IT" sz="1100" dirty="0"/>
                </a:br>
                <a:br>
                  <a:rPr lang="it" sz="1100" dirty="0">
                    <a:solidFill>
                      <a:schemeClr val="dk1"/>
                    </a:solidFill>
                  </a:rPr>
                </a:br>
                <a:r>
                  <a:rPr lang="it" sz="1100" dirty="0">
                    <a:solidFill>
                      <a:schemeClr val="dk1"/>
                    </a:solidFill>
                  </a:rPr>
                  <a:t> </a:t>
                </a:r>
                <a:br>
                  <a:rPr lang="it" sz="1100" dirty="0"/>
                </a:br>
                <a:endParaRPr sz="1300" dirty="0">
                  <a:solidFill>
                    <a:schemeClr val="dk1"/>
                  </a:solidFill>
                </a:endParaRPr>
              </a:p>
            </p:txBody>
          </p:sp>
        </mc:Choice>
        <mc:Fallback xmlns="">
          <p:sp>
            <p:nvSpPr>
              <p:cNvPr id="111" name="Google Shape;111;p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8377" y="1484225"/>
                <a:ext cx="4354200" cy="2863106"/>
              </a:xfrm>
              <a:prstGeom prst="rect">
                <a:avLst/>
              </a:prstGeom>
              <a:blipFill>
                <a:blip r:embed="rId4"/>
                <a:stretch>
                  <a:fillRect l="-420" b="-383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Google Shape;112;p18"/>
          <p:cNvSpPr txBox="1"/>
          <p:nvPr/>
        </p:nvSpPr>
        <p:spPr>
          <a:xfrm>
            <a:off x="4817050" y="697550"/>
            <a:ext cx="4354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4558377" y="556625"/>
            <a:ext cx="4354200" cy="9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 dirty="0">
                <a:solidFill>
                  <a:srgbClr val="3D85C6"/>
                </a:solidFill>
              </a:rPr>
              <a:t>Obiettivo:</a:t>
            </a:r>
            <a:br>
              <a:rPr lang="it" sz="1600" dirty="0">
                <a:solidFill>
                  <a:schemeClr val="dk2"/>
                </a:solidFill>
              </a:rPr>
            </a:br>
            <a:r>
              <a:rPr lang="it" sz="1600" dirty="0">
                <a:solidFill>
                  <a:schemeClr val="dk1"/>
                </a:solidFill>
              </a:rPr>
              <a:t>Inseguimento cinematico di una traiettoria predefinita.</a:t>
            </a:r>
            <a:endParaRPr sz="1600" dirty="0">
              <a:solidFill>
                <a:schemeClr val="dk1"/>
              </a:solidFill>
            </a:endParaRPr>
          </a:p>
        </p:txBody>
      </p:sp>
      <p:pic>
        <p:nvPicPr>
          <p:cNvPr id="114" name="Google Shape;114;p18" title="llustration-of-Pure-Pursuit-algorithm-principle-Knowing-the-current-robot-location-an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636625"/>
            <a:ext cx="4315075" cy="244158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27F7910E-BD48-9EA3-9C9B-4E8A187A981B}"/>
                  </a:ext>
                </a:extLst>
              </p:cNvPr>
              <p:cNvSpPr txBox="1"/>
              <p:nvPr/>
            </p:nvSpPr>
            <p:spPr>
              <a:xfrm>
                <a:off x="4619775" y="2049190"/>
                <a:ext cx="1843325" cy="2357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m:rPr>
                              <m:sty m:val="p"/>
                            </m:rPr>
                            <a:rPr lang="it-IT" b="0" i="1" smtClean="0">
                              <a:latin typeface="Cambria Math" panose="02040503050406030204" pitchFamily="18" charset="0"/>
                            </a:rPr>
                            <m:t>arget</m:t>
                          </m:r>
                        </m:sub>
                      </m:sSub>
                      <m:r>
                        <a:rPr lang="sv-S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sv-SE" i="0">
                          <a:latin typeface="Cambria Math" panose="02040503050406030204" pitchFamily="18" charset="0"/>
                        </a:rPr>
                        <m:t>atan2</m:t>
                      </m:r>
                      <m:d>
                        <m:d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27F7910E-BD48-9EA3-9C9B-4E8A187A9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775" y="2049190"/>
                <a:ext cx="1843325" cy="235770"/>
              </a:xfrm>
              <a:prstGeom prst="rect">
                <a:avLst/>
              </a:prstGeom>
              <a:blipFill>
                <a:blip r:embed="rId6"/>
                <a:stretch>
                  <a:fillRect l="-1987" b="-256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9D643573-8B8F-1FFF-0A4E-4F765FD94010}"/>
                  </a:ext>
                </a:extLst>
              </p:cNvPr>
              <p:cNvSpPr txBox="1"/>
              <p:nvPr/>
            </p:nvSpPr>
            <p:spPr>
              <a:xfrm>
                <a:off x="4619775" y="2921138"/>
                <a:ext cx="3647217" cy="2511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it-IT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it-IT" i="0">
                          <a:latin typeface="Cambria Math" panose="02040503050406030204" pitchFamily="18" charset="0"/>
                        </a:rPr>
                        <m:t>atan2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i="1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arget</m:t>
                                      </m:r>
                                    </m:sub>
                                  </m:s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,</m:t>
                          </m:r>
                          <m:func>
                            <m:func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i="1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it-IT" b="0" i="1" smtClean="0">
                                          <a:latin typeface="Cambria Math" panose="02040503050406030204" pitchFamily="18" charset="0"/>
                                        </a:rPr>
                                        <m:t>arget</m:t>
                                      </m:r>
                                    </m:sub>
                                  </m:s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9D643573-8B8F-1FFF-0A4E-4F765FD94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775" y="2921138"/>
                <a:ext cx="3647217" cy="251159"/>
              </a:xfrm>
              <a:prstGeom prst="rect">
                <a:avLst/>
              </a:prstGeom>
              <a:blipFill>
                <a:blip r:embed="rId7"/>
                <a:stretch>
                  <a:fillRect l="-167" b="-2439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D305615-1C29-D9B5-3F8D-DD9822BF4040}"/>
                  </a:ext>
                </a:extLst>
              </p:cNvPr>
              <p:cNvSpPr txBox="1"/>
              <p:nvPr/>
            </p:nvSpPr>
            <p:spPr>
              <a:xfrm>
                <a:off x="4619775" y="4461744"/>
                <a:ext cx="1270861" cy="4544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it-IT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it-IT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i="1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1D305615-1C29-D9B5-3F8D-DD9822BF4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775" y="4461744"/>
                <a:ext cx="1270861" cy="454483"/>
              </a:xfrm>
              <a:prstGeom prst="rect">
                <a:avLst/>
              </a:prstGeom>
              <a:blipFill>
                <a:blip r:embed="rId8"/>
                <a:stretch>
                  <a:fillRect l="-1442" b="-810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/>
          <p:nvPr/>
        </p:nvSpPr>
        <p:spPr>
          <a:xfrm>
            <a:off x="4851300" y="540150"/>
            <a:ext cx="3999900" cy="4431900"/>
          </a:xfrm>
          <a:prstGeom prst="roundRect">
            <a:avLst>
              <a:gd name="adj" fmla="val 8685"/>
            </a:avLst>
          </a:prstGeom>
          <a:solidFill>
            <a:srgbClr val="FFFFFF"/>
          </a:solidFill>
          <a:ln w="12700" cap="flat" cmpd="sng">
            <a:solidFill>
              <a:srgbClr val="4F81BD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50800" dist="63500" dir="2700000" rotWithShape="0">
              <a:srgbClr val="000000">
                <a:alpha val="50200"/>
              </a:srgbClr>
            </a:outerShdw>
          </a:effectLst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1100"/>
              <a:buFont typeface="Tahoma"/>
              <a:buNone/>
            </a:pPr>
            <a:endParaRPr sz="1100" b="0" i="0" u="none" strike="noStrike" cap="none">
              <a:solidFill>
                <a:srgbClr val="4F81BD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183050" y="739650"/>
            <a:ext cx="3999900" cy="3598200"/>
          </a:xfrm>
          <a:prstGeom prst="roundRect">
            <a:avLst>
              <a:gd name="adj" fmla="val 8685"/>
            </a:avLst>
          </a:prstGeom>
          <a:solidFill>
            <a:srgbClr val="FFFFFF"/>
          </a:solidFill>
          <a:ln w="12700" cap="flat" cmpd="sng">
            <a:solidFill>
              <a:srgbClr val="4F81BD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50800" dist="63500" dir="2700000" rotWithShape="0">
              <a:srgbClr val="000000">
                <a:alpha val="50200"/>
              </a:srgbClr>
            </a:outerShdw>
          </a:effectLst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1100"/>
              <a:buFont typeface="Tahoma"/>
              <a:buNone/>
            </a:pPr>
            <a:endParaRPr sz="1100" b="0" i="0" u="none" strike="noStrike" cap="none">
              <a:solidFill>
                <a:srgbClr val="4F81BD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21" name="Google Shape;121;p19" title="Logo_unifi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225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565200" y="0"/>
            <a:ext cx="8286000" cy="4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127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 b="1">
                <a:solidFill>
                  <a:srgbClr val="00407F"/>
                </a:solidFill>
                <a:latin typeface="Calibri"/>
                <a:ea typeface="Calibri"/>
                <a:cs typeface="Calibri"/>
                <a:sym typeface="Calibri"/>
              </a:rPr>
              <a:t>Esecuzione degli esperimenti e condizioni di arresto </a:t>
            </a:r>
            <a:endParaRPr sz="2700" b="1"/>
          </a:p>
        </p:txBody>
      </p:sp>
      <p:sp>
        <p:nvSpPr>
          <p:cNvPr id="123" name="Google Shape;123;p19"/>
          <p:cNvSpPr txBox="1"/>
          <p:nvPr/>
        </p:nvSpPr>
        <p:spPr>
          <a:xfrm>
            <a:off x="5110625" y="3879925"/>
            <a:ext cx="1902300" cy="10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406550" y="739650"/>
            <a:ext cx="3552900" cy="35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b="1" dirty="0">
                <a:solidFill>
                  <a:schemeClr val="dk1"/>
                </a:solidFill>
              </a:rPr>
              <a:t>ICP con inizializzazione odometrica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b="1" dirty="0">
                <a:solidFill>
                  <a:schemeClr val="dk1"/>
                </a:solidFill>
              </a:rPr>
              <a:t>gating</a:t>
            </a:r>
            <a:r>
              <a:rPr lang="it" sz="1200" dirty="0">
                <a:solidFill>
                  <a:schemeClr val="dk1"/>
                </a:solidFill>
              </a:rPr>
              <a:t> basato su: 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 b="1" dirty="0">
                <a:solidFill>
                  <a:schemeClr val="dk1"/>
                </a:solidFill>
              </a:rPr>
              <a:t>numero minimo</a:t>
            </a:r>
            <a:r>
              <a:rPr lang="it" sz="1200" dirty="0">
                <a:solidFill>
                  <a:schemeClr val="dk1"/>
                </a:solidFill>
              </a:rPr>
              <a:t> di corrispondenze 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 b="1" dirty="0">
                <a:solidFill>
                  <a:schemeClr val="dk1"/>
                </a:solidFill>
              </a:rPr>
              <a:t>RMSE</a:t>
            </a:r>
            <a:r>
              <a:rPr lang="it" sz="1200" dirty="0">
                <a:solidFill>
                  <a:schemeClr val="dk1"/>
                </a:solidFill>
              </a:rPr>
              <a:t> 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 b="1" dirty="0">
                <a:solidFill>
                  <a:schemeClr val="dk1"/>
                </a:solidFill>
              </a:rPr>
              <a:t>plausibilità fisica</a:t>
            </a:r>
            <a:r>
              <a:rPr lang="it" sz="1200" dirty="0">
                <a:solidFill>
                  <a:schemeClr val="dk1"/>
                </a:solidFill>
              </a:rPr>
              <a:t> della soluzione (soglie posizionali e rotazionali che dipendono dal numero di corrispondenze trovate) </a:t>
            </a:r>
            <a:br>
              <a:rPr lang="it" sz="1200" dirty="0">
                <a:solidFill>
                  <a:schemeClr val="dk1"/>
                </a:solidFill>
              </a:rPr>
            </a:b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b="1" dirty="0">
                <a:solidFill>
                  <a:schemeClr val="dk1"/>
                </a:solidFill>
              </a:rPr>
              <a:t>Loop Closure </a:t>
            </a:r>
            <a:r>
              <a:rPr lang="it" sz="1200" dirty="0">
                <a:solidFill>
                  <a:schemeClr val="dk1"/>
                </a:solidFill>
              </a:rPr>
              <a:t>basato su </a:t>
            </a:r>
            <a:r>
              <a:rPr lang="it" sz="1200" b="1" dirty="0">
                <a:solidFill>
                  <a:schemeClr val="dk1"/>
                </a:solidFill>
              </a:rPr>
              <a:t>Keyframe</a:t>
            </a:r>
            <a:endParaRPr sz="1200" b="1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 b="1" dirty="0">
                <a:solidFill>
                  <a:schemeClr val="dk1"/>
                </a:solidFill>
              </a:rPr>
              <a:t>Tempo di Cooldown:</a:t>
            </a:r>
            <a:r>
              <a:rPr lang="it" sz="1200" dirty="0">
                <a:solidFill>
                  <a:schemeClr val="dk1"/>
                </a:solidFill>
              </a:rPr>
              <a:t> Intervallo di attesa minimo 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b="1" dirty="0">
                <a:solidFill>
                  <a:schemeClr val="dk1"/>
                </a:solidFill>
              </a:rPr>
              <a:t>Gating</a:t>
            </a:r>
            <a:r>
              <a:rPr lang="it" sz="1200" dirty="0">
                <a:solidFill>
                  <a:schemeClr val="dk1"/>
                </a:solidFill>
              </a:rPr>
              <a:t> basato su: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 b="1" dirty="0">
                <a:solidFill>
                  <a:schemeClr val="dk1"/>
                </a:solidFill>
              </a:rPr>
              <a:t>RMSE</a:t>
            </a:r>
            <a:r>
              <a:rPr lang="it" sz="1200" dirty="0">
                <a:solidFill>
                  <a:schemeClr val="dk1"/>
                </a:solidFill>
              </a:rPr>
              <a:t> 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 b="1" dirty="0">
                <a:solidFill>
                  <a:schemeClr val="dk1"/>
                </a:solidFill>
              </a:rPr>
              <a:t>fitness</a:t>
            </a:r>
            <a:r>
              <a:rPr lang="it" sz="1200" dirty="0">
                <a:solidFill>
                  <a:schemeClr val="dk1"/>
                </a:solidFill>
              </a:rPr>
              <a:t> 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 b="1" dirty="0">
                <a:solidFill>
                  <a:schemeClr val="dk1"/>
                </a:solidFill>
              </a:rPr>
              <a:t>valori massimi di correzione</a:t>
            </a:r>
            <a:r>
              <a:rPr lang="it" sz="1200" dirty="0">
                <a:solidFill>
                  <a:schemeClr val="dk1"/>
                </a:solidFill>
              </a:rPr>
              <a:t> in termini di posizione e rotazione 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5119200" y="540025"/>
            <a:ext cx="3464100" cy="4431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dirty="0">
                <a:solidFill>
                  <a:srgbClr val="3D85C6"/>
                </a:solidFill>
              </a:rPr>
              <a:t>Pure Pursuit:</a:t>
            </a:r>
            <a:br>
              <a:rPr lang="it" sz="1200" dirty="0">
                <a:solidFill>
                  <a:schemeClr val="dk2"/>
                </a:solidFill>
              </a:rPr>
            </a:br>
            <a:endParaRPr sz="1200" dirty="0">
              <a:solidFill>
                <a:schemeClr val="dk2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it" sz="1200" b="1" dirty="0">
                <a:solidFill>
                  <a:schemeClr val="dk1"/>
                </a:solidFill>
              </a:rPr>
              <a:t>Finestra di Ricerca (</a:t>
            </a:r>
            <a:r>
              <a:rPr lang="it" sz="1200" b="1" i="1" dirty="0">
                <a:solidFill>
                  <a:schemeClr val="dk1"/>
                </a:solidFill>
              </a:rPr>
              <a:t>Search Window</a:t>
            </a:r>
            <a:r>
              <a:rPr lang="it" sz="1200" b="1" dirty="0">
                <a:solidFill>
                  <a:schemeClr val="dk1"/>
                </a:solidFill>
              </a:rPr>
              <a:t>):</a:t>
            </a:r>
            <a:r>
              <a:rPr lang="it" sz="1200" dirty="0">
                <a:solidFill>
                  <a:schemeClr val="dk1"/>
                </a:solidFill>
              </a:rPr>
              <a:t> Riduzione del campo di ricerca del punto di mira per prevenire il taglio delle curve e scorciatoie indebite sul percorso. 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dirty="0">
                <a:solidFill>
                  <a:srgbClr val="3D85C6"/>
                </a:solidFill>
              </a:rPr>
              <a:t>Criteri di Terminazione:</a:t>
            </a:r>
            <a:br>
              <a:rPr lang="it" sz="1200" dirty="0">
                <a:solidFill>
                  <a:schemeClr val="dk1"/>
                </a:solidFill>
              </a:rPr>
            </a:b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 b="1" dirty="0">
                <a:solidFill>
                  <a:schemeClr val="dk1"/>
                </a:solidFill>
              </a:rPr>
              <a:t>Tolleranza di Arresto (</a:t>
            </a:r>
            <a:r>
              <a:rPr lang="it" sz="1200" b="1" i="1" dirty="0">
                <a:solidFill>
                  <a:schemeClr val="dk1"/>
                </a:solidFill>
              </a:rPr>
              <a:t>Stop Tolerance</a:t>
            </a:r>
            <a:r>
              <a:rPr lang="it" sz="1200" b="1" dirty="0">
                <a:solidFill>
                  <a:schemeClr val="dk1"/>
                </a:solidFill>
              </a:rPr>
              <a:t>):</a:t>
            </a:r>
            <a:r>
              <a:rPr lang="it" sz="1200" dirty="0">
                <a:solidFill>
                  <a:schemeClr val="dk1"/>
                </a:solidFill>
              </a:rPr>
              <a:t> 0,1m dal punto finale del percorso. 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 b="1" dirty="0">
                <a:solidFill>
                  <a:schemeClr val="dk1"/>
                </a:solidFill>
              </a:rPr>
              <a:t>Gap Indice Massimo (</a:t>
            </a:r>
            <a:r>
              <a:rPr lang="it" sz="1200" b="1" i="1" dirty="0">
                <a:solidFill>
                  <a:schemeClr val="dk1"/>
                </a:solidFill>
              </a:rPr>
              <a:t>Max Index Gap</a:t>
            </a:r>
            <a:r>
              <a:rPr lang="it" sz="1200" b="1" dirty="0">
                <a:solidFill>
                  <a:schemeClr val="dk1"/>
                </a:solidFill>
              </a:rPr>
              <a:t>):</a:t>
            </a:r>
            <a:r>
              <a:rPr lang="it" sz="1200" dirty="0">
                <a:solidFill>
                  <a:schemeClr val="dk1"/>
                </a:solidFill>
              </a:rPr>
              <a:t> Impedisce arresti prematuri quando il robot transita vicino al traguardo prima di aver completato il percorso. 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 b="1" dirty="0">
                <a:solidFill>
                  <a:schemeClr val="dk1"/>
                </a:solidFill>
              </a:rPr>
              <a:t>Distanza Minima di Allontanamento (</a:t>
            </a:r>
            <a:r>
              <a:rPr lang="it" sz="1200" b="1" i="1" dirty="0">
                <a:solidFill>
                  <a:schemeClr val="dk1"/>
                </a:solidFill>
              </a:rPr>
              <a:t>Min Leave Distance</a:t>
            </a:r>
            <a:r>
              <a:rPr lang="it" sz="1200" b="1" dirty="0">
                <a:solidFill>
                  <a:schemeClr val="dk1"/>
                </a:solidFill>
              </a:rPr>
              <a:t>):</a:t>
            </a:r>
            <a:r>
              <a:rPr lang="it" sz="1200" dirty="0">
                <a:solidFill>
                  <a:schemeClr val="dk1"/>
                </a:solidFill>
              </a:rPr>
              <a:t> Evita che la prova termini subito se il robot parte già vicino al traguardo. 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 b="1" dirty="0">
                <a:solidFill>
                  <a:schemeClr val="dk1"/>
                </a:solidFill>
              </a:rPr>
              <a:t>Numero Massimo di Passi:</a:t>
            </a:r>
            <a:r>
              <a:rPr lang="it" sz="1200" dirty="0">
                <a:solidFill>
                  <a:schemeClr val="dk1"/>
                </a:solidFill>
              </a:rPr>
              <a:t> 7000 iterazioni per limitare il tempo di simulazione ed evitare loop infiniti. </a:t>
            </a: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0" title="Logo_unifi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225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>
            <a:spLocks noGrp="1"/>
          </p:cNvSpPr>
          <p:nvPr>
            <p:ph type="title"/>
          </p:nvPr>
        </p:nvSpPr>
        <p:spPr>
          <a:xfrm>
            <a:off x="565200" y="0"/>
            <a:ext cx="8286000" cy="4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127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 b="1">
                <a:solidFill>
                  <a:srgbClr val="00407F"/>
                </a:solidFill>
                <a:latin typeface="Calibri"/>
                <a:ea typeface="Calibri"/>
                <a:cs typeface="Calibri"/>
                <a:sym typeface="Calibri"/>
              </a:rPr>
              <a:t>Percorsi predefiniti</a:t>
            </a:r>
            <a:endParaRPr sz="2700" b="1"/>
          </a:p>
        </p:txBody>
      </p:sp>
      <p:sp>
        <p:nvSpPr>
          <p:cNvPr id="132" name="Google Shape;132;p20"/>
          <p:cNvSpPr txBox="1"/>
          <p:nvPr/>
        </p:nvSpPr>
        <p:spPr>
          <a:xfrm>
            <a:off x="5110625" y="3879925"/>
            <a:ext cx="1902300" cy="10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62513" y="533763"/>
            <a:ext cx="3388200" cy="17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t" sz="1300" dirty="0">
                <a:solidFill>
                  <a:schemeClr val="dk1"/>
                </a:solidFill>
              </a:rPr>
              <a:t>Valutazione dell'algoritmo su </a:t>
            </a:r>
            <a:r>
              <a:rPr lang="it" sz="1300" b="1" dirty="0">
                <a:solidFill>
                  <a:schemeClr val="dk1"/>
                </a:solidFill>
              </a:rPr>
              <a:t>12 percorsi predefiniti</a:t>
            </a:r>
            <a:r>
              <a:rPr lang="it" sz="1300" dirty="0">
                <a:solidFill>
                  <a:schemeClr val="dk1"/>
                </a:solidFill>
              </a:rPr>
              <a:t> differenti per geometria e complessità. 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 dirty="0">
                <a:solidFill>
                  <a:srgbClr val="1F1F1F"/>
                </a:solidFill>
                <a:highlight>
                  <a:srgbClr val="FDFCFC"/>
                </a:highlight>
              </a:rPr>
              <a:t>Percorsi di test</a:t>
            </a:r>
            <a:endParaRPr sz="1300" dirty="0">
              <a:solidFill>
                <a:srgbClr val="1F1F1F"/>
              </a:solidFill>
              <a:highlight>
                <a:srgbClr val="FDFCFC"/>
              </a:highlight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Char char="●"/>
            </a:pPr>
            <a:r>
              <a:rPr lang="it" sz="1300" b="1" dirty="0">
                <a:solidFill>
                  <a:srgbClr val="1F1F1F"/>
                </a:solidFill>
                <a:highlight>
                  <a:srgbClr val="FDFCFC"/>
                </a:highlight>
              </a:rPr>
              <a:t>percorsi standard</a:t>
            </a:r>
            <a:r>
              <a:rPr lang="it" sz="1300" dirty="0">
                <a:solidFill>
                  <a:srgbClr val="1F1F1F"/>
                </a:solidFill>
                <a:highlight>
                  <a:srgbClr val="FDFCFC"/>
                </a:highlight>
              </a:rPr>
              <a:t> (rettilinei, circonferenze, traiettorie ad otto e slalom)</a:t>
            </a:r>
            <a:endParaRPr sz="1300" dirty="0">
              <a:solidFill>
                <a:srgbClr val="1F1F1F"/>
              </a:solidFill>
              <a:highlight>
                <a:srgbClr val="FDFCFC"/>
              </a:highlight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300" b="1" dirty="0">
                <a:solidFill>
                  <a:srgbClr val="1F1F1F"/>
                </a:solidFill>
                <a:highlight>
                  <a:srgbClr val="FDFCFC"/>
                </a:highlight>
              </a:rPr>
              <a:t>percorsi complessi</a:t>
            </a:r>
            <a:r>
              <a:rPr lang="it" sz="1300" dirty="0">
                <a:solidFill>
                  <a:srgbClr val="1F1F1F"/>
                </a:solidFill>
                <a:highlight>
                  <a:srgbClr val="FDFCF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300" dirty="0">
                <a:solidFill>
                  <a:srgbClr val="1F1F1F"/>
                </a:solidFill>
                <a:highlight>
                  <a:srgbClr val="FDFCFC"/>
                </a:highlight>
              </a:rPr>
              <a:t>(scenari</a:t>
            </a:r>
            <a:r>
              <a:rPr lang="it" sz="1300" dirty="0">
                <a:solidFill>
                  <a:srgbClr val="1F1F1F"/>
                </a:solidFill>
                <a:highlight>
                  <a:srgbClr val="FDFCF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it" sz="1300" dirty="0">
                <a:solidFill>
                  <a:srgbClr val="1F1F1F"/>
                </a:solidFill>
                <a:highlight>
                  <a:srgbClr val="FDFCFC"/>
                </a:highlight>
              </a:rPr>
              <a:t>critici)</a:t>
            </a:r>
            <a:r>
              <a:rPr lang="it" sz="1100" dirty="0">
                <a:solidFill>
                  <a:schemeClr val="dk1"/>
                </a:solidFill>
              </a:rPr>
              <a:t> 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</p:txBody>
      </p:sp>
      <p:pic>
        <p:nvPicPr>
          <p:cNvPr id="134" name="Google Shape;134;p20" title="path_straight_lo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5263" y="263675"/>
            <a:ext cx="2642100" cy="1591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0" title="path_circle_mediu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9675" y="3539035"/>
            <a:ext cx="1378026" cy="1453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0" title="path_eigh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99938" y="389677"/>
            <a:ext cx="2151251" cy="176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0" title="path_pista_2.png"/>
          <p:cNvPicPr preferRelativeResize="0"/>
          <p:nvPr/>
        </p:nvPicPr>
        <p:blipFill rotWithShape="1">
          <a:blip r:embed="rId7">
            <a:alphaModFix/>
          </a:blip>
          <a:srcRect l="121224" t="107411" r="-128636" b="-114823"/>
          <a:stretch/>
        </p:blipFill>
        <p:spPr>
          <a:xfrm>
            <a:off x="6291588" y="3351500"/>
            <a:ext cx="2559625" cy="162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0" title="path_tight_slalo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59400" y="1717139"/>
            <a:ext cx="2232350" cy="1448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 title="path_squar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84287" y="3286200"/>
            <a:ext cx="1587750" cy="175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 title="path_pista_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72101" y="1666300"/>
            <a:ext cx="2448428" cy="155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0" title="path_contapassi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98600" y="3490688"/>
            <a:ext cx="1587750" cy="155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 title="path_pista_3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012924" y="3470149"/>
            <a:ext cx="1999126" cy="159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 title="path_wide_slalom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70875" y="2296575"/>
            <a:ext cx="1587751" cy="123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1" title="Logo_unifi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225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1"/>
          <p:cNvSpPr txBox="1">
            <a:spLocks noGrp="1"/>
          </p:cNvSpPr>
          <p:nvPr>
            <p:ph type="title"/>
          </p:nvPr>
        </p:nvSpPr>
        <p:spPr>
          <a:xfrm>
            <a:off x="565200" y="0"/>
            <a:ext cx="8286000" cy="4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127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 b="1">
                <a:solidFill>
                  <a:srgbClr val="00407F"/>
                </a:solidFill>
                <a:latin typeface="Calibri"/>
                <a:ea typeface="Calibri"/>
                <a:cs typeface="Calibri"/>
                <a:sym typeface="Calibri"/>
              </a:rPr>
              <a:t>Percorsi predefiniti tipologie ambienti</a:t>
            </a:r>
            <a:endParaRPr sz="2700" b="1"/>
          </a:p>
        </p:txBody>
      </p:sp>
      <p:sp>
        <p:nvSpPr>
          <p:cNvPr id="150" name="Google Shape;150;p21"/>
          <p:cNvSpPr txBox="1"/>
          <p:nvPr/>
        </p:nvSpPr>
        <p:spPr>
          <a:xfrm>
            <a:off x="5110625" y="3879925"/>
            <a:ext cx="1902300" cy="10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166750" y="662325"/>
            <a:ext cx="2642100" cy="28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 b="1">
                <a:solidFill>
                  <a:schemeClr val="dk1"/>
                </a:solidFill>
              </a:rPr>
              <a:t>3 configurazioni</a:t>
            </a:r>
            <a:r>
              <a:rPr lang="it" sz="1300">
                <a:solidFill>
                  <a:schemeClr val="dk1"/>
                </a:solidFill>
              </a:rPr>
              <a:t> di ostacoli 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t" sz="1300">
                <a:solidFill>
                  <a:schemeClr val="dk1"/>
                </a:solidFill>
              </a:rPr>
              <a:t>Tipo 1: Nessun Ostacolo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t" sz="1300">
                <a:solidFill>
                  <a:schemeClr val="dk1"/>
                </a:solidFill>
              </a:rPr>
              <a:t>Tipo 2: Pochi Ostacoli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t" sz="1300">
                <a:solidFill>
                  <a:schemeClr val="dk1"/>
                </a:solidFill>
              </a:rPr>
              <a:t>Tipo 3: Molti Ostacoli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 b="1">
                <a:solidFill>
                  <a:schemeClr val="dk1"/>
                </a:solidFill>
              </a:rPr>
              <a:t>Clearance:</a:t>
            </a:r>
            <a:r>
              <a:rPr lang="it" sz="1300">
                <a:solidFill>
                  <a:schemeClr val="dk1"/>
                </a:solidFill>
              </a:rPr>
              <a:t> Distanza minima tra l'ostacolo e il percorso pianificato. 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 b="1">
                <a:solidFill>
                  <a:schemeClr val="dk1"/>
                </a:solidFill>
              </a:rPr>
              <a:t>Tipologie di Ostacoli:</a:t>
            </a:r>
            <a:r>
              <a:rPr lang="it" sz="1300">
                <a:solidFill>
                  <a:schemeClr val="dk1"/>
                </a:solidFill>
              </a:rPr>
              <a:t> circolari, rettangolari, poligonal</a:t>
            </a:r>
            <a:r>
              <a:rPr lang="it">
                <a:solidFill>
                  <a:schemeClr val="dk1"/>
                </a:solidFill>
              </a:rPr>
              <a:t>i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L’</a:t>
            </a:r>
            <a:r>
              <a:rPr lang="it" sz="1300" b="1">
                <a:solidFill>
                  <a:schemeClr val="dk1"/>
                </a:solidFill>
              </a:rPr>
              <a:t>ampiezza massima</a:t>
            </a:r>
            <a:r>
              <a:rPr lang="it" sz="1300">
                <a:solidFill>
                  <a:schemeClr val="dk1"/>
                </a:solidFill>
              </a:rPr>
              <a:t> del raggio LiDAR (r_max) varia in base all'ambiente. 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52" name="Google Shape;152;p21" title="path_straight_shor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875" y="3307150"/>
            <a:ext cx="2553675" cy="1703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1" title="path_straight_short_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7038" y="3317187"/>
            <a:ext cx="2553676" cy="1683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1" title="path_straight_short_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31225" y="3324513"/>
            <a:ext cx="2553676" cy="1669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1" title="path_circle_larg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32750" y="600675"/>
            <a:ext cx="1902300" cy="1962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1" title="path_circle_large_2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57675" y="585788"/>
            <a:ext cx="1902300" cy="199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1" title="path_circle_large_3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82600" y="539637"/>
            <a:ext cx="1902300" cy="2084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2" title="Logo_unifi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225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2"/>
          <p:cNvSpPr txBox="1">
            <a:spLocks noGrp="1"/>
          </p:cNvSpPr>
          <p:nvPr>
            <p:ph type="title"/>
          </p:nvPr>
        </p:nvSpPr>
        <p:spPr>
          <a:xfrm>
            <a:off x="565200" y="0"/>
            <a:ext cx="8286000" cy="4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127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 b="1">
                <a:solidFill>
                  <a:srgbClr val="00407F"/>
                </a:solidFill>
                <a:latin typeface="Calibri"/>
                <a:ea typeface="Calibri"/>
                <a:cs typeface="Calibri"/>
                <a:sym typeface="Calibri"/>
              </a:rPr>
              <a:t>Tipologie di esperimenti effetuati </a:t>
            </a:r>
            <a:endParaRPr sz="2700" b="1"/>
          </a:p>
        </p:txBody>
      </p:sp>
      <p:sp>
        <p:nvSpPr>
          <p:cNvPr id="164" name="Google Shape;164;p22"/>
          <p:cNvSpPr txBox="1"/>
          <p:nvPr/>
        </p:nvSpPr>
        <p:spPr>
          <a:xfrm>
            <a:off x="5110625" y="3879925"/>
            <a:ext cx="1902300" cy="10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442250" y="575550"/>
            <a:ext cx="3400200" cy="19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 dirty="0">
                <a:solidFill>
                  <a:srgbClr val="3D85C6"/>
                </a:solidFill>
              </a:rPr>
              <a:t>Parametri di Configurazione:</a:t>
            </a:r>
            <a:endParaRPr sz="1300" dirty="0">
              <a:solidFill>
                <a:srgbClr val="3D85C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 b="1" dirty="0">
                <a:solidFill>
                  <a:schemeClr val="dk1"/>
                </a:solidFill>
              </a:rPr>
              <a:t>Modello Odometrico:</a:t>
            </a:r>
            <a:r>
              <a:rPr lang="it" sz="1300" dirty="0">
                <a:solidFill>
                  <a:schemeClr val="dk1"/>
                </a:solidFill>
              </a:rPr>
              <a:t> Confronto tra odometria </a:t>
            </a:r>
            <a:r>
              <a:rPr lang="it" sz="1300" b="1" dirty="0">
                <a:solidFill>
                  <a:schemeClr val="dk1"/>
                </a:solidFill>
              </a:rPr>
              <a:t>ideale</a:t>
            </a:r>
            <a:r>
              <a:rPr lang="it" sz="1300" dirty="0">
                <a:solidFill>
                  <a:schemeClr val="dk1"/>
                </a:solidFill>
              </a:rPr>
              <a:t> (senza errore) e </a:t>
            </a:r>
            <a:r>
              <a:rPr lang="it" sz="1300" b="1" dirty="0">
                <a:solidFill>
                  <a:schemeClr val="dk1"/>
                </a:solidFill>
              </a:rPr>
              <a:t>rumorosa</a:t>
            </a:r>
            <a:r>
              <a:rPr lang="it" sz="1300" dirty="0">
                <a:solidFill>
                  <a:schemeClr val="dk1"/>
                </a:solidFill>
              </a:rPr>
              <a:t> (con rumore di misura). 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 b="1" dirty="0">
                <a:solidFill>
                  <a:schemeClr val="dk1"/>
                </a:solidFill>
              </a:rPr>
              <a:t>Utilizzo Loop Closure:</a:t>
            </a:r>
            <a:r>
              <a:rPr lang="it" sz="1300" dirty="0">
                <a:solidFill>
                  <a:schemeClr val="dk1"/>
                </a:solidFill>
              </a:rPr>
              <a:t> Valutazione delle prestazioni con e senza </a:t>
            </a:r>
            <a:r>
              <a:rPr lang="it" sz="1300" b="1" dirty="0">
                <a:solidFill>
                  <a:schemeClr val="dk1"/>
                </a:solidFill>
              </a:rPr>
              <a:t>Loop Closure</a:t>
            </a:r>
            <a:r>
              <a:rPr lang="it" sz="1300" dirty="0">
                <a:solidFill>
                  <a:schemeClr val="dk1"/>
                </a:solidFill>
              </a:rPr>
              <a:t>. 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 b="1" dirty="0">
                <a:solidFill>
                  <a:schemeClr val="dk1"/>
                </a:solidFill>
              </a:rPr>
              <a:t>Distanza di Look-Ahead (L</a:t>
            </a:r>
            <a:r>
              <a:rPr lang="it" sz="1000" b="1" dirty="0">
                <a:solidFill>
                  <a:schemeClr val="dk1"/>
                </a:solidFill>
              </a:rPr>
              <a:t>d</a:t>
            </a:r>
            <a:r>
              <a:rPr lang="it" sz="1300" b="1" dirty="0">
                <a:solidFill>
                  <a:schemeClr val="dk1"/>
                </a:solidFill>
              </a:rPr>
              <a:t>):</a:t>
            </a:r>
            <a:r>
              <a:rPr lang="it" sz="1300" dirty="0">
                <a:solidFill>
                  <a:schemeClr val="dk1"/>
                </a:solidFill>
              </a:rPr>
              <a:t> Analisi parametrica impostata su tre valori: </a:t>
            </a:r>
            <a:r>
              <a:rPr lang="it" sz="1300" b="1" dirty="0">
                <a:solidFill>
                  <a:schemeClr val="dk1"/>
                </a:solidFill>
              </a:rPr>
              <a:t>0,2 m</a:t>
            </a:r>
            <a:r>
              <a:rPr lang="it" sz="1300" dirty="0">
                <a:solidFill>
                  <a:schemeClr val="dk1"/>
                </a:solidFill>
              </a:rPr>
              <a:t>, </a:t>
            </a:r>
            <a:r>
              <a:rPr lang="it" sz="1300" b="1" dirty="0">
                <a:solidFill>
                  <a:schemeClr val="dk1"/>
                </a:solidFill>
              </a:rPr>
              <a:t>0,4 m</a:t>
            </a:r>
            <a:r>
              <a:rPr lang="it" sz="1300" dirty="0">
                <a:solidFill>
                  <a:schemeClr val="dk1"/>
                </a:solidFill>
              </a:rPr>
              <a:t> e </a:t>
            </a:r>
            <a:r>
              <a:rPr lang="it" sz="1300" b="1" dirty="0">
                <a:solidFill>
                  <a:schemeClr val="dk1"/>
                </a:solidFill>
              </a:rPr>
              <a:t>0,6 m</a:t>
            </a:r>
            <a:r>
              <a:rPr lang="it" sz="1300" dirty="0">
                <a:solidFill>
                  <a:schemeClr val="dk1"/>
                </a:solidFill>
              </a:rPr>
              <a:t>. 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</p:txBody>
      </p:sp>
      <p:pic>
        <p:nvPicPr>
          <p:cNvPr id="166" name="Google Shape;166;p22" title="straight_long_type1_ld0.2_1_Odometria_Ideale_No_LC_completa_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0550" y="575551"/>
            <a:ext cx="2619135" cy="2095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 title="straight_long_type1_ld0.2_4_Odometria_Rumorosa_Con_LC_completa_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9925" y="575551"/>
            <a:ext cx="2619126" cy="209528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2"/>
          <p:cNvSpPr txBox="1"/>
          <p:nvPr/>
        </p:nvSpPr>
        <p:spPr>
          <a:xfrm>
            <a:off x="442250" y="2670902"/>
            <a:ext cx="45915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3D85C6"/>
                </a:solidFill>
              </a:rPr>
              <a:t>Metriche di valutazione: </a:t>
            </a:r>
            <a:endParaRPr sz="1300">
              <a:solidFill>
                <a:srgbClr val="3D85C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t" sz="1300" b="1">
                <a:solidFill>
                  <a:schemeClr val="dk1"/>
                </a:solidFill>
              </a:rPr>
              <a:t>Errore medio:</a:t>
            </a:r>
            <a:r>
              <a:rPr lang="it" sz="1300">
                <a:solidFill>
                  <a:schemeClr val="dk1"/>
                </a:solidFill>
              </a:rPr>
              <a:t> media aritmetica degli scostamenti geometrici istantanei lungo il percorso. 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t" sz="1300" b="1">
                <a:solidFill>
                  <a:schemeClr val="dk1"/>
                </a:solidFill>
              </a:rPr>
              <a:t>Errore cumulato totale:</a:t>
            </a:r>
            <a:r>
              <a:rPr lang="it" sz="1300">
                <a:solidFill>
                  <a:schemeClr val="dk1"/>
                </a:solidFill>
              </a:rPr>
              <a:t> somma complessiva delle deviazioni istantanee. 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it" sz="1300" b="1">
                <a:solidFill>
                  <a:schemeClr val="dk1"/>
                </a:solidFill>
              </a:rPr>
              <a:t>Numero totale di passi di simulazione:</a:t>
            </a:r>
            <a:r>
              <a:rPr lang="it" sz="1300">
                <a:solidFill>
                  <a:schemeClr val="dk1"/>
                </a:solidFill>
              </a:rPr>
              <a:t> per valutare la durata della prova. </a:t>
            </a:r>
            <a:endParaRPr sz="130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it" sz="1300" b="1">
                <a:solidFill>
                  <a:schemeClr val="dk1"/>
                </a:solidFill>
              </a:rPr>
              <a:t>Profilo della traiettoria</a:t>
            </a:r>
            <a:r>
              <a:rPr lang="it" sz="1300">
                <a:solidFill>
                  <a:schemeClr val="dk1"/>
                </a:solidFill>
              </a:rPr>
              <a:t> effettivamente seguita dal veicolo. </a:t>
            </a:r>
            <a:br>
              <a:rPr lang="it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it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</p:txBody>
      </p:sp>
      <p:pic>
        <p:nvPicPr>
          <p:cNvPr id="169" name="Google Shape;169;p22" title="straight_long_type1_ld0.2_riepilogo_media_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10625" y="2721925"/>
            <a:ext cx="3940701" cy="2364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3" title="Logo_unifi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225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3"/>
          <p:cNvSpPr txBox="1">
            <a:spLocks noGrp="1"/>
          </p:cNvSpPr>
          <p:nvPr>
            <p:ph type="title"/>
          </p:nvPr>
        </p:nvSpPr>
        <p:spPr>
          <a:xfrm>
            <a:off x="565200" y="0"/>
            <a:ext cx="8286000" cy="4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127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 b="1">
                <a:solidFill>
                  <a:srgbClr val="00407F"/>
                </a:solidFill>
                <a:latin typeface="Calibri"/>
                <a:ea typeface="Calibri"/>
                <a:cs typeface="Calibri"/>
                <a:sym typeface="Calibri"/>
              </a:rPr>
              <a:t>Esperimento </a:t>
            </a:r>
            <a:r>
              <a:rPr lang="it" sz="2400" b="1" i="1">
                <a:solidFill>
                  <a:srgbClr val="00407F"/>
                </a:solidFill>
                <a:latin typeface="Calibri"/>
                <a:ea typeface="Calibri"/>
                <a:cs typeface="Calibri"/>
                <a:sym typeface="Calibri"/>
              </a:rPr>
              <a:t>contapassi</a:t>
            </a:r>
            <a:endParaRPr sz="2700" b="1" i="1"/>
          </a:p>
        </p:txBody>
      </p:sp>
      <p:sp>
        <p:nvSpPr>
          <p:cNvPr id="176" name="Google Shape;176;p23"/>
          <p:cNvSpPr txBox="1"/>
          <p:nvPr/>
        </p:nvSpPr>
        <p:spPr>
          <a:xfrm>
            <a:off x="5110625" y="3879925"/>
            <a:ext cx="1902300" cy="10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177" name="Google Shape;177;p23" title="contapassi_type1_ld0.2_riepilogo_media_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5300" y="2999663"/>
            <a:ext cx="3287124" cy="1972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3" title="contapassi_type1_ld0.6_riepilogo_media_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2425" y="2999663"/>
            <a:ext cx="3287124" cy="1972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3" title="contapassi_type1_0.2_ideale_no_loop_macchin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87439" y="194300"/>
            <a:ext cx="2192319" cy="248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3" title="contapassi_type1_0.6_ideale_no_loop_macchina_2_copia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78758" y="194300"/>
            <a:ext cx="2192319" cy="24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3"/>
          <p:cNvSpPr txBox="1"/>
          <p:nvPr/>
        </p:nvSpPr>
        <p:spPr>
          <a:xfrm>
            <a:off x="225350" y="476400"/>
            <a:ext cx="3863700" cy="22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dirty="0">
                <a:solidFill>
                  <a:schemeClr val="dk1"/>
                </a:solidFill>
              </a:rPr>
              <a:t>Analisi del comportamento del robot al variare della distanza di look-ahead. </a:t>
            </a:r>
            <a:br>
              <a:rPr lang="it" sz="1200" dirty="0">
                <a:solidFill>
                  <a:schemeClr val="dk1"/>
                </a:solidFill>
              </a:rPr>
            </a:br>
            <a:r>
              <a:rPr lang="it" sz="1200" dirty="0">
                <a:solidFill>
                  <a:schemeClr val="dk1"/>
                </a:solidFill>
              </a:rPr>
              <a:t>All'</a:t>
            </a:r>
            <a:r>
              <a:rPr lang="it" sz="1200" b="1" dirty="0">
                <a:solidFill>
                  <a:schemeClr val="dk1"/>
                </a:solidFill>
              </a:rPr>
              <a:t>aumentare</a:t>
            </a:r>
            <a:r>
              <a:rPr lang="it" sz="1200" dirty="0">
                <a:solidFill>
                  <a:schemeClr val="dk1"/>
                </a:solidFill>
              </a:rPr>
              <a:t> della distanza di </a:t>
            </a:r>
            <a:r>
              <a:rPr lang="it" sz="1200" b="1" dirty="0">
                <a:solidFill>
                  <a:schemeClr val="dk1"/>
                </a:solidFill>
              </a:rPr>
              <a:t>look-ahead</a:t>
            </a:r>
            <a:r>
              <a:rPr lang="it" sz="1200" dirty="0">
                <a:solidFill>
                  <a:schemeClr val="dk1"/>
                </a:solidFill>
              </a:rPr>
              <a:t>: </a:t>
            </a:r>
            <a:br>
              <a:rPr lang="it" sz="1200" dirty="0">
                <a:solidFill>
                  <a:schemeClr val="dk1"/>
                </a:solidFill>
              </a:rPr>
            </a:b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 b="1" dirty="0">
                <a:solidFill>
                  <a:schemeClr val="dk1"/>
                </a:solidFill>
              </a:rPr>
              <a:t>Anticipo/taglio</a:t>
            </a:r>
            <a:r>
              <a:rPr lang="it" sz="1200" dirty="0">
                <a:solidFill>
                  <a:schemeClr val="dk1"/>
                </a:solidFill>
              </a:rPr>
              <a:t> delle curve. 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 b="1" dirty="0">
                <a:solidFill>
                  <a:schemeClr val="dk1"/>
                </a:solidFill>
              </a:rPr>
              <a:t>Riduzione</a:t>
            </a:r>
            <a:r>
              <a:rPr lang="it" sz="1200" dirty="0">
                <a:solidFill>
                  <a:schemeClr val="dk1"/>
                </a:solidFill>
              </a:rPr>
              <a:t> del numero di </a:t>
            </a:r>
            <a:r>
              <a:rPr lang="it" sz="1200" b="1" dirty="0">
                <a:solidFill>
                  <a:schemeClr val="dk1"/>
                </a:solidFill>
              </a:rPr>
              <a:t>passi</a:t>
            </a:r>
            <a:r>
              <a:rPr lang="it" sz="1200" dirty="0">
                <a:solidFill>
                  <a:schemeClr val="dk1"/>
                </a:solidFill>
              </a:rPr>
              <a:t> necessari per completare il percorso. 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it" sz="1200" b="1" dirty="0">
                <a:solidFill>
                  <a:schemeClr val="dk1"/>
                </a:solidFill>
              </a:rPr>
              <a:t>Incremento dell'errore</a:t>
            </a:r>
            <a:r>
              <a:rPr lang="it" sz="1200" dirty="0">
                <a:solidFill>
                  <a:schemeClr val="dk1"/>
                </a:solidFill>
              </a:rPr>
              <a:t> medio di inseguimento. 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dirty="0">
                <a:solidFill>
                  <a:schemeClr val="dk1"/>
                </a:solidFill>
              </a:rPr>
              <a:t>In caso di odometria ideale, nei tratti rettilinei il comportamento rimane invariato. 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4" title="Logo_unifi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225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>
            <a:spLocks noGrp="1"/>
          </p:cNvSpPr>
          <p:nvPr>
            <p:ph type="title"/>
          </p:nvPr>
        </p:nvSpPr>
        <p:spPr>
          <a:xfrm>
            <a:off x="565200" y="0"/>
            <a:ext cx="8286000" cy="4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127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 b="1">
                <a:solidFill>
                  <a:srgbClr val="00407F"/>
                </a:solidFill>
                <a:latin typeface="Calibri"/>
                <a:ea typeface="Calibri"/>
                <a:cs typeface="Calibri"/>
                <a:sym typeface="Calibri"/>
              </a:rPr>
              <a:t>Esperimento </a:t>
            </a:r>
            <a:r>
              <a:rPr lang="it" sz="2400" b="1" i="1">
                <a:solidFill>
                  <a:srgbClr val="00407F"/>
                </a:solidFill>
                <a:latin typeface="Calibri"/>
                <a:ea typeface="Calibri"/>
                <a:cs typeface="Calibri"/>
                <a:sym typeface="Calibri"/>
              </a:rPr>
              <a:t>pista3 (due giri)</a:t>
            </a:r>
            <a:endParaRPr sz="2700" b="1" i="1"/>
          </a:p>
        </p:txBody>
      </p:sp>
      <p:sp>
        <p:nvSpPr>
          <p:cNvPr id="188" name="Google Shape;188;p24"/>
          <p:cNvSpPr txBox="1"/>
          <p:nvPr/>
        </p:nvSpPr>
        <p:spPr>
          <a:xfrm>
            <a:off x="5110625" y="3879925"/>
            <a:ext cx="1902300" cy="10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89" name="Google Shape;189;p24"/>
          <p:cNvSpPr txBox="1"/>
          <p:nvPr/>
        </p:nvSpPr>
        <p:spPr>
          <a:xfrm>
            <a:off x="129475" y="568400"/>
            <a:ext cx="3337200" cy="45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 dirty="0">
                <a:solidFill>
                  <a:schemeClr val="dk1"/>
                </a:solidFill>
              </a:rPr>
              <a:t>Vengono compiuti </a:t>
            </a:r>
            <a:r>
              <a:rPr lang="it" sz="1300" b="1" dirty="0">
                <a:solidFill>
                  <a:schemeClr val="dk1"/>
                </a:solidFill>
              </a:rPr>
              <a:t>due giri </a:t>
            </a:r>
            <a:r>
              <a:rPr lang="it" sz="1300" dirty="0">
                <a:solidFill>
                  <a:schemeClr val="dk1"/>
                </a:solidFill>
              </a:rPr>
              <a:t>per valutare l'efficacia dei meccanismi di Loop Closure. </a:t>
            </a:r>
            <a:br>
              <a:rPr lang="it" sz="1300" dirty="0">
                <a:solidFill>
                  <a:schemeClr val="dk1"/>
                </a:solidFill>
              </a:rPr>
            </a:br>
            <a:r>
              <a:rPr lang="it" sz="1300" dirty="0">
                <a:solidFill>
                  <a:schemeClr val="dk1"/>
                </a:solidFill>
              </a:rPr>
              <a:t>L'aumento della distanza di look-ahead porta a tagliare le curve.		Per l'ambiente Type 1 l'effetto è </a:t>
            </a:r>
            <a:r>
              <a:rPr lang="it" sz="1300" b="1" dirty="0">
                <a:solidFill>
                  <a:schemeClr val="dk1"/>
                </a:solidFill>
              </a:rPr>
              <a:t>ininfluente</a:t>
            </a:r>
            <a:r>
              <a:rPr lang="it" sz="1300" dirty="0">
                <a:solidFill>
                  <a:schemeClr val="dk1"/>
                </a:solidFill>
              </a:rPr>
              <a:t>.                                              Gli esperimenti nell'ambiente Type 2 sono stati effettuati con un valore di portata massima del raggio LiDAR (r_max) pari a 9 e 6 metri. </a:t>
            </a:r>
            <a:br>
              <a:rPr lang="it" sz="1300" dirty="0">
                <a:solidFill>
                  <a:schemeClr val="dk1"/>
                </a:solidFill>
              </a:rPr>
            </a:br>
            <a:r>
              <a:rPr lang="it" sz="1300" dirty="0">
                <a:solidFill>
                  <a:schemeClr val="dk1"/>
                </a:solidFill>
              </a:rPr>
              <a:t>Si evidenziano </a:t>
            </a:r>
            <a:r>
              <a:rPr lang="it" sz="1300" b="1" dirty="0">
                <a:solidFill>
                  <a:schemeClr val="dk1"/>
                </a:solidFill>
              </a:rPr>
              <a:t>sia miglioramenti che peggioramenti</a:t>
            </a:r>
            <a:r>
              <a:rPr lang="it" sz="1300" dirty="0">
                <a:solidFill>
                  <a:schemeClr val="dk1"/>
                </a:solidFill>
              </a:rPr>
              <a:t> utilizzando il Loop Closure. </a:t>
            </a:r>
            <a:br>
              <a:rPr lang="it" sz="1300" dirty="0">
                <a:solidFill>
                  <a:schemeClr val="dk1"/>
                </a:solidFill>
              </a:rPr>
            </a:br>
            <a:r>
              <a:rPr lang="it" sz="1300" dirty="0">
                <a:solidFill>
                  <a:schemeClr val="dk1"/>
                </a:solidFill>
              </a:rPr>
              <a:t>I risultati ottenuti in presenza di odometria rumorosa sono soggetti a una </a:t>
            </a:r>
            <a:r>
              <a:rPr lang="it" sz="1300" b="1" dirty="0">
                <a:solidFill>
                  <a:schemeClr val="dk1"/>
                </a:solidFill>
              </a:rPr>
              <a:t>componente stocastica</a:t>
            </a:r>
            <a:r>
              <a:rPr lang="it" sz="1300" dirty="0">
                <a:solidFill>
                  <a:schemeClr val="dk1"/>
                </a:solidFill>
              </a:rPr>
              <a:t> rilevante. </a:t>
            </a:r>
            <a:br>
              <a:rPr lang="it" sz="1300" dirty="0">
                <a:solidFill>
                  <a:schemeClr val="dk1"/>
                </a:solidFill>
              </a:rPr>
            </a:br>
            <a:r>
              <a:rPr lang="it" sz="1300" dirty="0">
                <a:solidFill>
                  <a:schemeClr val="dk1"/>
                </a:solidFill>
              </a:rPr>
              <a:t>Il passaggio da 9 a 6 metri di r_max  porta a un aumento dell'errore medio. </a:t>
            </a:r>
            <a:br>
              <a:rPr lang="it" sz="1300" dirty="0">
                <a:solidFill>
                  <a:schemeClr val="dk1"/>
                </a:solidFill>
              </a:rPr>
            </a:br>
            <a:r>
              <a:rPr lang="it" sz="1300" dirty="0">
                <a:solidFill>
                  <a:schemeClr val="dk1"/>
                </a:solidFill>
              </a:rPr>
              <a:t>L’ambiente determina l’accuratezza della localizzazione.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it" sz="1500" dirty="0">
                <a:solidFill>
                  <a:schemeClr val="dk2"/>
                </a:solidFill>
              </a:rPr>
            </a:br>
            <a:endParaRPr sz="15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2"/>
              </a:solidFill>
            </a:endParaRPr>
          </a:p>
        </p:txBody>
      </p:sp>
      <p:pic>
        <p:nvPicPr>
          <p:cNvPr id="190" name="Google Shape;190;p24" title="pista_3_(2_giri)_type2_ld0.2_1_Odometria_Ideale_No_LC_completa_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0000" y="481000"/>
            <a:ext cx="1824001" cy="201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4" title="pista_3_(2_giri)_type2_ld0.2_1_Odometria_Ideale_No_LC_completa_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000" y="2818450"/>
            <a:ext cx="1824000" cy="2010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4" title="pista_3_(2_giri)_type2_ld0.2_riepilogo_media_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5175" y="501775"/>
            <a:ext cx="3289101" cy="197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4" title="pista_3_(2_giri)_type2_ld0.2_riepilogo_media_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65175" y="2836920"/>
            <a:ext cx="3289101" cy="1973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/>
          <p:nvPr/>
        </p:nvSpPr>
        <p:spPr>
          <a:xfrm>
            <a:off x="335700" y="3643150"/>
            <a:ext cx="8515500" cy="1385100"/>
          </a:xfrm>
          <a:prstGeom prst="roundRect">
            <a:avLst>
              <a:gd name="adj" fmla="val 29758"/>
            </a:avLst>
          </a:prstGeom>
          <a:solidFill>
            <a:srgbClr val="FFFFFF"/>
          </a:solidFill>
          <a:ln w="12700" cap="flat" cmpd="sng">
            <a:solidFill>
              <a:srgbClr val="4F81BD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50800" dist="63500" dir="2700000" rotWithShape="0">
              <a:srgbClr val="000000">
                <a:alpha val="50200"/>
              </a:srgbClr>
            </a:outerShdw>
          </a:effectLst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1100"/>
              <a:buFont typeface="Tahoma"/>
              <a:buNone/>
            </a:pPr>
            <a:endParaRPr sz="1100" b="0" i="0" u="none" strike="noStrike" cap="none">
              <a:solidFill>
                <a:srgbClr val="4F81BD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9" name="Google Shape;199;p25"/>
          <p:cNvSpPr/>
          <p:nvPr/>
        </p:nvSpPr>
        <p:spPr>
          <a:xfrm>
            <a:off x="335700" y="476400"/>
            <a:ext cx="8472600" cy="2898625"/>
          </a:xfrm>
          <a:prstGeom prst="roundRect">
            <a:avLst>
              <a:gd name="adj" fmla="val 14330"/>
            </a:avLst>
          </a:prstGeom>
          <a:solidFill>
            <a:srgbClr val="FFFFFF"/>
          </a:solidFill>
          <a:ln w="12700" cap="flat" cmpd="sng">
            <a:solidFill>
              <a:srgbClr val="4F81BD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50800" dist="63500" dir="2700000" rotWithShape="0">
              <a:srgbClr val="000000">
                <a:alpha val="50200"/>
              </a:srgbClr>
            </a:outerShdw>
          </a:effectLst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1100"/>
              <a:buFont typeface="Tahoma"/>
              <a:buNone/>
            </a:pPr>
            <a:endParaRPr sz="1100" b="0" i="0" u="none" strike="noStrike" cap="none">
              <a:solidFill>
                <a:srgbClr val="4F81BD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0" name="Google Shape;200;p25" title="Logo_unifi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4225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5"/>
          <p:cNvSpPr txBox="1">
            <a:spLocks noGrp="1"/>
          </p:cNvSpPr>
          <p:nvPr>
            <p:ph type="title"/>
          </p:nvPr>
        </p:nvSpPr>
        <p:spPr>
          <a:xfrm>
            <a:off x="565200" y="0"/>
            <a:ext cx="8286000" cy="4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127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 b="1">
                <a:solidFill>
                  <a:srgbClr val="00407F"/>
                </a:solidFill>
              </a:rPr>
              <a:t>Conclusioni e sviluppi futuri</a:t>
            </a:r>
            <a:endParaRPr sz="2400" b="1">
              <a:solidFill>
                <a:srgbClr val="00407F"/>
              </a:solidFill>
            </a:endParaRPr>
          </a:p>
          <a:p>
            <a:pPr marL="0" lvl="0" indent="1270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00407F"/>
              </a:solidFill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636500" y="476400"/>
            <a:ext cx="8020500" cy="289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 dirty="0">
                <a:solidFill>
                  <a:srgbClr val="3D85C6"/>
                </a:solidFill>
              </a:rPr>
              <a:t>Conclusioni:</a:t>
            </a:r>
            <a:r>
              <a:rPr lang="it" sz="1500" dirty="0">
                <a:solidFill>
                  <a:schemeClr val="dk2"/>
                </a:solidFill>
              </a:rPr>
              <a:t> </a:t>
            </a:r>
            <a:endParaRPr sz="1500" dirty="0">
              <a:solidFill>
                <a:schemeClr val="dk2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 dirty="0">
                <a:solidFill>
                  <a:schemeClr val="dk1"/>
                </a:solidFill>
              </a:rPr>
              <a:t>All'aumentare della distanza di look-ahead il robot taglia le curve e parti del percorso, con un conseguente aumento dell'errore medio e una riduzione del numero di passi necessari. (L'uso della search window riduce questo fenomeno). 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 dirty="0">
                <a:solidFill>
                  <a:schemeClr val="dk1"/>
                </a:solidFill>
              </a:rPr>
              <a:t>Il meccanismo di Loop Closure può portare a dei miglioramenti in termini di errore medio.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 dirty="0">
                <a:solidFill>
                  <a:schemeClr val="dk1"/>
                </a:solidFill>
              </a:rPr>
              <a:t>La portata massima del LiDAR (r_max) influisce direttamente sulle prestazioni complessive. 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 dirty="0">
                <a:solidFill>
                  <a:schemeClr val="dk1"/>
                </a:solidFill>
              </a:rPr>
              <a:t>Per gli scenari caratterizzati da odometria rumorosa, è necessario ripetere l'esperimento un numero elevato di volte per via della forte componente stocastica. </a:t>
            </a:r>
            <a:br>
              <a:rPr lang="it" sz="1800" dirty="0">
                <a:solidFill>
                  <a:schemeClr val="dk2"/>
                </a:solidFill>
              </a:rPr>
            </a:br>
            <a:br>
              <a:rPr lang="it" sz="1800" dirty="0">
                <a:solidFill>
                  <a:schemeClr val="dk2"/>
                </a:solidFill>
              </a:rPr>
            </a:b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203" name="Google Shape;203;p25"/>
          <p:cNvSpPr txBox="1"/>
          <p:nvPr/>
        </p:nvSpPr>
        <p:spPr>
          <a:xfrm>
            <a:off x="618800" y="3643149"/>
            <a:ext cx="8055900" cy="138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 dirty="0">
                <a:solidFill>
                  <a:srgbClr val="3D85C6"/>
                </a:solidFill>
              </a:rPr>
              <a:t>Sviluppi futuri:</a:t>
            </a:r>
            <a:r>
              <a:rPr lang="it" sz="1500" dirty="0">
                <a:solidFill>
                  <a:schemeClr val="dk1"/>
                </a:solidFill>
              </a:rPr>
              <a:t> 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 dirty="0">
                <a:solidFill>
                  <a:schemeClr val="dk1"/>
                </a:solidFill>
              </a:rPr>
              <a:t>Aggiunta di un modulo di Path Replanning così da permettere di ripianificare la rotta nel caso di ostacoli sul percorso. 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 dirty="0">
                <a:solidFill>
                  <a:schemeClr val="dk1"/>
                </a:solidFill>
              </a:rPr>
              <a:t>Esperimenti su veicolo reale.</a:t>
            </a:r>
            <a:br>
              <a:rPr lang="it" sz="1800" dirty="0">
                <a:solidFill>
                  <a:schemeClr val="dk2"/>
                </a:solidFill>
              </a:rPr>
            </a:b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ctrTitle"/>
          </p:nvPr>
        </p:nvSpPr>
        <p:spPr>
          <a:xfrm>
            <a:off x="311700" y="179225"/>
            <a:ext cx="5750100" cy="1397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40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2080" b="1" dirty="0">
                <a:solidFill>
                  <a:srgbClr val="00407F"/>
                </a:solidFill>
              </a:rPr>
              <a:t>Sviluppo, implementazione e analisi comparativa dell'algoritmo di pure pursuit in ambienti di simulazione per la guida autonoma  </a:t>
            </a:r>
            <a:endParaRPr sz="2080" b="1" dirty="0">
              <a:solidFill>
                <a:srgbClr val="00407F"/>
              </a:solidFill>
            </a:endParaRPr>
          </a:p>
        </p:txBody>
      </p:sp>
      <p:pic>
        <p:nvPicPr>
          <p:cNvPr id="209" name="Google Shape;209;p26" descr="object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20645" y="0"/>
            <a:ext cx="402335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6"/>
          <p:cNvSpPr txBox="1"/>
          <p:nvPr/>
        </p:nvSpPr>
        <p:spPr>
          <a:xfrm>
            <a:off x="494850" y="2941150"/>
            <a:ext cx="14889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dk1"/>
                </a:solidFill>
              </a:rPr>
              <a:t>Candidato:</a:t>
            </a:r>
            <a:endParaRPr sz="1800" b="1">
              <a:solidFill>
                <a:schemeClr val="dk1"/>
              </a:solidFill>
            </a:endParaRPr>
          </a:p>
        </p:txBody>
      </p:sp>
      <p:sp>
        <p:nvSpPr>
          <p:cNvPr id="211" name="Google Shape;211;p26"/>
          <p:cNvSpPr txBox="1"/>
          <p:nvPr/>
        </p:nvSpPr>
        <p:spPr>
          <a:xfrm>
            <a:off x="494850" y="3310500"/>
            <a:ext cx="27372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i="1">
                <a:solidFill>
                  <a:schemeClr val="dk1"/>
                </a:solidFill>
              </a:rPr>
              <a:t>Marco Tetsuya Stella</a:t>
            </a:r>
            <a:endParaRPr sz="1800" i="1">
              <a:solidFill>
                <a:schemeClr val="dk1"/>
              </a:solidFill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494850" y="3839100"/>
            <a:ext cx="16533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" sz="2000" b="1">
                <a:solidFill>
                  <a:schemeClr val="dk1"/>
                </a:solidFill>
              </a:rPr>
              <a:t>Relatore</a:t>
            </a:r>
            <a:r>
              <a:rPr lang="it" sz="2000">
                <a:solidFill>
                  <a:schemeClr val="dk1"/>
                </a:solidFill>
              </a:rPr>
              <a:t>:</a:t>
            </a:r>
            <a:endParaRPr sz="2600">
              <a:solidFill>
                <a:schemeClr val="dk2"/>
              </a:solidFill>
            </a:endParaRPr>
          </a:p>
        </p:txBody>
      </p:sp>
      <p:sp>
        <p:nvSpPr>
          <p:cNvPr id="213" name="Google Shape;213;p26"/>
          <p:cNvSpPr txBox="1"/>
          <p:nvPr/>
        </p:nvSpPr>
        <p:spPr>
          <a:xfrm>
            <a:off x="494850" y="4287900"/>
            <a:ext cx="28245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it" sz="1800" i="1">
                <a:solidFill>
                  <a:schemeClr val="dk1"/>
                </a:solidFill>
              </a:rPr>
              <a:t>Prof. Giorgio Battistelli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1282</Words>
  <Application>Microsoft Office PowerPoint</Application>
  <PresentationFormat>Presentazione su schermo (16:9)</PresentationFormat>
  <Paragraphs>126</Paragraphs>
  <Slides>14</Slides>
  <Notes>14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0" baseType="lpstr">
      <vt:lpstr>Tahoma</vt:lpstr>
      <vt:lpstr>Arial</vt:lpstr>
      <vt:lpstr>Cambria Math</vt:lpstr>
      <vt:lpstr>Calibri</vt:lpstr>
      <vt:lpstr>Courier New</vt:lpstr>
      <vt:lpstr>Simple Light</vt:lpstr>
      <vt:lpstr>Sviluppo, implementazione e analisi comparativa dell'algoritmo di pure pursuit in ambienti di simulazione per la guida autonoma  </vt:lpstr>
      <vt:lpstr>Introduzione e problema</vt:lpstr>
      <vt:lpstr>Modello cinematico e stima della posa</vt:lpstr>
      <vt:lpstr>Punto di partenza e contributo della tesi</vt:lpstr>
      <vt:lpstr>Algoritmo di Pure Pursuit</vt:lpstr>
      <vt:lpstr>Algoritmo di Pure Pursuit</vt:lpstr>
      <vt:lpstr>Esecuzione degli esperimenti e condizioni di arresto </vt:lpstr>
      <vt:lpstr>Percorsi predefiniti</vt:lpstr>
      <vt:lpstr>Percorsi predefiniti tipologie ambienti</vt:lpstr>
      <vt:lpstr>Tipologie di esperimenti effetuati </vt:lpstr>
      <vt:lpstr>Esperimento contapassi</vt:lpstr>
      <vt:lpstr>Esperimento pista3 (due giri)</vt:lpstr>
      <vt:lpstr>Conclusioni e sviluppi futuri </vt:lpstr>
      <vt:lpstr>Sviluppo, implementazione e analisi comparativa dell'algoritmo di pure pursuit in ambienti di simulazione per la guida autonoma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Marco Tetsuya Stella</dc:creator>
  <cp:lastModifiedBy>Marco Tetsuya Stella</cp:lastModifiedBy>
  <cp:revision>76</cp:revision>
  <dcterms:modified xsi:type="dcterms:W3CDTF">2026-09-23T22:49:02Z</dcterms:modified>
</cp:coreProperties>
</file>