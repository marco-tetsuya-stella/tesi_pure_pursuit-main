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embeddedFontLst>
    <p:embeddedFont>
      <p:font typeface="Tahoma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Tahoma-bold.fntdata"/><Relationship Id="rId10" Type="http://schemas.openxmlformats.org/officeDocument/2006/relationships/slide" Target="slides/slide5.xml"/><Relationship Id="rId21" Type="http://schemas.openxmlformats.org/officeDocument/2006/relationships/font" Target="fonts/Tahoma-regular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f66f5a83a2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f66f5a83a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66f5a83a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66f5a83a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66f5a83a2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66f5a83a2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f67bb190ac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f67bb190ac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67bb190ac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f67bb190ac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67bb190a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67bb190a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67bb190ac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f67bb190ac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f67bb190ac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f67bb190ac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f67bb190ac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f67bb190ac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f67bb190ac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f67bb190ac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67bb190ac_0_1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67bb190ac_0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67bb190ac_0_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f67bb190ac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f66f5a83a2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f66f5a83a2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6946fc263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f6946fc263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Relationship Id="rId4" Type="http://schemas.openxmlformats.org/officeDocument/2006/relationships/image" Target="../media/image3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Relationship Id="rId4" Type="http://schemas.openxmlformats.org/officeDocument/2006/relationships/hyperlink" Target="http://drive.google.com/file/d/1B-8_POdNRiEmUNUfGyGMc_KK_2RwaYeY/view" TargetMode="External"/><Relationship Id="rId5" Type="http://schemas.openxmlformats.org/officeDocument/2006/relationships/image" Target="../media/image14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11.png"/><Relationship Id="rId11" Type="http://schemas.openxmlformats.org/officeDocument/2006/relationships/image" Target="../media/image3.png"/><Relationship Id="rId10" Type="http://schemas.openxmlformats.org/officeDocument/2006/relationships/image" Target="../media/image2.png"/><Relationship Id="rId12" Type="http://schemas.openxmlformats.org/officeDocument/2006/relationships/image" Target="../media/image5.png"/><Relationship Id="rId9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15.png"/><Relationship Id="rId9" Type="http://schemas.openxmlformats.org/officeDocument/2006/relationships/image" Target="../media/image17.png"/><Relationship Id="rId5" Type="http://schemas.openxmlformats.org/officeDocument/2006/relationships/image" Target="../media/image16.png"/><Relationship Id="rId6" Type="http://schemas.openxmlformats.org/officeDocument/2006/relationships/image" Target="../media/image12.png"/><Relationship Id="rId7" Type="http://schemas.openxmlformats.org/officeDocument/2006/relationships/image" Target="../media/image22.png"/><Relationship Id="rId8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34.png"/><Relationship Id="rId5" Type="http://schemas.openxmlformats.org/officeDocument/2006/relationships/image" Target="../media/image32.png"/><Relationship Id="rId6" Type="http://schemas.openxmlformats.org/officeDocument/2006/relationships/image" Target="../media/image3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4.jpg"/><Relationship Id="rId5" Type="http://schemas.openxmlformats.org/officeDocument/2006/relationships/image" Target="../media/image26.png"/><Relationship Id="rId6" Type="http://schemas.openxmlformats.org/officeDocument/2006/relationships/image" Target="../media/image38.png"/><Relationship Id="rId7" Type="http://schemas.openxmlformats.org/officeDocument/2006/relationships/image" Target="../media/image28.png"/><Relationship Id="rId8" Type="http://schemas.openxmlformats.org/officeDocument/2006/relationships/image" Target="../media/image1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Relationship Id="rId4" Type="http://schemas.openxmlformats.org/officeDocument/2006/relationships/image" Target="../media/image21.png"/><Relationship Id="rId9" Type="http://schemas.openxmlformats.org/officeDocument/2006/relationships/image" Target="../media/image25.png"/><Relationship Id="rId5" Type="http://schemas.openxmlformats.org/officeDocument/2006/relationships/image" Target="../media/image24.png"/><Relationship Id="rId6" Type="http://schemas.openxmlformats.org/officeDocument/2006/relationships/image" Target="../media/image20.png"/><Relationship Id="rId7" Type="http://schemas.openxmlformats.org/officeDocument/2006/relationships/image" Target="../media/image27.png"/><Relationship Id="rId8" Type="http://schemas.openxmlformats.org/officeDocument/2006/relationships/image" Target="../media/image2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jpg"/><Relationship Id="rId4" Type="http://schemas.openxmlformats.org/officeDocument/2006/relationships/image" Target="../media/image33.png"/><Relationship Id="rId5" Type="http://schemas.openxmlformats.org/officeDocument/2006/relationships/image" Target="../media/image29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179225"/>
            <a:ext cx="5750100" cy="13974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it" sz="2080">
                <a:solidFill>
                  <a:srgbClr val="00407F"/>
                </a:solidFill>
              </a:rPr>
              <a:t>Sviluppo, implementazione e analisi comparativa dell'algoritmo di pure pursuit in ambienti di simulazione per la guida autonoma </a:t>
            </a:r>
            <a:r>
              <a:rPr b="1" lang="it" sz="2080">
                <a:solidFill>
                  <a:srgbClr val="00407F"/>
                </a:solidFill>
              </a:rPr>
              <a:t> </a:t>
            </a:r>
            <a:endParaRPr b="1" sz="2080">
              <a:solidFill>
                <a:srgbClr val="00407F"/>
              </a:solidFill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494850" y="1805000"/>
            <a:ext cx="5244000" cy="76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"/>
              <a:buNone/>
            </a:pPr>
            <a:r>
              <a:rPr lang="it" sz="1520"/>
              <a:t>Valutazione delle prestazioni di tracciamento in presenza di odometria ideale e rumorosa sotto differenti configurazioni sensoriali </a:t>
            </a:r>
            <a:endParaRPr sz="1620"/>
          </a:p>
        </p:txBody>
      </p:sp>
      <p:pic>
        <p:nvPicPr>
          <p:cNvPr descr="object 2" id="56" name="Google Shape;5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20645" y="0"/>
            <a:ext cx="402335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494850" y="2941150"/>
            <a:ext cx="14889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800">
                <a:solidFill>
                  <a:schemeClr val="dk1"/>
                </a:solidFill>
              </a:rPr>
              <a:t>Candidato: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94850" y="3310500"/>
            <a:ext cx="2737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it" sz="1800">
                <a:solidFill>
                  <a:schemeClr val="dk1"/>
                </a:solidFill>
              </a:rPr>
              <a:t>Marco Tetsuya Stella</a:t>
            </a:r>
            <a:endParaRPr i="1" sz="1800">
              <a:solidFill>
                <a:schemeClr val="dk1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94850" y="3839100"/>
            <a:ext cx="1653300" cy="4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it" sz="2000">
                <a:solidFill>
                  <a:schemeClr val="dk1"/>
                </a:solidFill>
              </a:rPr>
              <a:t>Relatore</a:t>
            </a:r>
            <a:r>
              <a:rPr lang="it" sz="2000">
                <a:solidFill>
                  <a:schemeClr val="dk1"/>
                </a:solidFill>
              </a:rPr>
              <a:t>:</a:t>
            </a:r>
            <a:endParaRPr sz="2600">
              <a:solidFill>
                <a:schemeClr val="dk2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494850" y="4287900"/>
            <a:ext cx="28245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i="1" lang="it" sz="1800">
                <a:solidFill>
                  <a:schemeClr val="dk1"/>
                </a:solidFill>
              </a:rPr>
              <a:t>Prof. Giorgio Battistelli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>
            <a:off x="335700" y="645700"/>
            <a:ext cx="8472600" cy="818400"/>
          </a:xfrm>
          <a:prstGeom prst="roundRect">
            <a:avLst>
              <a:gd fmla="val 37596" name="adj"/>
            </a:avLst>
          </a:prstGeom>
          <a:solidFill>
            <a:srgbClr val="FFFFFF"/>
          </a:solidFill>
          <a:ln cap="flat" cmpd="sng" w="12700">
            <a:solidFill>
              <a:srgbClr val="4F81BD"/>
            </a:solidFill>
            <a:prstDash val="solid"/>
            <a:miter lim="400000"/>
            <a:headEnd len="sm" w="sm" type="none"/>
            <a:tailEnd len="sm" w="sm" type="none"/>
          </a:ln>
          <a:effectLst>
            <a:outerShdw blurRad="50800" rotWithShape="0" dir="2700000" dist="63500">
              <a:srgbClr val="000000">
                <a:alpha val="502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r>
              <a:t/>
            </a:r>
            <a:endParaRPr b="0" i="0" sz="1100" u="none" cap="none" strike="noStrik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6" name="Google Shape;66;p14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Clr>
                <a:srgbClr val="00407F"/>
              </a:buClr>
              <a:buSzPct val="58333"/>
              <a:buFont typeface="Calibri"/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Introduzione e problema</a:t>
            </a:r>
            <a:endParaRPr b="1" sz="2700"/>
          </a:p>
        </p:txBody>
      </p:sp>
      <p:sp>
        <p:nvSpPr>
          <p:cNvPr id="67" name="Google Shape;67;p14"/>
          <p:cNvSpPr txBox="1"/>
          <p:nvPr>
            <p:ph idx="1" type="body"/>
          </p:nvPr>
        </p:nvSpPr>
        <p:spPr>
          <a:xfrm>
            <a:off x="565200" y="758500"/>
            <a:ext cx="8055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it" sz="6011">
                <a:solidFill>
                  <a:srgbClr val="3D85C6"/>
                </a:solidFill>
              </a:rPr>
              <a:t>Contesto applicativo</a:t>
            </a:r>
            <a:r>
              <a:rPr b="1" lang="it" sz="6011">
                <a:solidFill>
                  <a:srgbClr val="3D85C6"/>
                </a:solidFill>
              </a:rPr>
              <a:t> </a:t>
            </a:r>
            <a:br>
              <a:rPr b="1" lang="it" sz="6011">
                <a:solidFill>
                  <a:schemeClr val="dk1"/>
                </a:solidFill>
              </a:rPr>
            </a:br>
            <a:r>
              <a:rPr lang="it" sz="6011">
                <a:solidFill>
                  <a:schemeClr val="dk1"/>
                </a:solidFill>
              </a:rPr>
              <a:t>Robotica mobile in ambienti con o senza ostacoli. </a:t>
            </a:r>
            <a:endParaRPr sz="601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8" name="Google Shape;68;p14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/>
          <p:nvPr/>
        </p:nvSpPr>
        <p:spPr>
          <a:xfrm>
            <a:off x="335700" y="1780249"/>
            <a:ext cx="8472600" cy="1304400"/>
          </a:xfrm>
          <a:prstGeom prst="roundRect">
            <a:avLst>
              <a:gd fmla="val 37596" name="adj"/>
            </a:avLst>
          </a:prstGeom>
          <a:solidFill>
            <a:srgbClr val="FFFFFF"/>
          </a:solidFill>
          <a:ln cap="flat" cmpd="sng" w="12700">
            <a:solidFill>
              <a:srgbClr val="4F81BD"/>
            </a:solidFill>
            <a:prstDash val="solid"/>
            <a:miter lim="400000"/>
            <a:headEnd len="sm" w="sm" type="none"/>
            <a:tailEnd len="sm" w="sm" type="none"/>
          </a:ln>
          <a:effectLst>
            <a:outerShdw blurRad="50800" rotWithShape="0" dir="2700000" dist="63500">
              <a:srgbClr val="000000">
                <a:alpha val="502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r>
              <a:t/>
            </a:r>
            <a:endParaRPr b="0" i="0" sz="1100" u="none" cap="none" strike="noStrik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0" name="Google Shape;70;p14"/>
          <p:cNvSpPr txBox="1"/>
          <p:nvPr>
            <p:ph idx="1" type="body"/>
          </p:nvPr>
        </p:nvSpPr>
        <p:spPr>
          <a:xfrm>
            <a:off x="586950" y="1912700"/>
            <a:ext cx="8055900" cy="103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6011">
                <a:solidFill>
                  <a:srgbClr val="3D85C6"/>
                </a:solidFill>
              </a:rPr>
              <a:t>Problema:</a:t>
            </a:r>
            <a:br>
              <a:rPr b="1" lang="it" sz="6011">
                <a:solidFill>
                  <a:schemeClr val="dk1"/>
                </a:solidFill>
              </a:rPr>
            </a:br>
            <a:r>
              <a:rPr lang="it" sz="6011">
                <a:solidFill>
                  <a:schemeClr val="dk1"/>
                </a:solidFill>
              </a:rPr>
              <a:t>Consentire la navigazione autonoma del robot garantendo un inseguimento stabile e preciso di un percorso preimpostato. </a:t>
            </a:r>
            <a:endParaRPr sz="601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4"/>
          <p:cNvSpPr/>
          <p:nvPr/>
        </p:nvSpPr>
        <p:spPr>
          <a:xfrm>
            <a:off x="335700" y="3400800"/>
            <a:ext cx="8472600" cy="1229400"/>
          </a:xfrm>
          <a:prstGeom prst="roundRect">
            <a:avLst>
              <a:gd fmla="val 37596" name="adj"/>
            </a:avLst>
          </a:prstGeom>
          <a:solidFill>
            <a:srgbClr val="FFFFFF"/>
          </a:solidFill>
          <a:ln cap="flat" cmpd="sng" w="12700">
            <a:solidFill>
              <a:srgbClr val="4F81BD"/>
            </a:solidFill>
            <a:prstDash val="solid"/>
            <a:miter lim="400000"/>
            <a:headEnd len="sm" w="sm" type="none"/>
            <a:tailEnd len="sm" w="sm" type="none"/>
          </a:ln>
          <a:effectLst>
            <a:outerShdw blurRad="50800" rotWithShape="0" dir="2700000" dist="63500">
              <a:srgbClr val="000000">
                <a:alpha val="502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r>
              <a:t/>
            </a:r>
            <a:endParaRPr b="0" i="0" sz="1100" u="none" cap="none" strike="noStrik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2" name="Google Shape;72;p14"/>
          <p:cNvSpPr txBox="1"/>
          <p:nvPr>
            <p:ph idx="1" type="body"/>
          </p:nvPr>
        </p:nvSpPr>
        <p:spPr>
          <a:xfrm>
            <a:off x="565300" y="3495750"/>
            <a:ext cx="8055900" cy="103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6011">
                <a:solidFill>
                  <a:srgbClr val="3D85C6"/>
                </a:solidFill>
              </a:rPr>
              <a:t>Soluzione</a:t>
            </a:r>
            <a:r>
              <a:rPr lang="it" sz="6011">
                <a:solidFill>
                  <a:srgbClr val="3D85C6"/>
                </a:solidFill>
              </a:rPr>
              <a:t>:</a:t>
            </a:r>
            <a:br>
              <a:rPr b="1" lang="it" sz="6011">
                <a:solidFill>
                  <a:schemeClr val="dk1"/>
                </a:solidFill>
              </a:rPr>
            </a:br>
            <a:r>
              <a:rPr lang="it" sz="6011">
                <a:solidFill>
                  <a:schemeClr val="dk1"/>
                </a:solidFill>
              </a:rPr>
              <a:t>Implementazione dell’algoritmo Pure Pursuit in sinergia con la sensoristica di bordo (Odometria e LiDAR) per la stima della posa e il controllo in tempo reale del veicolo lungo il percorso pianificato. </a:t>
            </a:r>
            <a:endParaRPr sz="601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/>
          <p:nvPr/>
        </p:nvSpPr>
        <p:spPr>
          <a:xfrm>
            <a:off x="335700" y="3204400"/>
            <a:ext cx="8515500" cy="1823700"/>
          </a:xfrm>
          <a:prstGeom prst="roundRect">
            <a:avLst>
              <a:gd fmla="val 14330" name="adj"/>
            </a:avLst>
          </a:prstGeom>
          <a:solidFill>
            <a:srgbClr val="FFFFFF"/>
          </a:solidFill>
          <a:ln cap="flat" cmpd="sng" w="12700">
            <a:solidFill>
              <a:srgbClr val="4F81BD"/>
            </a:solidFill>
            <a:prstDash val="solid"/>
            <a:miter lim="400000"/>
            <a:headEnd len="sm" w="sm" type="none"/>
            <a:tailEnd len="sm" w="sm" type="none"/>
          </a:ln>
          <a:effectLst>
            <a:outerShdw blurRad="50800" rotWithShape="0" dir="2700000" dist="63500">
              <a:srgbClr val="000000">
                <a:alpha val="502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r>
              <a:t/>
            </a:r>
            <a:endParaRPr b="0" i="0" sz="1100" u="none" cap="none" strike="noStrik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35700" y="476400"/>
            <a:ext cx="8472600" cy="2514600"/>
          </a:xfrm>
          <a:prstGeom prst="roundRect">
            <a:avLst>
              <a:gd fmla="val 14330" name="adj"/>
            </a:avLst>
          </a:prstGeom>
          <a:solidFill>
            <a:srgbClr val="FFFFFF"/>
          </a:solidFill>
          <a:ln cap="flat" cmpd="sng" w="12700">
            <a:solidFill>
              <a:srgbClr val="4F81BD"/>
            </a:solidFill>
            <a:prstDash val="solid"/>
            <a:miter lim="400000"/>
            <a:headEnd len="sm" w="sm" type="none"/>
            <a:tailEnd len="sm" w="sm" type="none"/>
          </a:ln>
          <a:effectLst>
            <a:outerShdw blurRad="50800" rotWithShape="0" dir="2700000" dist="63500">
              <a:srgbClr val="000000">
                <a:alpha val="502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r>
              <a:t/>
            </a:r>
            <a:endParaRPr b="0" i="0" sz="1100" u="none" cap="none" strike="noStrik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565200" y="600450"/>
            <a:ext cx="8034900" cy="231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4800">
                <a:solidFill>
                  <a:srgbClr val="3D85C6"/>
                </a:solidFill>
              </a:rPr>
              <a:t>Modulo Mappatura &amp; Localizzazione</a:t>
            </a:r>
            <a:endParaRPr sz="4800">
              <a:solidFill>
                <a:srgbClr val="3D85C6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b="1" lang="it" sz="4800">
                <a:solidFill>
                  <a:schemeClr val="dk1"/>
                </a:solidFill>
              </a:rPr>
              <a:t>Simulatore 2D:</a:t>
            </a:r>
            <a:r>
              <a:rPr lang="it" sz="4800">
                <a:solidFill>
                  <a:schemeClr val="dk1"/>
                </a:solidFill>
              </a:rPr>
              <a:t> Ambiente virtuale per la cinematica del robot mobile. </a:t>
            </a:r>
            <a:endParaRPr sz="48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it" sz="4800">
                <a:solidFill>
                  <a:schemeClr val="dk1"/>
                </a:solidFill>
              </a:rPr>
              <a:t>Algoritmo ICP (Scan-to-Map):</a:t>
            </a:r>
            <a:r>
              <a:rPr lang="it" sz="4800">
                <a:solidFill>
                  <a:schemeClr val="dk1"/>
                </a:solidFill>
              </a:rPr>
              <a:t> Costruzione e aggiornamento incrementale della mappa tramite LiDAR. </a:t>
            </a:r>
            <a:endParaRPr b="1" sz="4800">
              <a:solidFill>
                <a:srgbClr val="3D85C6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it" sz="4800">
                <a:solidFill>
                  <a:schemeClr val="dk1"/>
                </a:solidFill>
              </a:rPr>
              <a:t>Inizializzazione Odometrica:</a:t>
            </a:r>
            <a:r>
              <a:rPr lang="it" sz="4800">
                <a:solidFill>
                  <a:schemeClr val="dk1"/>
                </a:solidFill>
              </a:rPr>
              <a:t> Stima preliminare della posa per velocizzare la convergenza dell'ICP. </a:t>
            </a:r>
            <a:br>
              <a:rPr lang="it" sz="4800">
                <a:solidFill>
                  <a:schemeClr val="dk1"/>
                </a:solidFill>
              </a:rPr>
            </a:br>
            <a:r>
              <a:rPr lang="it" sz="4800">
                <a:solidFill>
                  <a:schemeClr val="dk1"/>
                </a:solidFill>
              </a:rPr>
              <a:t>	</a:t>
            </a:r>
            <a:endParaRPr sz="4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4800">
                <a:solidFill>
                  <a:srgbClr val="3D85C6"/>
                </a:solidFill>
              </a:rPr>
              <a:t>Strategie Anti-Drift </a:t>
            </a:r>
            <a:endParaRPr sz="4800">
              <a:solidFill>
                <a:srgbClr val="3D85C6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b="1" lang="it" sz="4800">
                <a:solidFill>
                  <a:schemeClr val="dk1"/>
                </a:solidFill>
              </a:rPr>
              <a:t>Criteri di Accettazione:</a:t>
            </a:r>
            <a:r>
              <a:rPr lang="it" sz="4800">
                <a:solidFill>
                  <a:schemeClr val="dk1"/>
                </a:solidFill>
              </a:rPr>
              <a:t> Filtraggio degli allineamenti basato su soglie di RMSE e conteggio corrispondenze. </a:t>
            </a:r>
            <a:endParaRPr sz="48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it" sz="4800">
                <a:solidFill>
                  <a:schemeClr val="dk1"/>
                </a:solidFill>
              </a:rPr>
              <a:t>Voxel Downsampling:</a:t>
            </a:r>
            <a:r>
              <a:rPr lang="it" sz="4800">
                <a:solidFill>
                  <a:schemeClr val="dk1"/>
                </a:solidFill>
              </a:rPr>
              <a:t> Contenimento della dimensione della mappa mediante riduzione della densità dei punti. </a:t>
            </a:r>
            <a:endParaRPr b="1" sz="4800">
              <a:solidFill>
                <a:srgbClr val="3D85C6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it" sz="4800">
                <a:solidFill>
                  <a:schemeClr val="dk1"/>
                </a:solidFill>
              </a:rPr>
              <a:t>Loop Closure (Keyframe-based):</a:t>
            </a:r>
            <a:r>
              <a:rPr lang="it" sz="4800">
                <a:solidFill>
                  <a:schemeClr val="dk1"/>
                </a:solidFill>
              </a:rPr>
              <a:t> Eliminazione del drift e correzione topologica della mappa. </a:t>
            </a:r>
            <a:br>
              <a:rPr b="1" lang="it" sz="6011">
                <a:solidFill>
                  <a:srgbClr val="3D85C6"/>
                </a:solidFill>
              </a:rPr>
            </a:br>
            <a:br>
              <a:rPr b="1" lang="it" sz="6011">
                <a:solidFill>
                  <a:srgbClr val="3D85C6"/>
                </a:solidFill>
              </a:rPr>
            </a:br>
            <a:br>
              <a:rPr b="1" lang="it" sz="6011">
                <a:solidFill>
                  <a:srgbClr val="3D85C6"/>
                </a:solidFill>
              </a:rPr>
            </a:br>
            <a:br>
              <a:rPr b="1" lang="it" sz="6011">
                <a:solidFill>
                  <a:schemeClr val="dk1"/>
                </a:solidFill>
              </a:rPr>
            </a:br>
            <a:endParaRPr/>
          </a:p>
        </p:txBody>
      </p:sp>
      <p:pic>
        <p:nvPicPr>
          <p:cNvPr id="80" name="Google Shape;80;p15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 txBox="1"/>
          <p:nvPr>
            <p:ph idx="1" type="body"/>
          </p:nvPr>
        </p:nvSpPr>
        <p:spPr>
          <a:xfrm>
            <a:off x="565200" y="3204400"/>
            <a:ext cx="8034900" cy="16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4800">
                <a:solidFill>
                  <a:srgbClr val="3D85C6"/>
                </a:solidFill>
              </a:rPr>
              <a:t>Contributi della Tesi</a:t>
            </a:r>
            <a:endParaRPr sz="4800">
              <a:solidFill>
                <a:srgbClr val="3D85C6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it" sz="4800">
                <a:solidFill>
                  <a:schemeClr val="dk1"/>
                </a:solidFill>
              </a:rPr>
              <a:t>Algoritmo Pure Pursuit:</a:t>
            </a:r>
            <a:r>
              <a:rPr lang="it" sz="4800">
                <a:solidFill>
                  <a:schemeClr val="dk1"/>
                </a:solidFill>
              </a:rPr>
              <a:t> Implementazione ed integrazione del controllo di inseguimento della traiettoria nel framework di simulazione. </a:t>
            </a:r>
            <a:endParaRPr sz="48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it" sz="4800">
                <a:solidFill>
                  <a:schemeClr val="dk1"/>
                </a:solidFill>
              </a:rPr>
              <a:t>Ambienti Deterministici:</a:t>
            </a:r>
            <a:r>
              <a:rPr lang="it" sz="4800">
                <a:solidFill>
                  <a:schemeClr val="dk1"/>
                </a:solidFill>
              </a:rPr>
              <a:t> Generazione procedurale dei mondi virtuali in funzione diretta della geometria del percorso. </a:t>
            </a:r>
            <a:endParaRPr sz="48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it" sz="4800">
                <a:solidFill>
                  <a:schemeClr val="dk1"/>
                </a:solidFill>
              </a:rPr>
              <a:t>Odometria Rumorosa (</a:t>
            </a:r>
            <a:r>
              <a:rPr b="1" i="1" lang="it" sz="4800">
                <a:solidFill>
                  <a:schemeClr val="dk1"/>
                </a:solidFill>
              </a:rPr>
              <a:t>Noisy Odometry</a:t>
            </a:r>
            <a:r>
              <a:rPr b="1" lang="it" sz="4800">
                <a:solidFill>
                  <a:schemeClr val="dk1"/>
                </a:solidFill>
              </a:rPr>
              <a:t>):</a:t>
            </a:r>
            <a:r>
              <a:rPr lang="it" sz="4800">
                <a:solidFill>
                  <a:schemeClr val="dk1"/>
                </a:solidFill>
              </a:rPr>
              <a:t> Modellazione del rumore del sensore odometrico per valutare la robustezza e la stabilità dell'algoritmo in condizioni realistiche. </a:t>
            </a:r>
            <a:br>
              <a:rPr b="1" lang="it" sz="6011">
                <a:solidFill>
                  <a:schemeClr val="dk1"/>
                </a:solidFill>
              </a:rPr>
            </a:br>
            <a:endParaRPr sz="601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5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Punto di partenza e contributo di tesi</a:t>
            </a:r>
            <a:endParaRPr b="1" sz="2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6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6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Modello cinematico e stima della posa</a:t>
            </a:r>
            <a:endParaRPr b="1" sz="2700"/>
          </a:p>
        </p:txBody>
      </p:sp>
      <p:sp>
        <p:nvSpPr>
          <p:cNvPr id="89" name="Google Shape;89;p16"/>
          <p:cNvSpPr txBox="1"/>
          <p:nvPr/>
        </p:nvSpPr>
        <p:spPr>
          <a:xfrm>
            <a:off x="4884750" y="598775"/>
            <a:ext cx="3608100" cy="21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000"/>
              <a:buFont typeface="Tahoma"/>
              <a:buNone/>
            </a:pPr>
            <a:r>
              <a:rPr lang="it">
                <a:solidFill>
                  <a:srgbClr val="3D85C6"/>
                </a:solidFill>
              </a:rPr>
              <a:t>Modello cinematico (uniciclo)</a:t>
            </a:r>
            <a:endParaRPr>
              <a:solidFill>
                <a:srgbClr val="3D85C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rPr lang="it">
                <a:solidFill>
                  <a:schemeClr val="dk1"/>
                </a:solidFill>
              </a:rPr>
              <a:t>Stato: q = [x, y, α]ᵀ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rPr lang="it">
                <a:solidFill>
                  <a:schemeClr val="dk1"/>
                </a:solidFill>
              </a:rPr>
              <a:t>ẋ = v cos(α)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rPr lang="it">
                <a:solidFill>
                  <a:schemeClr val="dk1"/>
                </a:solidFill>
              </a:rPr>
              <a:t>ẏ = v sin(α)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solidFill>
                  <a:schemeClr val="dk1"/>
                </a:solidFill>
              </a:rPr>
              <a:t>α̇ = ω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solidFill>
                  <a:schemeClr val="dk1"/>
                </a:solidFill>
              </a:rPr>
              <a:t>Discretizzazione di Eulero con </a:t>
            </a:r>
            <a:r>
              <a:rPr lang="it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(Δt=0.05s)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53535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t/>
            </a:r>
            <a:endParaRPr>
              <a:solidFill>
                <a:srgbClr val="535353"/>
              </a:solidFill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4276850" y="2881750"/>
            <a:ext cx="4697400" cy="18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solidFill>
                  <a:srgbClr val="3D85C6"/>
                </a:solidFill>
              </a:rPr>
              <a:t>Simulazione LiDAR (Ray-Casting) </a:t>
            </a:r>
            <a:endParaRPr>
              <a:solidFill>
                <a:srgbClr val="3D85C6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b="1" lang="it">
                <a:solidFill>
                  <a:schemeClr val="dk1"/>
                </a:solidFill>
              </a:rPr>
              <a:t>Ray-Casting:</a:t>
            </a:r>
            <a:r>
              <a:rPr lang="it">
                <a:solidFill>
                  <a:schemeClr val="dk1"/>
                </a:solidFill>
              </a:rPr>
              <a:t> Simulazione dei fasci luminosi e calcolo geometrico dei punti di contatto.  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it">
                <a:solidFill>
                  <a:schemeClr val="dk1"/>
                </a:solidFill>
              </a:rPr>
              <a:t>Rilevamento Ostacoli:</a:t>
            </a:r>
            <a:r>
              <a:rPr lang="it">
                <a:solidFill>
                  <a:schemeClr val="dk1"/>
                </a:solidFill>
              </a:rPr>
              <a:t> Misurazione della distanza dagli ostacoli fisici. 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it">
                <a:solidFill>
                  <a:schemeClr val="dk1"/>
                </a:solidFill>
              </a:rPr>
              <a:t>Output Sensoriale:</a:t>
            </a:r>
            <a:r>
              <a:rPr lang="it">
                <a:solidFill>
                  <a:schemeClr val="dk1"/>
                </a:solidFill>
              </a:rPr>
              <a:t> </a:t>
            </a:r>
            <a:r>
              <a:rPr i="1" lang="it">
                <a:solidFill>
                  <a:schemeClr val="dk1"/>
                </a:solidFill>
              </a:rPr>
              <a:t>Point Cloud</a:t>
            </a:r>
            <a:r>
              <a:rPr lang="it">
                <a:solidFill>
                  <a:schemeClr val="dk1"/>
                </a:solidFill>
              </a:rPr>
              <a:t> (nuvola di punti) relativa al frame corrente. 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92" name="Google Shape;92;p16" title="Esempio di scansione LiDA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900" y="687500"/>
            <a:ext cx="3924825" cy="3826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7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7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ICP con odometria e loop closure</a:t>
            </a:r>
            <a:endParaRPr b="1" sz="2700"/>
          </a:p>
        </p:txBody>
      </p:sp>
      <p:sp>
        <p:nvSpPr>
          <p:cNvPr id="99" name="Google Shape;99;p17"/>
          <p:cNvSpPr txBox="1"/>
          <p:nvPr/>
        </p:nvSpPr>
        <p:spPr>
          <a:xfrm>
            <a:off x="4391125" y="502363"/>
            <a:ext cx="4626900" cy="24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rgbClr val="3D85C6"/>
                </a:solidFill>
              </a:rPr>
              <a:t>Algoritmo ICP (Scan-to-Map)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Input:</a:t>
            </a:r>
            <a:r>
              <a:rPr lang="it" sz="1300">
                <a:solidFill>
                  <a:schemeClr val="dk1"/>
                </a:solidFill>
              </a:rPr>
              <a:t> Scansione attuale e stima odometrica iniziale della posa.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Ricerca Corrispondenze:</a:t>
            </a:r>
            <a:r>
              <a:rPr lang="it" sz="1300">
                <a:solidFill>
                  <a:schemeClr val="dk1"/>
                </a:solidFill>
              </a:rPr>
              <a:t> Individuazione dei punti corrispondenti tra la scansione locale e la mappa globale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Stima del Movimento:</a:t>
            </a:r>
            <a:r>
              <a:rPr lang="it" sz="1300">
                <a:solidFill>
                  <a:schemeClr val="dk1"/>
                </a:solidFill>
              </a:rPr>
              <a:t> Calcolo della matrice di rotazione e traslazione ottimali.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Criterio di Convergenza:</a:t>
            </a:r>
            <a:r>
              <a:rPr lang="it" sz="1300">
                <a:solidFill>
                  <a:schemeClr val="dk1"/>
                </a:solidFill>
              </a:rPr>
              <a:t> Processo iterativo eseguito fino alla stabilizzazione dell'errore (RMSE) o al raggiungimento del limite massimo di iterazioni. 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53535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535353"/>
              </a:solidFill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265125" y="2928625"/>
            <a:ext cx="4878900" cy="221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rgbClr val="3D85C6"/>
                </a:solidFill>
              </a:rPr>
              <a:t>Loop Closure </a:t>
            </a:r>
            <a:endParaRPr sz="1300">
              <a:solidFill>
                <a:srgbClr val="3D85C6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Selezione Keyframe:</a:t>
            </a:r>
            <a:r>
              <a:rPr lang="it" sz="1300">
                <a:solidFill>
                  <a:schemeClr val="dk1"/>
                </a:solidFill>
              </a:rPr>
              <a:t> Identificazione e salvataggio delle pose ritenute maggiormente significative durante il tragitto.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Chiusura del Ciclo (</a:t>
            </a:r>
            <a:r>
              <a:rPr b="1" i="1" lang="it" sz="1300">
                <a:solidFill>
                  <a:schemeClr val="dk1"/>
                </a:solidFill>
              </a:rPr>
              <a:t>Loop Closure</a:t>
            </a:r>
            <a:r>
              <a:rPr b="1" lang="it" sz="1300">
                <a:solidFill>
                  <a:schemeClr val="dk1"/>
                </a:solidFill>
              </a:rPr>
              <a:t>):</a:t>
            </a:r>
            <a:r>
              <a:rPr lang="it" sz="1300">
                <a:solidFill>
                  <a:schemeClr val="dk1"/>
                </a:solidFill>
              </a:rPr>
              <a:t> Attivazione dell'allineamento globale al ritorno in una posa nota.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Vincoli di distanza temporale</a:t>
            </a:r>
            <a:r>
              <a:rPr lang="it" sz="1300">
                <a:solidFill>
                  <a:schemeClr val="dk1"/>
                </a:solidFill>
              </a:rPr>
              <a:t>: per evitare falsi positivi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Criteri di accettazione:</a:t>
            </a:r>
            <a:r>
              <a:rPr lang="it" sz="1300">
                <a:solidFill>
                  <a:schemeClr val="dk1"/>
                </a:solidFill>
              </a:rPr>
              <a:t>  numero di corrispondenze, soglia RMSE e fattore di </a:t>
            </a:r>
            <a:r>
              <a:rPr i="1" lang="it" sz="1300">
                <a:solidFill>
                  <a:schemeClr val="dk1"/>
                </a:solidFill>
              </a:rPr>
              <a:t>Fitness</a:t>
            </a:r>
            <a:r>
              <a:rPr lang="it" sz="1300">
                <a:solidFill>
                  <a:schemeClr val="dk1"/>
                </a:solidFill>
              </a:rPr>
              <a:t> (rapporto di sovrapposizione tra le nuvole di punti).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02" name="Google Shape;102;p17" title="allineamento ICP con odometri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675" y="1086625"/>
            <a:ext cx="3960326" cy="29702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8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8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Algoritmo di Pure Pursuit</a:t>
            </a:r>
            <a:endParaRPr b="1" sz="2700"/>
          </a:p>
        </p:txBody>
      </p:sp>
      <p:sp>
        <p:nvSpPr>
          <p:cNvPr id="109" name="Google Shape;109;p18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10" name="Google Shape;110;p18" title="pista_1_type2_ld0.4_noisy_nolc_presentazione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92825"/>
            <a:ext cx="4572000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8"/>
          <p:cNvSpPr txBox="1"/>
          <p:nvPr/>
        </p:nvSpPr>
        <p:spPr>
          <a:xfrm>
            <a:off x="4619875" y="1601725"/>
            <a:ext cx="4354200" cy="33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rgbClr val="3D85C6"/>
                </a:solidFill>
              </a:rPr>
              <a:t>Principio di Funzionamento </a:t>
            </a:r>
            <a:endParaRPr sz="1600">
              <a:solidFill>
                <a:srgbClr val="3D85C6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it" sz="1600">
                <a:solidFill>
                  <a:schemeClr val="dk1"/>
                </a:solidFill>
              </a:rPr>
              <a:t>Ricerca del Punto di Mira (</a:t>
            </a:r>
            <a:r>
              <a:rPr b="1" i="1" lang="it" sz="1600">
                <a:solidFill>
                  <a:schemeClr val="dk1"/>
                </a:solidFill>
              </a:rPr>
              <a:t>Lookahead Point</a:t>
            </a:r>
            <a:r>
              <a:rPr b="1" lang="it" sz="1600">
                <a:solidFill>
                  <a:schemeClr val="dk1"/>
                </a:solidFill>
              </a:rPr>
              <a:t>):</a:t>
            </a:r>
            <a:r>
              <a:rPr lang="it" sz="1600">
                <a:solidFill>
                  <a:schemeClr val="dk1"/>
                </a:solidFill>
              </a:rPr>
              <a:t> Individuazione del punto di intersezione tra la traiettoria pianificata e una circonferenza di raggio L</a:t>
            </a:r>
            <a:r>
              <a:rPr lang="it" sz="1300">
                <a:solidFill>
                  <a:schemeClr val="dk1"/>
                </a:solidFill>
              </a:rPr>
              <a:t>d</a:t>
            </a:r>
            <a:r>
              <a:rPr lang="it" sz="1600">
                <a:solidFill>
                  <a:schemeClr val="dk1"/>
                </a:solidFill>
              </a:rPr>
              <a:t> (Lookahead Distance) centrata sul robot.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it" sz="1600">
                <a:solidFill>
                  <a:schemeClr val="dk1"/>
                </a:solidFill>
              </a:rPr>
              <a:t>Calcolo della Velocità Angolare:</a:t>
            </a:r>
            <a:r>
              <a:rPr lang="it" sz="1600">
                <a:solidFill>
                  <a:schemeClr val="dk1"/>
                </a:solidFill>
              </a:rPr>
              <a:t> Stima della curvatura dell'arco di cerchio necessario a raggiungere il punto di mira e generazione del comando di steering/velocità angolare </a:t>
            </a:r>
            <a:r>
              <a:rPr lang="it" sz="1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ω</a:t>
            </a:r>
            <a:r>
              <a:rPr lang="it" sz="1600">
                <a:solidFill>
                  <a:schemeClr val="dk1"/>
                </a:solidFill>
              </a:rPr>
              <a:t>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2" name="Google Shape;112;p18"/>
          <p:cNvSpPr txBox="1"/>
          <p:nvPr/>
        </p:nvSpPr>
        <p:spPr>
          <a:xfrm>
            <a:off x="4817050" y="697550"/>
            <a:ext cx="4354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4619775" y="556625"/>
            <a:ext cx="4354200" cy="9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rgbClr val="3D85C6"/>
                </a:solidFill>
              </a:rPr>
              <a:t>Obiettivo:</a:t>
            </a:r>
            <a:br>
              <a:rPr lang="it" sz="1600">
                <a:solidFill>
                  <a:schemeClr val="dk2"/>
                </a:solidFill>
              </a:rPr>
            </a:br>
            <a:r>
              <a:rPr lang="it" sz="1600">
                <a:solidFill>
                  <a:schemeClr val="dk1"/>
                </a:solidFill>
              </a:rPr>
              <a:t>Inseguimento cinematico di una traiettoria predefinita.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9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9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Percorsi prefabbricati</a:t>
            </a:r>
            <a:endParaRPr b="1" sz="2700"/>
          </a:p>
        </p:txBody>
      </p:sp>
      <p:sp>
        <p:nvSpPr>
          <p:cNvPr id="120" name="Google Shape;120;p19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1" name="Google Shape;121;p19"/>
          <p:cNvSpPr txBox="1"/>
          <p:nvPr/>
        </p:nvSpPr>
        <p:spPr>
          <a:xfrm>
            <a:off x="62513" y="533763"/>
            <a:ext cx="3388200" cy="17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Valutazione dell'algoritmo su </a:t>
            </a:r>
            <a:r>
              <a:rPr b="1" lang="it" sz="1300">
                <a:solidFill>
                  <a:schemeClr val="dk1"/>
                </a:solidFill>
              </a:rPr>
              <a:t>12 percorsi prefabbricati</a:t>
            </a:r>
            <a:r>
              <a:rPr lang="it" sz="1300">
                <a:solidFill>
                  <a:schemeClr val="dk1"/>
                </a:solidFill>
              </a:rPr>
              <a:t> differenti per geometria e complessità.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rgbClr val="1F1F1F"/>
                </a:solidFill>
                <a:highlight>
                  <a:srgbClr val="FDFCFC"/>
                </a:highlight>
              </a:rPr>
              <a:t>Percorsi di test</a:t>
            </a:r>
            <a:endParaRPr sz="1300">
              <a:solidFill>
                <a:srgbClr val="1F1F1F"/>
              </a:solidFill>
              <a:highlight>
                <a:srgbClr val="FDFCFC"/>
              </a:highlight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300"/>
              <a:buChar char="●"/>
            </a:pPr>
            <a:r>
              <a:rPr b="1" lang="it" sz="1300">
                <a:solidFill>
                  <a:srgbClr val="1F1F1F"/>
                </a:solidFill>
                <a:highlight>
                  <a:srgbClr val="FDFCFC"/>
                </a:highlight>
              </a:rPr>
              <a:t>percorsi standard</a:t>
            </a:r>
            <a:r>
              <a:rPr lang="it" sz="1300">
                <a:solidFill>
                  <a:srgbClr val="1F1F1F"/>
                </a:solidFill>
                <a:highlight>
                  <a:srgbClr val="FDFCFC"/>
                </a:highlight>
              </a:rPr>
              <a:t> (rettilinei, circonferenze, traiettorie ad otto e slalom)</a:t>
            </a:r>
            <a:endParaRPr sz="1300">
              <a:solidFill>
                <a:srgbClr val="1F1F1F"/>
              </a:solidFill>
              <a:highlight>
                <a:srgbClr val="FDFCFC"/>
              </a:highlight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it" sz="1300">
                <a:solidFill>
                  <a:srgbClr val="1F1F1F"/>
                </a:solidFill>
                <a:highlight>
                  <a:srgbClr val="FDFCFC"/>
                </a:highlight>
              </a:rPr>
              <a:t>percorsi complessi</a:t>
            </a:r>
            <a:r>
              <a:rPr lang="it" sz="1300">
                <a:solidFill>
                  <a:srgbClr val="1F1F1F"/>
                </a:solidFill>
                <a:highlight>
                  <a:srgbClr val="FDFCF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it" sz="1300">
                <a:solidFill>
                  <a:srgbClr val="1F1F1F"/>
                </a:solidFill>
                <a:highlight>
                  <a:srgbClr val="FDFCFC"/>
                </a:highlight>
              </a:rPr>
              <a:t>(scenari</a:t>
            </a:r>
            <a:r>
              <a:rPr lang="it" sz="1300">
                <a:solidFill>
                  <a:srgbClr val="1F1F1F"/>
                </a:solidFill>
                <a:highlight>
                  <a:srgbClr val="FDFCF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it" sz="1300">
                <a:solidFill>
                  <a:srgbClr val="1F1F1F"/>
                </a:solidFill>
                <a:highlight>
                  <a:srgbClr val="FDFCFC"/>
                </a:highlight>
              </a:rPr>
              <a:t>critici)</a:t>
            </a:r>
            <a:r>
              <a:rPr lang="it" sz="1100">
                <a:solidFill>
                  <a:schemeClr val="dk1"/>
                </a:solidFill>
              </a:rPr>
              <a:t> </a:t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22" name="Google Shape;122;p19" title="path_straight_lon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5263" y="263675"/>
            <a:ext cx="2642100" cy="1591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9" title="path_circle_mediu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79675" y="3539035"/>
            <a:ext cx="1378026" cy="1453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9" title="path_eigh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9938" y="389677"/>
            <a:ext cx="2151251" cy="176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9" title="path_pista_2.png"/>
          <p:cNvPicPr preferRelativeResize="0"/>
          <p:nvPr/>
        </p:nvPicPr>
        <p:blipFill rotWithShape="1">
          <a:blip r:embed="rId7">
            <a:alphaModFix/>
          </a:blip>
          <a:srcRect b="-114823" l="121224" r="-128636" t="107411"/>
          <a:stretch/>
        </p:blipFill>
        <p:spPr>
          <a:xfrm>
            <a:off x="6291588" y="3351500"/>
            <a:ext cx="2559625" cy="162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9" title="path_tight_slalom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59400" y="1717139"/>
            <a:ext cx="2232350" cy="14483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9" title="path_square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984287" y="3286200"/>
            <a:ext cx="1587750" cy="1751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9" title="path_pista_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772101" y="1666300"/>
            <a:ext cx="2448428" cy="155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9" title="path_contapassi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998600" y="3490688"/>
            <a:ext cx="1587750" cy="15500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9" title="path_pista_3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012924" y="3470149"/>
            <a:ext cx="1999126" cy="159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9" title="path_wide_slalom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70875" y="2296575"/>
            <a:ext cx="1587751" cy="1238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20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0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Percorsi prefabbricati tipologie ambienti</a:t>
            </a:r>
            <a:endParaRPr b="1" sz="2700"/>
          </a:p>
        </p:txBody>
      </p:sp>
      <p:sp>
        <p:nvSpPr>
          <p:cNvPr id="138" name="Google Shape;138;p20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166750" y="662325"/>
            <a:ext cx="2642100" cy="28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300">
                <a:solidFill>
                  <a:schemeClr val="dk1"/>
                </a:solidFill>
              </a:rPr>
              <a:t>3 configurazioni</a:t>
            </a:r>
            <a:r>
              <a:rPr lang="it" sz="1300">
                <a:solidFill>
                  <a:schemeClr val="dk1"/>
                </a:solidFill>
              </a:rPr>
              <a:t> di ostacoli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Tipo 1: Nessun Ostacolo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Tipo 2: Pochi Ostacoli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Tipo 3: Molti Ostacoli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300">
                <a:solidFill>
                  <a:schemeClr val="dk1"/>
                </a:solidFill>
              </a:rPr>
              <a:t>Clearance:</a:t>
            </a:r>
            <a:r>
              <a:rPr lang="it" sz="1300">
                <a:solidFill>
                  <a:schemeClr val="dk1"/>
                </a:solidFill>
              </a:rPr>
              <a:t> Distanza minima tra l'ostacolo e il percorso pianificato.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300">
                <a:solidFill>
                  <a:schemeClr val="dk1"/>
                </a:solidFill>
              </a:rPr>
              <a:t>Tipologie di Ostacoli:</a:t>
            </a:r>
            <a:r>
              <a:rPr lang="it" sz="1300">
                <a:solidFill>
                  <a:schemeClr val="dk1"/>
                </a:solidFill>
              </a:rPr>
              <a:t> circolari, rettangolari, poligonal</a:t>
            </a:r>
            <a:r>
              <a:rPr lang="it">
                <a:solidFill>
                  <a:schemeClr val="dk1"/>
                </a:solidFill>
              </a:rPr>
              <a:t>i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1"/>
                </a:solidFill>
              </a:rPr>
              <a:t>L’</a:t>
            </a:r>
            <a:r>
              <a:rPr b="1" lang="it" sz="1300">
                <a:solidFill>
                  <a:schemeClr val="dk1"/>
                </a:solidFill>
              </a:rPr>
              <a:t>ampiezza massima</a:t>
            </a:r>
            <a:r>
              <a:rPr lang="it" sz="1300">
                <a:solidFill>
                  <a:schemeClr val="dk1"/>
                </a:solidFill>
              </a:rPr>
              <a:t> del raggio LiDAR (r_max) varia in base all'ambiente.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40" name="Google Shape;140;p20" title="path_straight_sho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2875" y="3307150"/>
            <a:ext cx="2553675" cy="1703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0" title="path_straight_short_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87038" y="3317187"/>
            <a:ext cx="2553676" cy="1683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 title="path_straight_short_3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31225" y="3324513"/>
            <a:ext cx="2553676" cy="16690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 title="path_circle_large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32750" y="600675"/>
            <a:ext cx="1902300" cy="19621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0" title="path_circle_large_2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957675" y="585788"/>
            <a:ext cx="1902300" cy="1991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0" title="path_circle_large_3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182600" y="539637"/>
            <a:ext cx="1902300" cy="20842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1"/>
          <p:cNvSpPr/>
          <p:nvPr/>
        </p:nvSpPr>
        <p:spPr>
          <a:xfrm>
            <a:off x="4851300" y="540150"/>
            <a:ext cx="3999900" cy="4431900"/>
          </a:xfrm>
          <a:prstGeom prst="roundRect">
            <a:avLst>
              <a:gd fmla="val 8685" name="adj"/>
            </a:avLst>
          </a:prstGeom>
          <a:solidFill>
            <a:srgbClr val="FFFFFF"/>
          </a:solidFill>
          <a:ln cap="flat" cmpd="sng" w="12700">
            <a:solidFill>
              <a:srgbClr val="4F81BD"/>
            </a:solidFill>
            <a:prstDash val="solid"/>
            <a:miter lim="400000"/>
            <a:headEnd len="sm" w="sm" type="none"/>
            <a:tailEnd len="sm" w="sm" type="none"/>
          </a:ln>
          <a:effectLst>
            <a:outerShdw blurRad="50800" rotWithShape="0" dir="2700000" dist="63500">
              <a:srgbClr val="000000">
                <a:alpha val="502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r>
              <a:t/>
            </a:r>
            <a:endParaRPr b="0" i="0" sz="1100" u="none" cap="none" strike="noStrik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1" name="Google Shape;151;p21"/>
          <p:cNvSpPr/>
          <p:nvPr/>
        </p:nvSpPr>
        <p:spPr>
          <a:xfrm>
            <a:off x="183050" y="739650"/>
            <a:ext cx="3999900" cy="3598200"/>
          </a:xfrm>
          <a:prstGeom prst="roundRect">
            <a:avLst>
              <a:gd fmla="val 8685" name="adj"/>
            </a:avLst>
          </a:prstGeom>
          <a:solidFill>
            <a:srgbClr val="FFFFFF"/>
          </a:solidFill>
          <a:ln cap="flat" cmpd="sng" w="12700">
            <a:solidFill>
              <a:srgbClr val="4F81BD"/>
            </a:solidFill>
            <a:prstDash val="solid"/>
            <a:miter lim="400000"/>
            <a:headEnd len="sm" w="sm" type="none"/>
            <a:tailEnd len="sm" w="sm" type="none"/>
          </a:ln>
          <a:effectLst>
            <a:outerShdw blurRad="50800" rotWithShape="0" dir="2700000" dist="63500">
              <a:srgbClr val="000000">
                <a:alpha val="502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r>
              <a:t/>
            </a:r>
            <a:endParaRPr b="0" i="0" sz="1100" u="none" cap="none" strike="noStrik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52" name="Google Shape;152;p21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1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Esecuzione degli </a:t>
            </a: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esperimenti</a:t>
            </a: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 e condizioni di arresto </a:t>
            </a:r>
            <a:endParaRPr b="1" sz="2700"/>
          </a:p>
        </p:txBody>
      </p:sp>
      <p:sp>
        <p:nvSpPr>
          <p:cNvPr id="154" name="Google Shape;154;p21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55" name="Google Shape;155;p21"/>
          <p:cNvSpPr txBox="1"/>
          <p:nvPr/>
        </p:nvSpPr>
        <p:spPr>
          <a:xfrm>
            <a:off x="406550" y="859350"/>
            <a:ext cx="3552900" cy="3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>
                <a:solidFill>
                  <a:schemeClr val="dk1"/>
                </a:solidFill>
              </a:rPr>
              <a:t>ICP con inizializzazione odometrica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>
                <a:solidFill>
                  <a:schemeClr val="dk1"/>
                </a:solidFill>
              </a:rPr>
              <a:t>gating</a:t>
            </a:r>
            <a:r>
              <a:rPr lang="it" sz="1200">
                <a:solidFill>
                  <a:schemeClr val="dk1"/>
                </a:solidFill>
              </a:rPr>
              <a:t> basato su: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numero minimo</a:t>
            </a:r>
            <a:r>
              <a:rPr lang="it" sz="1200">
                <a:solidFill>
                  <a:schemeClr val="dk1"/>
                </a:solidFill>
              </a:rPr>
              <a:t> di corrispondenze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RMSE</a:t>
            </a:r>
            <a:r>
              <a:rPr lang="it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plausibilità fisica</a:t>
            </a:r>
            <a:r>
              <a:rPr lang="it" sz="1200">
                <a:solidFill>
                  <a:schemeClr val="dk1"/>
                </a:solidFill>
              </a:rPr>
              <a:t> della soluzione (soglie posizionali e rotazionali che dipendono dal numero di corrispondenze trovate) </a:t>
            </a:r>
            <a:br>
              <a:rPr lang="it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>
                <a:solidFill>
                  <a:schemeClr val="dk1"/>
                </a:solidFill>
              </a:rPr>
              <a:t>Loop Closure </a:t>
            </a:r>
            <a:r>
              <a:rPr lang="it" sz="1200">
                <a:solidFill>
                  <a:schemeClr val="dk1"/>
                </a:solidFill>
              </a:rPr>
              <a:t>basato su </a:t>
            </a:r>
            <a:r>
              <a:rPr b="1" lang="it" sz="1200">
                <a:solidFill>
                  <a:schemeClr val="dk1"/>
                </a:solidFill>
              </a:rPr>
              <a:t>Keyframe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Tempo di Cooldown:</a:t>
            </a:r>
            <a:r>
              <a:rPr lang="it" sz="1200">
                <a:solidFill>
                  <a:schemeClr val="dk1"/>
                </a:solidFill>
              </a:rPr>
              <a:t> Intervallo di attesa minimo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>
                <a:solidFill>
                  <a:schemeClr val="dk1"/>
                </a:solidFill>
              </a:rPr>
              <a:t>Gating</a:t>
            </a:r>
            <a:r>
              <a:rPr lang="it" sz="1200">
                <a:solidFill>
                  <a:schemeClr val="dk1"/>
                </a:solidFill>
              </a:rPr>
              <a:t> basato su :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RMSE</a:t>
            </a:r>
            <a:r>
              <a:rPr lang="it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fitness</a:t>
            </a:r>
            <a:r>
              <a:rPr lang="it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valori massimi di correzione</a:t>
            </a:r>
            <a:r>
              <a:rPr lang="it" sz="1200">
                <a:solidFill>
                  <a:schemeClr val="dk1"/>
                </a:solidFill>
              </a:rPr>
              <a:t> in termini di posizione e rotazione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56" name="Google Shape;156;p21"/>
          <p:cNvSpPr txBox="1"/>
          <p:nvPr/>
        </p:nvSpPr>
        <p:spPr>
          <a:xfrm>
            <a:off x="5119200" y="610650"/>
            <a:ext cx="3464100" cy="4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rgbClr val="3D85C6"/>
                </a:solidFill>
              </a:rPr>
              <a:t>Pure Pursuit:</a:t>
            </a:r>
            <a:br>
              <a:rPr lang="it" sz="1200">
                <a:solidFill>
                  <a:schemeClr val="dk2"/>
                </a:solidFill>
              </a:rPr>
            </a:br>
            <a:endParaRPr sz="1200">
              <a:solidFill>
                <a:schemeClr val="dk2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Finestra di Ricerca (</a:t>
            </a:r>
            <a:r>
              <a:rPr b="1" i="1" lang="it" sz="1200">
                <a:solidFill>
                  <a:schemeClr val="dk1"/>
                </a:solidFill>
              </a:rPr>
              <a:t>Search Window</a:t>
            </a:r>
            <a:r>
              <a:rPr b="1" lang="it" sz="1200">
                <a:solidFill>
                  <a:schemeClr val="dk1"/>
                </a:solidFill>
              </a:rPr>
              <a:t>):</a:t>
            </a:r>
            <a:r>
              <a:rPr lang="it" sz="1200">
                <a:solidFill>
                  <a:schemeClr val="dk1"/>
                </a:solidFill>
              </a:rPr>
              <a:t> Riduzione del campo di ricerca del punto di mira per prevenire il taglio delle curve e scorciatoie indebite sul percorso.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rgbClr val="3D85C6"/>
                </a:solidFill>
              </a:rPr>
              <a:t>Criteri di Terminazione:</a:t>
            </a:r>
            <a:br>
              <a:rPr lang="it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Tolleranza di Arresto (</a:t>
            </a:r>
            <a:r>
              <a:rPr b="1" i="1" lang="it" sz="1200">
                <a:solidFill>
                  <a:schemeClr val="dk1"/>
                </a:solidFill>
              </a:rPr>
              <a:t>Stop Tolerance</a:t>
            </a:r>
            <a:r>
              <a:rPr b="1" lang="it" sz="1200">
                <a:solidFill>
                  <a:schemeClr val="dk1"/>
                </a:solidFill>
              </a:rPr>
              <a:t>):</a:t>
            </a:r>
            <a:r>
              <a:rPr lang="it" sz="1200">
                <a:solidFill>
                  <a:schemeClr val="dk1"/>
                </a:solidFill>
              </a:rPr>
              <a:t> 0,1m dal punto finale del percorso.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Gap Indice Massimo (</a:t>
            </a:r>
            <a:r>
              <a:rPr b="1" i="1" lang="it" sz="1200">
                <a:solidFill>
                  <a:schemeClr val="dk1"/>
                </a:solidFill>
              </a:rPr>
              <a:t>Max Index Gap</a:t>
            </a:r>
            <a:r>
              <a:rPr b="1" lang="it" sz="1200">
                <a:solidFill>
                  <a:schemeClr val="dk1"/>
                </a:solidFill>
              </a:rPr>
              <a:t>):</a:t>
            </a:r>
            <a:r>
              <a:rPr lang="it" sz="1200">
                <a:solidFill>
                  <a:schemeClr val="dk1"/>
                </a:solidFill>
              </a:rPr>
              <a:t> Impedisce arresti prematuri quando il robot transita vicino al traguardo prima di aver completato il percorso.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Distanza Minima di Allontanamento (</a:t>
            </a:r>
            <a:r>
              <a:rPr b="1" i="1" lang="it" sz="1200">
                <a:solidFill>
                  <a:schemeClr val="dk1"/>
                </a:solidFill>
              </a:rPr>
              <a:t>Min Leave Distance</a:t>
            </a:r>
            <a:r>
              <a:rPr b="1" lang="it" sz="1200">
                <a:solidFill>
                  <a:schemeClr val="dk1"/>
                </a:solidFill>
              </a:rPr>
              <a:t>):</a:t>
            </a:r>
            <a:r>
              <a:rPr lang="it" sz="1200">
                <a:solidFill>
                  <a:schemeClr val="dk1"/>
                </a:solidFill>
              </a:rPr>
              <a:t> Evita che la prova termini subito se il robot parte già vicino al traguardo.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Numero Massimo di Passi:</a:t>
            </a:r>
            <a:r>
              <a:rPr lang="it" sz="1200">
                <a:solidFill>
                  <a:schemeClr val="dk1"/>
                </a:solidFill>
              </a:rPr>
              <a:t> 7000 iterazioni per limitare il tempo di simulazione ed evitare loop infiniti. 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22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2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Tipologie di esperimenti effetuati </a:t>
            </a:r>
            <a:endParaRPr b="1" sz="2700"/>
          </a:p>
        </p:txBody>
      </p:sp>
      <p:sp>
        <p:nvSpPr>
          <p:cNvPr id="163" name="Google Shape;163;p22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64" name="Google Shape;164;p22"/>
          <p:cNvSpPr txBox="1"/>
          <p:nvPr/>
        </p:nvSpPr>
        <p:spPr>
          <a:xfrm>
            <a:off x="442250" y="575550"/>
            <a:ext cx="3400200" cy="19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rgbClr val="3D85C6"/>
                </a:solidFill>
              </a:rPr>
              <a:t>Parametri di Configurazione</a:t>
            </a:r>
            <a:endParaRPr sz="1300">
              <a:solidFill>
                <a:srgbClr val="3D85C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300">
                <a:solidFill>
                  <a:schemeClr val="dk1"/>
                </a:solidFill>
              </a:rPr>
              <a:t>Modello Odometrico:</a:t>
            </a:r>
            <a:r>
              <a:rPr lang="it" sz="1300">
                <a:solidFill>
                  <a:schemeClr val="dk1"/>
                </a:solidFill>
              </a:rPr>
              <a:t> Confronto tra odometria </a:t>
            </a:r>
            <a:r>
              <a:rPr b="1" lang="it" sz="1300">
                <a:solidFill>
                  <a:schemeClr val="dk1"/>
                </a:solidFill>
              </a:rPr>
              <a:t>ideale</a:t>
            </a:r>
            <a:r>
              <a:rPr lang="it" sz="1300">
                <a:solidFill>
                  <a:schemeClr val="dk1"/>
                </a:solidFill>
              </a:rPr>
              <a:t> (senza errore) e </a:t>
            </a:r>
            <a:r>
              <a:rPr b="1" lang="it" sz="1300">
                <a:solidFill>
                  <a:schemeClr val="dk1"/>
                </a:solidFill>
              </a:rPr>
              <a:t>rumorosa</a:t>
            </a:r>
            <a:r>
              <a:rPr lang="it" sz="1300">
                <a:solidFill>
                  <a:schemeClr val="dk1"/>
                </a:solidFill>
              </a:rPr>
              <a:t> (con rumore di misura).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300">
                <a:solidFill>
                  <a:schemeClr val="dk1"/>
                </a:solidFill>
              </a:rPr>
              <a:t>Utilizzo Loop Closure:</a:t>
            </a:r>
            <a:r>
              <a:rPr lang="it" sz="1300">
                <a:solidFill>
                  <a:schemeClr val="dk1"/>
                </a:solidFill>
              </a:rPr>
              <a:t> Valutazione delle prestazioni con e senza </a:t>
            </a:r>
            <a:r>
              <a:rPr b="1" lang="it" sz="1300">
                <a:solidFill>
                  <a:schemeClr val="dk1"/>
                </a:solidFill>
              </a:rPr>
              <a:t>Loop Closure</a:t>
            </a:r>
            <a:r>
              <a:rPr lang="it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300">
                <a:solidFill>
                  <a:schemeClr val="dk1"/>
                </a:solidFill>
              </a:rPr>
              <a:t>Distanza di Look-Ahead (Ld):</a:t>
            </a:r>
            <a:r>
              <a:rPr lang="it" sz="1300">
                <a:solidFill>
                  <a:schemeClr val="dk1"/>
                </a:solidFill>
              </a:rPr>
              <a:t> Analisi parametrica impostata su tre valori: </a:t>
            </a:r>
            <a:r>
              <a:rPr b="1" lang="it" sz="1300">
                <a:solidFill>
                  <a:schemeClr val="dk1"/>
                </a:solidFill>
              </a:rPr>
              <a:t>0,2 m</a:t>
            </a:r>
            <a:r>
              <a:rPr lang="it" sz="1300">
                <a:solidFill>
                  <a:schemeClr val="dk1"/>
                </a:solidFill>
              </a:rPr>
              <a:t>, </a:t>
            </a:r>
            <a:r>
              <a:rPr b="1" lang="it" sz="1300">
                <a:solidFill>
                  <a:schemeClr val="dk1"/>
                </a:solidFill>
              </a:rPr>
              <a:t>0,4 m</a:t>
            </a:r>
            <a:r>
              <a:rPr lang="it" sz="1300">
                <a:solidFill>
                  <a:schemeClr val="dk1"/>
                </a:solidFill>
              </a:rPr>
              <a:t> e </a:t>
            </a:r>
            <a:r>
              <a:rPr b="1" lang="it" sz="1300">
                <a:solidFill>
                  <a:schemeClr val="dk1"/>
                </a:solidFill>
              </a:rPr>
              <a:t>0,6 m</a:t>
            </a:r>
            <a:r>
              <a:rPr lang="it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65" name="Google Shape;165;p22" title="straight_long_type1_ld0.2_1_Odometria_Ideale_No_LC_completa_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0550" y="575551"/>
            <a:ext cx="2619135" cy="2095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 title="straight_long_type1_ld0.2_4_Odometria_Rumorosa_Con_LC_completa_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29925" y="575551"/>
            <a:ext cx="2619126" cy="209528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 txBox="1"/>
          <p:nvPr/>
        </p:nvSpPr>
        <p:spPr>
          <a:xfrm>
            <a:off x="442250" y="2670902"/>
            <a:ext cx="45915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rgbClr val="3D85C6"/>
                </a:solidFill>
              </a:rPr>
              <a:t>Metriche di valutazione: </a:t>
            </a:r>
            <a:endParaRPr sz="1300">
              <a:solidFill>
                <a:srgbClr val="3D85C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Errore medio:</a:t>
            </a:r>
            <a:r>
              <a:rPr lang="it" sz="1300">
                <a:solidFill>
                  <a:schemeClr val="dk1"/>
                </a:solidFill>
              </a:rPr>
              <a:t> media aritmetica degli scostamenti geometrici istantanei lungo il percorso.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Errore cumulato totale:</a:t>
            </a:r>
            <a:r>
              <a:rPr lang="it" sz="1300">
                <a:solidFill>
                  <a:schemeClr val="dk1"/>
                </a:solidFill>
              </a:rPr>
              <a:t> somma complessiva delle deviazioni istantanee.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Numero totale di passi di simulazione:</a:t>
            </a:r>
            <a:r>
              <a:rPr lang="it" sz="1300">
                <a:solidFill>
                  <a:schemeClr val="dk1"/>
                </a:solidFill>
              </a:rPr>
              <a:t> per valutare la durata della prova. </a:t>
            </a:r>
            <a:endParaRPr sz="13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b="1" lang="it" sz="1300">
                <a:solidFill>
                  <a:schemeClr val="dk1"/>
                </a:solidFill>
              </a:rPr>
              <a:t>Profilo della traiettoria</a:t>
            </a:r>
            <a:r>
              <a:rPr lang="it" sz="1300">
                <a:solidFill>
                  <a:schemeClr val="dk1"/>
                </a:solidFill>
              </a:rPr>
              <a:t> effettivamente seguita dal veicolo. </a:t>
            </a:r>
            <a:br>
              <a:rPr lang="it">
                <a:solidFill>
                  <a:schemeClr val="dk2"/>
                </a:solidFill>
              </a:rPr>
            </a:b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it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</p:txBody>
      </p:sp>
      <p:pic>
        <p:nvPicPr>
          <p:cNvPr id="168" name="Google Shape;168;p22" title="straight_long_type1_ld0.2_riepilogo_media_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110625" y="2721925"/>
            <a:ext cx="3940701" cy="2364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23" title="contapassi_type3_ld0.6_1_Odometria_Ideale_No_LC_completa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48246" y="2559100"/>
            <a:ext cx="3104172" cy="248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3" title="Logo_unifi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3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Esperimento </a:t>
            </a:r>
            <a:r>
              <a:rPr b="1" i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contapassi</a:t>
            </a:r>
            <a:endParaRPr b="1" i="1" sz="2700"/>
          </a:p>
        </p:txBody>
      </p:sp>
      <p:sp>
        <p:nvSpPr>
          <p:cNvPr id="176" name="Google Shape;176;p23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77" name="Google Shape;177;p23" title="contapassi_type1_ld0.2_riepilogo_media_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5300" y="2999663"/>
            <a:ext cx="3287124" cy="1972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3" title="contapassi_type1_ld0.6_riepilogo_media_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32425" y="2999663"/>
            <a:ext cx="3287124" cy="1972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3" title="contapassi_type1_0.2_ideale_no_loop_macchina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187439" y="194300"/>
            <a:ext cx="2192319" cy="248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3" title="contapassi_type1_0.6_ideale_no_loop_macchina_2_copia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778758" y="194300"/>
            <a:ext cx="2192319" cy="248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3"/>
          <p:cNvSpPr txBox="1"/>
          <p:nvPr/>
        </p:nvSpPr>
        <p:spPr>
          <a:xfrm>
            <a:off x="225350" y="476400"/>
            <a:ext cx="3863700" cy="228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1"/>
                </a:solidFill>
              </a:rPr>
              <a:t>Analisi del comportamento del robot al variare della distanza di look-ahead. </a:t>
            </a:r>
            <a:br>
              <a:rPr lang="it" sz="1200">
                <a:solidFill>
                  <a:schemeClr val="dk1"/>
                </a:solidFill>
              </a:rPr>
            </a:br>
            <a:r>
              <a:rPr lang="it" sz="1200">
                <a:solidFill>
                  <a:schemeClr val="dk1"/>
                </a:solidFill>
              </a:rPr>
              <a:t>All'</a:t>
            </a:r>
            <a:r>
              <a:rPr b="1" lang="it" sz="1200">
                <a:solidFill>
                  <a:schemeClr val="dk1"/>
                </a:solidFill>
              </a:rPr>
              <a:t>aumentare</a:t>
            </a:r>
            <a:r>
              <a:rPr lang="it" sz="1200">
                <a:solidFill>
                  <a:schemeClr val="dk1"/>
                </a:solidFill>
              </a:rPr>
              <a:t> della distanza di </a:t>
            </a:r>
            <a:r>
              <a:rPr b="1" lang="it" sz="1200">
                <a:solidFill>
                  <a:schemeClr val="dk1"/>
                </a:solidFill>
              </a:rPr>
              <a:t>look-ahead</a:t>
            </a:r>
            <a:r>
              <a:rPr lang="it" sz="1200">
                <a:solidFill>
                  <a:schemeClr val="dk1"/>
                </a:solidFill>
              </a:rPr>
              <a:t>: </a:t>
            </a:r>
            <a:br>
              <a:rPr lang="it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Anticipo/taglio</a:t>
            </a:r>
            <a:r>
              <a:rPr lang="it" sz="1200">
                <a:solidFill>
                  <a:schemeClr val="dk1"/>
                </a:solidFill>
              </a:rPr>
              <a:t> delle curve.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Riduzione</a:t>
            </a:r>
            <a:r>
              <a:rPr lang="it" sz="1200">
                <a:solidFill>
                  <a:schemeClr val="dk1"/>
                </a:solidFill>
              </a:rPr>
              <a:t> del numero di </a:t>
            </a:r>
            <a:r>
              <a:rPr b="1" lang="it" sz="1200">
                <a:solidFill>
                  <a:schemeClr val="dk1"/>
                </a:solidFill>
              </a:rPr>
              <a:t>passi</a:t>
            </a:r>
            <a:r>
              <a:rPr lang="it" sz="1200">
                <a:solidFill>
                  <a:schemeClr val="dk1"/>
                </a:solidFill>
              </a:rPr>
              <a:t> necessari per completare il percorso.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it" sz="1200">
                <a:solidFill>
                  <a:schemeClr val="dk1"/>
                </a:solidFill>
              </a:rPr>
              <a:t>Incremento dell'errore</a:t>
            </a:r>
            <a:r>
              <a:rPr lang="it" sz="1200">
                <a:solidFill>
                  <a:schemeClr val="dk1"/>
                </a:solidFill>
              </a:rPr>
              <a:t> medio di inseguimento.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1"/>
                </a:solidFill>
              </a:rPr>
              <a:t>In caso di odometria ideale, nei tratti rettilinei il comportamento rimane invariato.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4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Esperimento </a:t>
            </a:r>
            <a:r>
              <a:rPr b="1" i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wide slalom</a:t>
            </a:r>
            <a:endParaRPr b="1" i="1" sz="2700"/>
          </a:p>
        </p:txBody>
      </p:sp>
      <p:sp>
        <p:nvSpPr>
          <p:cNvPr id="188" name="Google Shape;188;p24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89" name="Google Shape;189;p24" title="wide_slalom_type1_0.2_ideale_no_loop_zoom.png"/>
          <p:cNvPicPr preferRelativeResize="0"/>
          <p:nvPr/>
        </p:nvPicPr>
        <p:blipFill rotWithShape="1">
          <a:blip r:embed="rId4">
            <a:alphaModFix/>
          </a:blip>
          <a:srcRect b="-10509" l="0" r="-16591" t="0"/>
          <a:stretch/>
        </p:blipFill>
        <p:spPr>
          <a:xfrm>
            <a:off x="3184798" y="2999325"/>
            <a:ext cx="1679225" cy="187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4" title="wide_slalom_type1_0.4_ideale_no_loop_zoo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5947" y="2865925"/>
            <a:ext cx="1776975" cy="20336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4" title="wide_slalom_type1_0.6_ideale_no_loop_zoo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59525" y="3087363"/>
            <a:ext cx="1776976" cy="17028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4" title="wide_slalom_type1_ld0.2_1_Odometria_Ideale_No_LC_completa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85513" y="476400"/>
            <a:ext cx="1961214" cy="2103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4" title="wide_slalom_type1_ld0.6_1_Odometria_Ideale_No_LC_completa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42924" y="465750"/>
            <a:ext cx="1961199" cy="2105988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4"/>
          <p:cNvSpPr txBox="1"/>
          <p:nvPr/>
        </p:nvSpPr>
        <p:spPr>
          <a:xfrm>
            <a:off x="117725" y="478800"/>
            <a:ext cx="3020100" cy="43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1"/>
                </a:solidFill>
              </a:rPr>
              <a:t>Comportamento del robot in prossimità del traguardo al variare della distanza di look-ahead (</a:t>
            </a:r>
            <a:r>
              <a:rPr lang="it" sz="1300">
                <a:solidFill>
                  <a:schemeClr val="dk1"/>
                </a:solidFill>
              </a:rPr>
              <a:t>L</a:t>
            </a:r>
            <a:r>
              <a:rPr lang="it" sz="1100">
                <a:solidFill>
                  <a:schemeClr val="dk1"/>
                </a:solidFill>
              </a:rPr>
              <a:t>d)</a:t>
            </a:r>
            <a:r>
              <a:rPr lang="it" sz="1300">
                <a:solidFill>
                  <a:schemeClr val="dk1"/>
                </a:solidFill>
              </a:rPr>
              <a:t>: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1"/>
                </a:solidFill>
              </a:rPr>
              <a:t>Il robot tende ad orbitare a fianco del punto d'arrivo prima di terminare la prova.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1"/>
                </a:solidFill>
              </a:rPr>
              <a:t>Questo fenomeno, al variare della distanza L</a:t>
            </a:r>
            <a:r>
              <a:rPr lang="it" sz="1100">
                <a:solidFill>
                  <a:schemeClr val="dk1"/>
                </a:solidFill>
              </a:rPr>
              <a:t>d</a:t>
            </a:r>
            <a:r>
              <a:rPr lang="it" sz="1300">
                <a:solidFill>
                  <a:schemeClr val="dk1"/>
                </a:solidFill>
              </a:rPr>
              <a:t>, si presenta così: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0,2 m:</a:t>
            </a:r>
            <a:r>
              <a:rPr lang="it" sz="1300">
                <a:solidFill>
                  <a:schemeClr val="dk1"/>
                </a:solidFill>
              </a:rPr>
              <a:t> accennato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0,4 m:</a:t>
            </a:r>
            <a:r>
              <a:rPr lang="it" sz="1300">
                <a:solidFill>
                  <a:schemeClr val="dk1"/>
                </a:solidFill>
              </a:rPr>
              <a:t> il robot compie un giro completo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it" sz="1300">
                <a:solidFill>
                  <a:schemeClr val="dk1"/>
                </a:solidFill>
              </a:rPr>
              <a:t>0,6 m:</a:t>
            </a:r>
            <a:r>
              <a:rPr lang="it" sz="1300">
                <a:solidFill>
                  <a:schemeClr val="dk1"/>
                </a:solidFill>
              </a:rPr>
              <a:t> il robot orbita fino ad esaurire i passi disponibili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1"/>
                </a:solidFill>
              </a:rPr>
              <a:t>Fenomeno dovuto all'interazione tra il raggio di look-ahead e la tolleranza di arresto del sistema (0,1 m).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it" sz="1500">
                <a:solidFill>
                  <a:schemeClr val="dk2"/>
                </a:solidFill>
              </a:rPr>
            </a:b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id="195" name="Google Shape;195;p24" title="wide_slalom_type1_ld0.4_1_Odometria_Ideale_No_LC_completa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114225" y="478788"/>
            <a:ext cx="1961201" cy="20988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5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5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Esperimento </a:t>
            </a:r>
            <a:r>
              <a:rPr b="1" i="1" lang="it" sz="240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pista3 (due giri)</a:t>
            </a:r>
            <a:endParaRPr b="1" i="1" sz="2700"/>
          </a:p>
        </p:txBody>
      </p:sp>
      <p:sp>
        <p:nvSpPr>
          <p:cNvPr id="202" name="Google Shape;202;p25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129475" y="568400"/>
            <a:ext cx="3207900" cy="45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1"/>
                </a:solidFill>
              </a:rPr>
              <a:t>Vengono compiuti </a:t>
            </a:r>
            <a:r>
              <a:rPr b="1" lang="it" sz="1300">
                <a:solidFill>
                  <a:schemeClr val="dk1"/>
                </a:solidFill>
              </a:rPr>
              <a:t>due giri </a:t>
            </a:r>
            <a:r>
              <a:rPr lang="it" sz="1300">
                <a:solidFill>
                  <a:schemeClr val="dk1"/>
                </a:solidFill>
              </a:rPr>
              <a:t>per valutare l'efficacia dei meccanismi di Loop Closure. </a:t>
            </a:r>
            <a:br>
              <a:rPr lang="it" sz="1300">
                <a:solidFill>
                  <a:schemeClr val="dk1"/>
                </a:solidFill>
              </a:rPr>
            </a:br>
            <a:r>
              <a:rPr lang="it" sz="1300">
                <a:solidFill>
                  <a:schemeClr val="dk1"/>
                </a:solidFill>
              </a:rPr>
              <a:t>L'aumento della distanza di look-ahead porta a tagliare le curve.                      Per l'ambiente Type 1 l'effetto è </a:t>
            </a:r>
            <a:r>
              <a:rPr b="1" lang="it" sz="1300">
                <a:solidFill>
                  <a:schemeClr val="dk1"/>
                </a:solidFill>
              </a:rPr>
              <a:t>ininfluente</a:t>
            </a:r>
            <a:r>
              <a:rPr lang="it" sz="1300">
                <a:solidFill>
                  <a:schemeClr val="dk1"/>
                </a:solidFill>
              </a:rPr>
              <a:t>.                                              Gli esperimenti nell'ambiente Type 2 sono stati effettuati con un valore di portata massima del raggio LiDAR (r_max) pari a 9 e 6 metri. </a:t>
            </a:r>
            <a:br>
              <a:rPr lang="it" sz="1300">
                <a:solidFill>
                  <a:schemeClr val="dk1"/>
                </a:solidFill>
              </a:rPr>
            </a:br>
            <a:r>
              <a:rPr lang="it" sz="1300">
                <a:solidFill>
                  <a:schemeClr val="dk1"/>
                </a:solidFill>
              </a:rPr>
              <a:t>Si evidenziano </a:t>
            </a:r>
            <a:r>
              <a:rPr b="1" lang="it" sz="1300">
                <a:solidFill>
                  <a:schemeClr val="dk1"/>
                </a:solidFill>
              </a:rPr>
              <a:t>sia miglioramenti che peggioramenti</a:t>
            </a:r>
            <a:r>
              <a:rPr lang="it" sz="1300">
                <a:solidFill>
                  <a:schemeClr val="dk1"/>
                </a:solidFill>
              </a:rPr>
              <a:t> utilizzando il Loop Closure. </a:t>
            </a:r>
            <a:br>
              <a:rPr lang="it" sz="1300">
                <a:solidFill>
                  <a:schemeClr val="dk1"/>
                </a:solidFill>
              </a:rPr>
            </a:br>
            <a:r>
              <a:rPr lang="it" sz="1300">
                <a:solidFill>
                  <a:schemeClr val="dk1"/>
                </a:solidFill>
              </a:rPr>
              <a:t>I risultati ottenuti in presenza di odometria rumorosa sono soggetti a una </a:t>
            </a:r>
            <a:r>
              <a:rPr b="1" lang="it" sz="1300">
                <a:solidFill>
                  <a:schemeClr val="dk1"/>
                </a:solidFill>
              </a:rPr>
              <a:t>componente stocastica</a:t>
            </a:r>
            <a:r>
              <a:rPr lang="it" sz="1300">
                <a:solidFill>
                  <a:schemeClr val="dk1"/>
                </a:solidFill>
              </a:rPr>
              <a:t> rilevante. </a:t>
            </a:r>
            <a:br>
              <a:rPr lang="it" sz="1300">
                <a:solidFill>
                  <a:schemeClr val="dk1"/>
                </a:solidFill>
              </a:rPr>
            </a:br>
            <a:r>
              <a:rPr lang="it" sz="1300">
                <a:solidFill>
                  <a:schemeClr val="dk1"/>
                </a:solidFill>
              </a:rPr>
              <a:t>Il passaggio da 9 a 6 metri di r_max  porta a un aumento dell'errore medio.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it" sz="1500">
                <a:solidFill>
                  <a:schemeClr val="dk2"/>
                </a:solidFill>
              </a:rPr>
            </a:b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id="204" name="Google Shape;204;p25" title="pista_3_(2_giri)_type1_ld0.2_1_Odometria_Ideale_No_LC_complet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29325" y="594938"/>
            <a:ext cx="1902301" cy="20966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5" title="pista_3_(2_giri)_type1_ld0.6_1_Odometria_Ideale_No_LC_completa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324" y="2810150"/>
            <a:ext cx="1902300" cy="21063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5" title="pista_3_(2_giri)_type2_ld0.4_riepilogo_media_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32975" y="2991573"/>
            <a:ext cx="3300576" cy="198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5" title="pista_3_(2_giri)_type2_ld0.4_riepilogo_media_1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79800" y="557000"/>
            <a:ext cx="3300576" cy="1980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6"/>
          <p:cNvSpPr/>
          <p:nvPr/>
        </p:nvSpPr>
        <p:spPr>
          <a:xfrm>
            <a:off x="335700" y="3643150"/>
            <a:ext cx="8515500" cy="1385100"/>
          </a:xfrm>
          <a:prstGeom prst="roundRect">
            <a:avLst>
              <a:gd fmla="val 14330" name="adj"/>
            </a:avLst>
          </a:prstGeom>
          <a:solidFill>
            <a:srgbClr val="FFFFFF"/>
          </a:solidFill>
          <a:ln cap="flat" cmpd="sng" w="12700">
            <a:solidFill>
              <a:srgbClr val="4F81BD"/>
            </a:solidFill>
            <a:prstDash val="solid"/>
            <a:miter lim="400000"/>
            <a:headEnd len="sm" w="sm" type="none"/>
            <a:tailEnd len="sm" w="sm" type="none"/>
          </a:ln>
          <a:effectLst>
            <a:outerShdw blurRad="50800" rotWithShape="0" dir="2700000" dist="63500">
              <a:srgbClr val="000000">
                <a:alpha val="502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r>
              <a:t/>
            </a:r>
            <a:endParaRPr b="0" i="0" sz="1100" u="none" cap="none" strike="noStrik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26"/>
          <p:cNvSpPr/>
          <p:nvPr/>
        </p:nvSpPr>
        <p:spPr>
          <a:xfrm>
            <a:off x="335700" y="476400"/>
            <a:ext cx="8472600" cy="3074700"/>
          </a:xfrm>
          <a:prstGeom prst="roundRect">
            <a:avLst>
              <a:gd fmla="val 14330" name="adj"/>
            </a:avLst>
          </a:prstGeom>
          <a:solidFill>
            <a:srgbClr val="FFFFFF"/>
          </a:solidFill>
          <a:ln cap="flat" cmpd="sng" w="12700">
            <a:solidFill>
              <a:srgbClr val="4F81BD"/>
            </a:solidFill>
            <a:prstDash val="solid"/>
            <a:miter lim="400000"/>
            <a:headEnd len="sm" w="sm" type="none"/>
            <a:tailEnd len="sm" w="sm" type="none"/>
          </a:ln>
          <a:effectLst>
            <a:outerShdw blurRad="50800" rotWithShape="0" dir="2700000" dist="63500">
              <a:srgbClr val="000000">
                <a:alpha val="502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r>
              <a:t/>
            </a:r>
            <a:endParaRPr b="0" i="0" sz="1100" u="none" cap="none" strike="noStrik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214" name="Google Shape;214;p26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6"/>
          <p:cNvSpPr txBox="1"/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rgbClr val="00407F"/>
                </a:solidFill>
              </a:rPr>
              <a:t>Conclusioni e sviluppi futuri</a:t>
            </a:r>
            <a:endParaRPr b="1" sz="2400">
              <a:solidFill>
                <a:srgbClr val="00407F"/>
              </a:solidFill>
            </a:endParaRPr>
          </a:p>
          <a:p>
            <a:pPr indent="127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00407F"/>
              </a:solidFill>
            </a:endParaRPr>
          </a:p>
        </p:txBody>
      </p:sp>
      <p:sp>
        <p:nvSpPr>
          <p:cNvPr id="216" name="Google Shape;216;p26"/>
          <p:cNvSpPr txBox="1"/>
          <p:nvPr/>
        </p:nvSpPr>
        <p:spPr>
          <a:xfrm>
            <a:off x="636500" y="534025"/>
            <a:ext cx="8020500" cy="28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>
                <a:solidFill>
                  <a:srgbClr val="3D85C6"/>
                </a:solidFill>
              </a:rPr>
              <a:t>Conclusioni:</a:t>
            </a:r>
            <a:r>
              <a:rPr lang="it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>
                <a:solidFill>
                  <a:schemeClr val="dk1"/>
                </a:solidFill>
              </a:rPr>
              <a:t>All'aumentare della distanza di look-ahead il robot taglia le curve e parti del percorso, con un conseguente aumento dell'errore medio e una riduzione del numero di passi necessari. (L'uso della search window riduce questo fenomeno). 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>
                <a:solidFill>
                  <a:schemeClr val="dk1"/>
                </a:solidFill>
              </a:rPr>
              <a:t>Valori elevati di look-ahead, molto superiori alla stop tolerance, risultano critici anche in fase di terminazione, portando il robot ad orbitare a fianco del traguardo. 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>
                <a:solidFill>
                  <a:schemeClr val="dk1"/>
                </a:solidFill>
              </a:rPr>
              <a:t>Il meccanismo di Loop Closure può portare a dei miglioramenti in termini di errore medio.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>
                <a:solidFill>
                  <a:schemeClr val="dk1"/>
                </a:solidFill>
              </a:rPr>
              <a:t>La portata massima del LiDAR (r_max) influisce direttamente sulle prestazioni complessive. </a:t>
            </a:r>
            <a:endParaRPr sz="15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it" sz="1500">
                <a:solidFill>
                  <a:schemeClr val="dk1"/>
                </a:solidFill>
              </a:rPr>
              <a:t>Per gli scenari caratterizzati da odometria rumorosa, è necessario ripetere l'esperimento un numero elevato di volte per via della forte componente stocastica. </a:t>
            </a:r>
            <a:br>
              <a:rPr lang="it" sz="1800">
                <a:solidFill>
                  <a:schemeClr val="dk2"/>
                </a:solidFill>
              </a:rPr>
            </a:br>
            <a:br>
              <a:rPr lang="it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</p:txBody>
      </p:sp>
      <p:sp>
        <p:nvSpPr>
          <p:cNvPr id="217" name="Google Shape;217;p26"/>
          <p:cNvSpPr txBox="1"/>
          <p:nvPr/>
        </p:nvSpPr>
        <p:spPr>
          <a:xfrm>
            <a:off x="618800" y="3643150"/>
            <a:ext cx="8055900" cy="129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>
                <a:solidFill>
                  <a:srgbClr val="3D85C6"/>
                </a:solidFill>
              </a:rPr>
              <a:t>Sviluppi futuri:</a:t>
            </a:r>
            <a:r>
              <a:rPr lang="it" sz="1500">
                <a:solidFill>
                  <a:schemeClr val="dk1"/>
                </a:solidFill>
              </a:rPr>
              <a:t> 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>
                <a:solidFill>
                  <a:schemeClr val="dk1"/>
                </a:solidFill>
              </a:rPr>
              <a:t>Aggiunta di un modulo di Path Replanning così da permettere di ripianificare la rotta nel caso di ostacoli sul percorso. </a:t>
            </a:r>
            <a:endParaRPr sz="1500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it" sz="1500">
                <a:solidFill>
                  <a:schemeClr val="dk1"/>
                </a:solidFill>
              </a:rPr>
              <a:t>Possibilità di ridurre la distanza di look-ahead in prossimità del traguardo così da ottenere una terminazione precisa ed efficace. </a:t>
            </a:r>
            <a:br>
              <a:rPr lang="it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7"/>
          <p:cNvSpPr txBox="1"/>
          <p:nvPr>
            <p:ph type="ctrTitle"/>
          </p:nvPr>
        </p:nvSpPr>
        <p:spPr>
          <a:xfrm>
            <a:off x="311700" y="179225"/>
            <a:ext cx="5750100" cy="13974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40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it" sz="2080">
                <a:solidFill>
                  <a:srgbClr val="00407F"/>
                </a:solidFill>
              </a:rPr>
              <a:t>Sviluppo, implementazione e analisi comparativa dell'algoritmo di pure pursuit in ambienti di simulazione per la guida autonoma  </a:t>
            </a:r>
            <a:endParaRPr b="1" sz="2080">
              <a:solidFill>
                <a:srgbClr val="00407F"/>
              </a:solidFill>
            </a:endParaRPr>
          </a:p>
        </p:txBody>
      </p:sp>
      <p:pic>
        <p:nvPicPr>
          <p:cNvPr descr="object 2" id="223" name="Google Shape;22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20645" y="0"/>
            <a:ext cx="402335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7"/>
          <p:cNvSpPr txBox="1"/>
          <p:nvPr/>
        </p:nvSpPr>
        <p:spPr>
          <a:xfrm>
            <a:off x="494850" y="2941150"/>
            <a:ext cx="14889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800">
                <a:solidFill>
                  <a:schemeClr val="dk1"/>
                </a:solidFill>
              </a:rPr>
              <a:t>Candidato: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225" name="Google Shape;225;p27"/>
          <p:cNvSpPr txBox="1"/>
          <p:nvPr/>
        </p:nvSpPr>
        <p:spPr>
          <a:xfrm>
            <a:off x="494850" y="3310500"/>
            <a:ext cx="27372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it" sz="1800">
                <a:solidFill>
                  <a:schemeClr val="dk1"/>
                </a:solidFill>
              </a:rPr>
              <a:t>Marco Tetsuya Stella</a:t>
            </a:r>
            <a:endParaRPr i="1" sz="1800">
              <a:solidFill>
                <a:schemeClr val="dk1"/>
              </a:solidFill>
            </a:endParaRPr>
          </a:p>
        </p:txBody>
      </p:sp>
      <p:sp>
        <p:nvSpPr>
          <p:cNvPr id="226" name="Google Shape;226;p27"/>
          <p:cNvSpPr txBox="1"/>
          <p:nvPr/>
        </p:nvSpPr>
        <p:spPr>
          <a:xfrm>
            <a:off x="494850" y="3839100"/>
            <a:ext cx="1653300" cy="4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it" sz="2000">
                <a:solidFill>
                  <a:schemeClr val="dk1"/>
                </a:solidFill>
              </a:rPr>
              <a:t>Relatore</a:t>
            </a:r>
            <a:r>
              <a:rPr lang="it" sz="2000">
                <a:solidFill>
                  <a:schemeClr val="dk1"/>
                </a:solidFill>
              </a:rPr>
              <a:t>:</a:t>
            </a:r>
            <a:endParaRPr sz="2600">
              <a:solidFill>
                <a:schemeClr val="dk2"/>
              </a:solidFill>
            </a:endParaRPr>
          </a:p>
        </p:txBody>
      </p:sp>
      <p:sp>
        <p:nvSpPr>
          <p:cNvPr id="227" name="Google Shape;227;p27"/>
          <p:cNvSpPr txBox="1"/>
          <p:nvPr/>
        </p:nvSpPr>
        <p:spPr>
          <a:xfrm>
            <a:off x="494850" y="4287900"/>
            <a:ext cx="28245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i="1" lang="it" sz="1800">
                <a:solidFill>
                  <a:schemeClr val="dk1"/>
                </a:solidFill>
              </a:rPr>
              <a:t>Prof. Giorgio Battistelli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